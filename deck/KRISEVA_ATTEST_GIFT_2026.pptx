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f2726a483f46eb" /><Relationship Type="http://schemas.openxmlformats.org/officeDocument/2006/relationships/extended-properties" Target="/docProps/app.xml" Id="R93b644bb628f4c4a" /><Relationship Type="http://schemas.openxmlformats.org/officeDocument/2006/relationships/officeDocument" Target="/ppt/presentation.xml" Id="Raa9b156071da40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09e1d20b194c56"/>
  </p:sldMasterIdLst>
  <p:notesMasterIdLst>
    <p:notesMasterId xmlns:r="http://schemas.openxmlformats.org/officeDocument/2006/relationships" r:id="R846df654af634e6f"/>
  </p:notesMasterIdLst>
  <p:sldIdLst>
    <p:sldId xmlns:r="http://schemas.openxmlformats.org/officeDocument/2006/relationships" id="256" r:id="R80a048628069405e"/>
    <p:sldId xmlns:r="http://schemas.openxmlformats.org/officeDocument/2006/relationships" id="257" r:id="Rfb0e85268d034b25"/>
    <p:sldId xmlns:r="http://schemas.openxmlformats.org/officeDocument/2006/relationships" id="258" r:id="R88a5d41dec034a99"/>
    <p:sldId xmlns:r="http://schemas.openxmlformats.org/officeDocument/2006/relationships" id="259" r:id="R0924083f86e647a5"/>
    <p:sldId xmlns:r="http://schemas.openxmlformats.org/officeDocument/2006/relationships" id="260" r:id="R40cffa6786ce4440"/>
    <p:sldId xmlns:r="http://schemas.openxmlformats.org/officeDocument/2006/relationships" id="261" r:id="R9f3514a27d88417f"/>
    <p:sldId xmlns:r="http://schemas.openxmlformats.org/officeDocument/2006/relationships" id="262" r:id="R9c843acc5c834b37"/>
    <p:sldId xmlns:r="http://schemas.openxmlformats.org/officeDocument/2006/relationships" id="263" r:id="Raa8532414f464108"/>
    <p:sldId xmlns:r="http://schemas.openxmlformats.org/officeDocument/2006/relationships" id="264" r:id="R9b8ca4af81a64eb2"/>
    <p:sldId xmlns:r="http://schemas.openxmlformats.org/officeDocument/2006/relationships" id="265" r:id="Reab87bc7508842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7c63c33384ee9" /><Relationship Type="http://schemas.openxmlformats.org/officeDocument/2006/relationships/slideMaster" Target="/ppt/slideMasters/slideMaster1.xml" Id="Ra809e1d20b194c56" /><Relationship Type="http://schemas.openxmlformats.org/officeDocument/2006/relationships/notesMaster" Target="/ppt/notesMasters/notesMaster1.xml" Id="R846df654af634e6f" /><Relationship Type="http://schemas.openxmlformats.org/officeDocument/2006/relationships/presProps" Target="/ppt/presProps.xml" Id="Rfb79872b6272474e" /><Relationship Type="http://schemas.openxmlformats.org/officeDocument/2006/relationships/tableStyles" Target="/ppt/tableStyles.xml" Id="R72cdfbb4679e486b" /><Relationship Type="http://schemas.openxmlformats.org/officeDocument/2006/relationships/slide" Target="/ppt/slides/slide1.xml" Id="R80a048628069405e" /><Relationship Type="http://schemas.openxmlformats.org/officeDocument/2006/relationships/slide" Target="/ppt/slides/slide2.xml" Id="Rfb0e85268d034b25" /><Relationship Type="http://schemas.openxmlformats.org/officeDocument/2006/relationships/slide" Target="/ppt/slides/slide3.xml" Id="R88a5d41dec034a99" /><Relationship Type="http://schemas.openxmlformats.org/officeDocument/2006/relationships/slide" Target="/ppt/slides/slide4.xml" Id="R0924083f86e647a5" /><Relationship Type="http://schemas.openxmlformats.org/officeDocument/2006/relationships/slide" Target="/ppt/slides/slide5.xml" Id="R40cffa6786ce4440" /><Relationship Type="http://schemas.openxmlformats.org/officeDocument/2006/relationships/slide" Target="/ppt/slides/slide6.xml" Id="R9f3514a27d88417f" /><Relationship Type="http://schemas.openxmlformats.org/officeDocument/2006/relationships/slide" Target="/ppt/slides/slide7.xml" Id="R9c843acc5c834b37" /><Relationship Type="http://schemas.openxmlformats.org/officeDocument/2006/relationships/slide" Target="/ppt/slides/slide8.xml" Id="Raa8532414f464108" /><Relationship Type="http://schemas.openxmlformats.org/officeDocument/2006/relationships/slide" Target="/ppt/slides/slide9.xml" Id="R9b8ca4af81a64eb2" /><Relationship Type="http://schemas.openxmlformats.org/officeDocument/2006/relationships/slide" Target="/ppt/slides/slide10.xml" Id="Reab87bc75088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0ff0c678341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c8fa0f4cf44ed" /><Relationship Type="http://schemas.openxmlformats.org/officeDocument/2006/relationships/notesMaster" Target="/ppt/notesMasters/notesMaster1.xml" Id="Rbbc0be4b3ecf46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a5771d1fcb4a0c" /><Relationship Type="http://schemas.openxmlformats.org/officeDocument/2006/relationships/notesMaster" Target="/ppt/notesMasters/notesMaster1.xml" Id="Rf76d1286913147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a2d4aded6049e1" /><Relationship Type="http://schemas.openxmlformats.org/officeDocument/2006/relationships/notesMaster" Target="/ppt/notesMasters/notesMaster1.xml" Id="Rdde9346630ff43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f4bf86e6a4aa2" /><Relationship Type="http://schemas.openxmlformats.org/officeDocument/2006/relationships/notesMaster" Target="/ppt/notesMasters/notesMaster1.xml" Id="Reb05214961dc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4e6ca64eaa436d" /><Relationship Type="http://schemas.openxmlformats.org/officeDocument/2006/relationships/notesMaster" Target="/ppt/notesMasters/notesMaster1.xml" Id="Rb9e3aad8bd0342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ecc7a52ab1440f" /><Relationship Type="http://schemas.openxmlformats.org/officeDocument/2006/relationships/notesMaster" Target="/ppt/notesMasters/notesMaster1.xml" Id="Re83742c30573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a22d532ba94c8d" /><Relationship Type="http://schemas.openxmlformats.org/officeDocument/2006/relationships/notesMaster" Target="/ppt/notesMasters/notesMaster1.xml" Id="R68a5bc942f09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7f14cecaa7484f" /><Relationship Type="http://schemas.openxmlformats.org/officeDocument/2006/relationships/notesMaster" Target="/ppt/notesMasters/notesMaster1.xml" Id="R558acf7be2fc4f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bc2fffd483491b" /><Relationship Type="http://schemas.openxmlformats.org/officeDocument/2006/relationships/notesMaster" Target="/ppt/notesMasters/notesMaster1.xml" Id="R8439ef0baed746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20528676b24d49" /><Relationship Type="http://schemas.openxmlformats.org/officeDocument/2006/relationships/notesMaster" Target="/ppt/notesMasters/notesMaster1.xml" Id="Rbeccbc859e414c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- repo:docs/PRODUCT_DECISION.md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workspace:10_GIFT_CITY/00_CONTROL/STATUS.md</a:t>
            </a:r>
          </a:p>
          <a:p xmlns:a="http://schemas.openxmlformats.org/drawingml/2006/main">
            <a:r>
              <a:t>- workspace:10_GIFT_CITY/00_CONTROL/DECISION_LOG.md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https://www.ifsca.gov.in/Document/Tender/concept-note_drr-consultation_2003202520032025073433.pdf</a:t>
            </a:r>
          </a:p>
          <a:p xmlns:a="http://schemas.openxmlformats.org/drawingml/2006/main">
            <a:r>
              <a:t>- https://www.ifsca.gov.in/CommonDirect/ViewFile?fileName=Award_of_Contract_under_RFPs_for_DRR_Solution_and_ERP_System_20260309_0153.pdf&amp;id=d575554ec59b09e7fde503d3a82787c7</a:t>
            </a:r>
          </a:p>
          <a:p xmlns:a="http://schemas.openxmlformats.org/drawingml/2006/main">
            <a:r>
              <a:t>- https://bsmedia.business-standard.com/_media/bs/data/announcements/bse/29012026/13c21166-8138-4630-a8b3-4f6b2202472e.pdf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repo:data/synthetic-case.json</a:t>
            </a:r>
          </a:p>
          <a:p xmlns:a="http://schemas.openxmlformats.org/drawingml/2006/main">
            <a:r>
              <a:t>- repo:src/case-engine.js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- repo:src/case-engine.js</a:t>
            </a:r>
          </a:p>
          <a:p xmlns:a="http://schemas.openxmlformats.org/drawingml/2006/main">
            <a:r>
              <a:t>- repo:src/manifest.js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repo:prototype/app.js</a:t>
            </a:r>
          </a:p>
          <a:p xmlns:a="http://schemas.openxmlformats.org/drawingml/2006/main">
            <a:r>
              <a:t>- repo:artifacts/prototype-trace-1440.png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repo:artifacts/prototype-conflict-1440.png</a:t>
            </a:r>
          </a:p>
          <a:p xmlns:a="http://schemas.openxmlformats.org/drawingml/2006/main">
            <a:r>
              <a:t>- repo:artifacts/prototype-receipt-1440.png</a:t>
            </a:r>
          </a:p>
          <a:p xmlns:a="http://schemas.openxmlformats.org/drawingml/2006/main">
            <a:r>
              <a:t>- repo:.superpowers/sdd/2026-08-12-attest-submission-system/task-5-report.md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repo:docs/BUSINESS_VIABILITY.md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repo:docs/CONTRIBUTOR_SCOPE.md</a:t>
            </a:r>
          </a:p>
          <a:p xmlns:a="http://schemas.openxmlformats.org/drawingml/2006/main">
            <a:r>
              <a:t>- repo:docs/superpowers/specs/2026-08-12-attest-submission-system-design.md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https://www.giftifih.in/young-builders-program</a:t>
            </a:r>
          </a:p>
          <a:p xmlns:a="http://schemas.openxmlformats.org/drawingml/2006/main">
            <a:r>
              <a:t>- repo:docs/MEETING_BRIEF_2026-08-12.md</a:t>
            </a:r>
          </a:p>
          <a:p xmlns:a="http://schemas.openxmlformats.org/drawingml/2006/main">
            <a:r>
              <a:t>- repo:docs/PRODUCT_DECISION.md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16384d82d140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fe8bf2ca164a3c" /><Relationship Type="http://schemas.openxmlformats.org/officeDocument/2006/relationships/slideLayout" Target="/ppt/slideLayouts/slideLayout1.xml" Id="R222c168b9a70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c168b9a70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6b1ee95e4282" /><Relationship Type="http://schemas.openxmlformats.org/officeDocument/2006/relationships/notesSlide" Target="/ppt/notesSlides/notesSlide1.xml" Id="R20f75507fd834b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1a843fc31457c" /><Relationship Type="http://schemas.openxmlformats.org/officeDocument/2006/relationships/notesSlide" Target="/ppt/notesSlides/notesSlide2.xml" Id="Rfe81970183b5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e322178de40bb" /><Relationship Type="http://schemas.openxmlformats.org/officeDocument/2006/relationships/notesSlide" Target="/ppt/notesSlides/notesSlide3.xml" Id="R24d846f3aa9d41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95fa653c242f1" /><Relationship Type="http://schemas.openxmlformats.org/officeDocument/2006/relationships/notesSlide" Target="/ppt/notesSlides/notesSlide4.xml" Id="R3317ec6fbf63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1596eb85c44ee" /><Relationship Type="http://schemas.openxmlformats.org/officeDocument/2006/relationships/notesSlide" Target="/ppt/notesSlides/notesSlide5.xml" Id="R8cfde365e06844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df75d858649f0" /><Relationship Type="http://schemas.openxmlformats.org/officeDocument/2006/relationships/notesSlide" Target="/ppt/notesSlides/notesSlide6.xml" Id="Rabf0156dc8474b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868647c9e46d0" /><Relationship Type="http://schemas.openxmlformats.org/officeDocument/2006/relationships/image" Target="/ppt/media/image.png" Id="R73d4db7fea484020" /><Relationship Type="http://schemas.openxmlformats.org/officeDocument/2006/relationships/image" Target="/ppt/media/image2.png" Id="R92ec378d7c2e4be3" /><Relationship Type="http://schemas.openxmlformats.org/officeDocument/2006/relationships/notesSlide" Target="/ppt/notesSlides/notesSlide7.xml" Id="R97316d041f2042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271a582554fa9" /><Relationship Type="http://schemas.openxmlformats.org/officeDocument/2006/relationships/notesSlide" Target="/ppt/notesSlides/notesSlide8.xml" Id="R19a95914d39741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e7d6fddf54270" /><Relationship Type="http://schemas.openxmlformats.org/officeDocument/2006/relationships/notesSlide" Target="/ppt/notesSlides/notesSlide9.xml" Id="R7e6665df69cb4a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cfb3ef2af48d6" /><Relationship Type="http://schemas.openxmlformats.org/officeDocument/2006/relationships/notesSlide" Target="/ppt/notesSlides/notesSlide10.xml" Id="R5d573737728145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navy-field">
            <a:extLst xmlns:a="http://schemas.openxmlformats.org/drawingml/2006/main">
              <a:ext uri="{FF2B5EF4-FFF2-40B4-BE49-F238E27FC236}">
                <a16:creationId xmlns:a16="http://schemas.microsoft.com/office/drawing/2014/main" id="{C807557B-157D-4287-A474-05D490A5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259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4"/>
          </a:solidFill>
          <a:ln xmlns:a="http://schemas.openxmlformats.org/drawingml/2006/main" w="0">
            <a:solidFill>
              <a:srgbClr val="0A1F44"/>
            </a:solidFill>
            <a:prstDash val="solid"/>
          </a:ln>
        </p:spPr>
      </p:sp>
      <p:sp>
        <p:nvSpPr>
          <p:cNvPr id="2" name="cover-brass-spine">
            <a:extLst xmlns:a="http://schemas.openxmlformats.org/drawingml/2006/main">
              <a:ext uri="{FF2B5EF4-FFF2-40B4-BE49-F238E27FC236}">
                <a16:creationId xmlns:a16="http://schemas.microsoft.com/office/drawing/2014/main" id="{71947AC0-BFEB-461C-9715-45FBF7D0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3" name="brand-1">
            <a:extLst xmlns:a="http://schemas.openxmlformats.org/drawingml/2006/main">
              <a:ext uri="{FF2B5EF4-FFF2-40B4-BE49-F238E27FC236}">
                <a16:creationId xmlns:a16="http://schemas.microsoft.com/office/drawing/2014/main" id="{AAA681BA-E01E-499E-8A98-691EB5C1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9C59B38-0BC9-4659-BC49-7F2A6A6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096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57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KRISEVA ATTEST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474E3C8-B297-4DCF-BED5-BC72A70B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0F0E0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0F0E0B"/>
                </a:solidFill>
                <a:latin typeface="Georgia"/>
                <a:ea typeface="Georgia"/>
                <a:cs typeface="Georgia"/>
              </a:rPr>
              <a:t>A bounded source-to-field evidence workbench for human review.</a:t>
            </a:r>
          </a:p>
        </p:txBody>
      </p:sp>
      <p:sp>
        <p:nvSpPr>
          <p:cNvPr id="6" name="cover-rule">
            <a:extLst xmlns:a="http://schemas.openxmlformats.org/drawingml/2006/main">
              <a:ext uri="{FF2B5EF4-FFF2-40B4-BE49-F238E27FC236}">
                <a16:creationId xmlns:a16="http://schemas.microsoft.com/office/drawing/2014/main" id="{45CE11AF-709C-47C5-85DD-4C88159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7" name="cover-lock">
            <a:extLst xmlns:a="http://schemas.openxmlformats.org/drawingml/2006/main">
              <a:ext uri="{FF2B5EF4-FFF2-40B4-BE49-F238E27FC236}">
                <a16:creationId xmlns:a16="http://schemas.microsoft.com/office/drawing/2014/main" id="{8063A444-96FE-4000-9260-7D82B6E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1F4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F44"/>
                </a:solidFill>
                <a:latin typeface="Arial"/>
                <a:ea typeface="Arial"/>
                <a:cs typeface="Arial"/>
              </a:rPr>
              <a:t>Application product lock. Company wedge not locked.</a:t>
            </a:r>
          </a:p>
        </p:txBody>
      </p:sp>
      <p:sp>
        <p:nvSpPr>
          <p:cNvPr id="8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1ECE79E3-0A5B-4FC2-ADF1-FA32866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Research-stage prototype · synthetic data · no filing · no regulator connection</a:t>
            </a:r>
          </a:p>
        </p:txBody>
      </p:sp>
      <p:sp>
        <p:nvSpPr>
          <p:cNvPr id="9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56FC8AC2-0016-4D8B-AE5E-59CAAE3E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62100"/>
            <a:ext cx="1809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0" i="0">
                <a:solidFill>
                  <a:srgbClr val="A87229"/>
                </a:solidFill>
                <a:latin typeface="Georgia"/>
                <a:ea typeface="Georgia"/>
                <a:cs typeface="Georgia"/>
              </a:defRPr>
            </a:pPr>
            <a:r>
              <a:rPr sz="8100" b="0" i="0">
                <a:solidFill>
                  <a:srgbClr val="A8722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cover-classification">
            <a:extLst xmlns:a="http://schemas.openxmlformats.org/drawingml/2006/main">
              <a:ext uri="{FF2B5EF4-FFF2-40B4-BE49-F238E27FC236}">
                <a16:creationId xmlns:a16="http://schemas.microsoft.com/office/drawing/2014/main" id="{BD51F7DF-49F6-49C7-BA56-B04DC31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432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GIFT IFIH</a:t>
            </a:r>
          </a:p>
          <a:p xmlns:a="http://schemas.openxmlformats.org/drawingml/2006/main">
            <a:pPr algn="l">
              <a:def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YOUNG BUILDERS</a:t>
            </a:r>
          </a:p>
          <a:p xmlns:a="http://schemas.openxmlformats.org/drawingml/2006/main">
            <a:pPr algn="l">
              <a:def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350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2026</a:t>
            </a:r>
          </a:p>
        </p:txBody>
      </p:sp>
      <p:sp>
        <p:nvSpPr>
          <p:cNvPr id="11" name="cover-page">
            <a:extLst xmlns:a="http://schemas.openxmlformats.org/drawingml/2006/main">
              <a:ext uri="{FF2B5EF4-FFF2-40B4-BE49-F238E27FC236}">
                <a16:creationId xmlns:a16="http://schemas.microsoft.com/office/drawing/2014/main" id="{467E91C8-0250-4560-B31E-7094F89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0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APPLICATION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6560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2">
            <a:extLst xmlns:a="http://schemas.openxmlformats.org/drawingml/2006/main">
              <a:ext uri="{FF2B5EF4-FFF2-40B4-BE49-F238E27FC236}">
                <a16:creationId xmlns:a16="http://schemas.microsoft.com/office/drawing/2014/main" id="{C1AC0916-AE49-4370-93EA-DEDA0B7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3379C18-1565-4561-BBE1-EBB014CA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A human still owns the source question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925C9C0-5EB4-43EC-9AA1-5944FB01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57466D05-2A50-4D40-A008-5852D4DB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D53F46E-07A8-4E99-B637-BE7D817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02 / 10</a:t>
            </a:r>
          </a:p>
        </p:txBody>
      </p:sp>
      <p:sp>
        <p:nvSpPr>
          <p:cNvPr id="6" name="accountability-divider">
            <a:extLst xmlns:a="http://schemas.openxmlformats.org/drawingml/2006/main">
              <a:ext uri="{FF2B5EF4-FFF2-40B4-BE49-F238E27FC236}">
                <a16:creationId xmlns:a16="http://schemas.microsoft.com/office/drawing/2014/main" id="{68563A27-504A-4C28-83D2-90A1313F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875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7" name="accountability-label">
            <a:extLst xmlns:a="http://schemas.openxmlformats.org/drawingml/2006/main">
              <a:ext uri="{FF2B5EF4-FFF2-40B4-BE49-F238E27FC236}">
                <a16:creationId xmlns:a16="http://schemas.microsoft.com/office/drawing/2014/main" id="{7CACD1AE-EF69-4683-8AA3-91B9192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ACCOUNTABILITY QUESTION</a:t>
            </a:r>
          </a:p>
        </p:txBody>
      </p:sp>
      <p:sp>
        <p:nvSpPr>
          <p:cNvPr id="8" name="accountability-structured">
            <a:extLst xmlns:a="http://schemas.openxmlformats.org/drawingml/2006/main">
              <a:ext uri="{FF2B5EF4-FFF2-40B4-BE49-F238E27FC236}">
                <a16:creationId xmlns:a16="http://schemas.microsoft.com/office/drawing/2014/main" id="{50051031-FA0E-41C9-AF1A-24A3F5CA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1F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F44"/>
                </a:solidFill>
                <a:latin typeface="Arial"/>
                <a:ea typeface="Arial"/>
                <a:cs typeface="Arial"/>
              </a:rPr>
              <a:t>Structured returns do not remove the source question.</a:t>
            </a:r>
          </a:p>
        </p:txBody>
      </p:sp>
      <p:sp>
        <p:nvSpPr>
          <p:cNvPr id="9" name="accountability-question">
            <a:extLst xmlns:a="http://schemas.openxmlformats.org/drawingml/2006/main">
              <a:ext uri="{FF2B5EF4-FFF2-40B4-BE49-F238E27FC236}">
                <a16:creationId xmlns:a16="http://schemas.microsoft.com/office/drawing/2014/main" id="{EC140DA9-51BF-414D-AEA3-3EE38196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F0E0B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F0E0B"/>
                </a:solidFill>
                <a:latin typeface="Georgia"/>
                <a:ea typeface="Georgia"/>
                <a:cs typeface="Georgia"/>
              </a:rPr>
              <a:t>Which source supports this reported field?</a:t>
            </a:r>
          </a:p>
        </p:txBody>
      </p:sp>
      <p:sp>
        <p:nvSpPr>
          <p:cNvPr id="10" name="accountability-source-rule-1">
            <a:extLst xmlns:a="http://schemas.openxmlformats.org/drawingml/2006/main">
              <a:ext uri="{FF2B5EF4-FFF2-40B4-BE49-F238E27FC236}">
                <a16:creationId xmlns:a16="http://schemas.microsoft.com/office/drawing/2014/main" id="{43E98316-E7A7-4EFC-9BAB-40CAAA0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1" name="accountability-source-rule-2">
            <a:extLst xmlns:a="http://schemas.openxmlformats.org/drawingml/2006/main">
              <a:ext uri="{FF2B5EF4-FFF2-40B4-BE49-F238E27FC236}">
                <a16:creationId xmlns:a16="http://schemas.microsoft.com/office/drawing/2014/main" id="{9BECA429-CEFF-4CDE-BEE0-22944366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2" name="accountability-source-rule-3">
            <a:extLst xmlns:a="http://schemas.openxmlformats.org/drawingml/2006/main">
              <a:ext uri="{FF2B5EF4-FFF2-40B4-BE49-F238E27FC236}">
                <a16:creationId xmlns:a16="http://schemas.microsoft.com/office/drawing/2014/main" id="{A5528252-06F1-470F-BF9A-7F2954F6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3" name="accountability-evidence">
            <a:extLst xmlns:a="http://schemas.openxmlformats.org/drawingml/2006/main">
              <a:ext uri="{FF2B5EF4-FFF2-40B4-BE49-F238E27FC236}">
                <a16:creationId xmlns:a16="http://schemas.microsoft.com/office/drawing/2014/main" id="{D071A803-EFD0-428D-AAC9-C702C52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Statements, ledgers and schedules can disagree or leave evidence missing.</a:t>
            </a:r>
          </a:p>
        </p:txBody>
      </p:sp>
      <p:sp>
        <p:nvSpPr>
          <p:cNvPr id="14" name="accountability-unknowns">
            <a:extLst xmlns:a="http://schemas.openxmlformats.org/drawingml/2006/main">
              <a:ext uri="{FF2B5EF4-FFF2-40B4-BE49-F238E27FC236}">
                <a16:creationId xmlns:a16="http://schemas.microsoft.com/office/drawing/2014/main" id="{C8AB2840-5B2F-4DC0-BDE8-75FC2FF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25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25B53"/>
                </a:solidFill>
                <a:latin typeface="Arial"/>
                <a:ea typeface="Arial"/>
                <a:cs typeface="Arial"/>
              </a:rPr>
              <a:t>The operator, buyer, frequency, pain and willingness to pay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641124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-3">
            <a:extLst xmlns:a="http://schemas.openxmlformats.org/drawingml/2006/main">
              <a:ext uri="{FF2B5EF4-FFF2-40B4-BE49-F238E27FC236}">
                <a16:creationId xmlns:a16="http://schemas.microsoft.com/office/drawing/2014/main" id="{8EA70884-61C6-4C23-AA01-D35ADBFA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608939E-511B-4799-BFAD-D5DA851C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DRR targets submission; evidence starts upstream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A08A3B3-07F5-4003-9FF1-89578493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8C767D59-2D18-47A6-82B1-EF31B555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9B6806C7-1467-49A3-B5C8-6CEE4CEC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03 / 10</a:t>
            </a:r>
          </a:p>
        </p:txBody>
      </p:sp>
      <p:sp>
        <p:nvSpPr>
          <p:cNvPr id="6" name="boundary-left">
            <a:extLst xmlns:a="http://schemas.openxmlformats.org/drawingml/2006/main">
              <a:ext uri="{FF2B5EF4-FFF2-40B4-BE49-F238E27FC236}">
                <a16:creationId xmlns:a16="http://schemas.microsoft.com/office/drawing/2014/main" id="{F1D8E93C-F99F-47E2-81BA-B9F8248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6096000" cy="501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4"/>
          </a:solidFill>
          <a:ln xmlns:a="http://schemas.openxmlformats.org/drawingml/2006/main" w="0">
            <a:solidFill>
              <a:srgbClr val="0A1F44"/>
            </a:solidFill>
            <a:prstDash val="solid"/>
          </a:ln>
        </p:spPr>
      </p:sp>
      <p:sp>
        <p:nvSpPr>
          <p:cNvPr id="7" name="boundary-spine">
            <a:extLst xmlns:a="http://schemas.openxmlformats.org/drawingml/2006/main">
              <a:ext uri="{FF2B5EF4-FFF2-40B4-BE49-F238E27FC236}">
                <a16:creationId xmlns:a16="http://schemas.microsoft.com/office/drawing/2014/main" id="{E203CEF2-F987-4325-985A-62C4B3A7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0" cy="501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8" name="boundary-drr">
            <a:extLst xmlns:a="http://schemas.openxmlformats.org/drawingml/2006/main">
              <a:ext uri="{FF2B5EF4-FFF2-40B4-BE49-F238E27FC236}">
                <a16:creationId xmlns:a16="http://schemas.microsoft.com/office/drawing/2014/main" id="{9F7133F5-B971-4695-B284-B2765B80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DRR</a:t>
            </a:r>
          </a:p>
        </p:txBody>
      </p:sp>
      <p:sp>
        <p:nvSpPr>
          <p:cNvPr id="9" name="boundary-drr-copy">
            <a:extLst xmlns:a="http://schemas.openxmlformats.org/drawingml/2006/main">
              <a:ext uri="{FF2B5EF4-FFF2-40B4-BE49-F238E27FC236}">
                <a16:creationId xmlns:a16="http://schemas.microsoft.com/office/drawing/2014/main" id="{991B1174-F4A5-4B48-9260-90F1C0C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Structured reporting channels, validation and submission infrastructure</a:t>
            </a:r>
          </a:p>
        </p:txBody>
      </p:sp>
      <p:sp>
        <p:nvSpPr>
          <p:cNvPr id="10" name="boundary-absence">
            <a:extLst xmlns:a="http://schemas.openxmlformats.org/drawingml/2006/main">
              <a:ext uri="{FF2B5EF4-FFF2-40B4-BE49-F238E27FC236}">
                <a16:creationId xmlns:a16="http://schemas.microsoft.com/office/drawing/2014/main" id="{4099177F-47A9-4899-A40D-E760B252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7229"/>
                </a:solidFill>
                <a:latin typeface="Arial"/>
                <a:ea typeface="Arial"/>
                <a:cs typeface="Arial"/>
              </a:rPr>
              <a:t>Public absence is not proof.</a:t>
            </a:r>
          </a:p>
        </p:txBody>
      </p:sp>
      <p:sp>
        <p:nvSpPr>
          <p:cNvPr id="11" name="boundary-attest">
            <a:extLst xmlns:a="http://schemas.openxmlformats.org/drawingml/2006/main">
              <a:ext uri="{FF2B5EF4-FFF2-40B4-BE49-F238E27FC236}">
                <a16:creationId xmlns:a16="http://schemas.microsoft.com/office/drawing/2014/main" id="{CF1FB065-252C-4AE3-AF4C-701F880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ATTEST</a:t>
            </a:r>
          </a:p>
        </p:txBody>
      </p:sp>
      <p:sp>
        <p:nvSpPr>
          <p:cNvPr id="12" name="boundary-attest-copy">
            <a:extLst xmlns:a="http://schemas.openxmlformats.org/drawingml/2006/main">
              <a:ext uri="{FF2B5EF4-FFF2-40B4-BE49-F238E27FC236}">
                <a16:creationId xmlns:a16="http://schemas.microsoft.com/office/drawing/2014/main" id="{448285A7-F369-45D7-B373-6523076A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0F0E0B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0F0E0B"/>
                </a:solidFill>
                <a:latin typeface="Georgia"/>
                <a:ea typeface="Georgia"/>
                <a:cs typeface="Georgia"/>
              </a:rPr>
              <a:t>Provider-neutral source references, disagreement and human review</a:t>
            </a:r>
          </a:p>
        </p:txBody>
      </p:sp>
      <p:sp>
        <p:nvSpPr>
          <p:cNvPr id="13" name="boundary-limit">
            <a:extLst xmlns:a="http://schemas.openxmlformats.org/drawingml/2006/main">
              <a:ext uri="{FF2B5EF4-FFF2-40B4-BE49-F238E27FC236}">
                <a16:creationId xmlns:a16="http://schemas.microsoft.com/office/drawing/2014/main" id="{14B0ED83-7165-4C86-B04D-D290CD13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649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6491A"/>
                </a:solidFill>
                <a:latin typeface="Arial"/>
                <a:ea typeface="Arial"/>
                <a:cs typeface="Arial"/>
              </a:rPr>
              <a:t>No filing. No DRR connection. No claimed gap.</a:t>
            </a:r>
          </a:p>
        </p:txBody>
      </p:sp>
    </p:spTree>
    <p:extLst>
      <p:ext uri="{BB962C8B-B14F-4D97-AF65-F5344CB8AC3E}">
        <p14:creationId xmlns:p14="http://schemas.microsoft.com/office/powerpoint/2010/main" val="1696460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D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4">
            <a:extLst xmlns:a="http://schemas.openxmlformats.org/drawingml/2006/main">
              <a:ext uri="{FF2B5EF4-FFF2-40B4-BE49-F238E27FC236}">
                <a16:creationId xmlns:a16="http://schemas.microsoft.com/office/drawing/2014/main" id="{9EACA11F-5AF8-496E-87A3-9A11C6A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C177A44-66E5-4EF4-A12F-B1805D1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One fictional case makes three evidence states visible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DF3F1BEC-AF74-41FB-A959-DBE93E2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F646AC12-0065-4783-8F02-4EFFADFA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6B11D31-E3EC-450E-8F60-ADF4F8B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04 / 10</a:t>
            </a:r>
          </a:p>
        </p:txBody>
      </p:sp>
      <p:sp>
        <p:nvSpPr>
          <p:cNvPr id="6" name="case-entity">
            <a:extLst xmlns:a="http://schemas.openxmlformats.org/drawingml/2006/main">
              <a:ext uri="{FF2B5EF4-FFF2-40B4-BE49-F238E27FC236}">
                <a16:creationId xmlns:a16="http://schemas.microsoft.com/office/drawing/2014/main" id="{E9021288-E6BC-4E0C-ACD7-46D0CD01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Meridian Horizon Fund Management IFSC Pvt Ltd</a:t>
            </a:r>
          </a:p>
        </p:txBody>
      </p:sp>
      <p:sp>
        <p:nvSpPr>
          <p:cNvPr id="7" name="case-period">
            <a:extLst xmlns:a="http://schemas.openxmlformats.org/drawingml/2006/main">
              <a:ext uri="{FF2B5EF4-FFF2-40B4-BE49-F238E27FC236}">
                <a16:creationId xmlns:a16="http://schemas.microsoft.com/office/drawing/2014/main" id="{84359CA0-86A0-40B7-BCF9-1BF7516E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0E0B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0F0E0B"/>
                </a:solidFill>
                <a:latin typeface="Courier New"/>
                <a:ea typeface="Courier New"/>
                <a:cs typeface="Courier New"/>
              </a:rPr>
              <a:t>Q2 2026</a:t>
            </a:r>
          </a:p>
        </p:txBody>
      </p:sp>
      <p:sp>
        <p:nvSpPr>
          <p:cNvPr id="8" name="case-marker">
            <a:extLst xmlns:a="http://schemas.openxmlformats.org/drawingml/2006/main">
              <a:ext uri="{FF2B5EF4-FFF2-40B4-BE49-F238E27FC236}">
                <a16:creationId xmlns:a16="http://schemas.microsoft.com/office/drawing/2014/main" id="{14781BCF-4022-454B-B3B6-F2B11CD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FICTIONAL</a:t>
            </a:r>
          </a:p>
        </p:txBody>
      </p:sp>
      <p:sp>
        <p:nvSpPr>
          <p:cNvPr id="9" name="case-divider">
            <a:extLst xmlns:a="http://schemas.openxmlformats.org/drawingml/2006/main">
              <a:ext uri="{FF2B5EF4-FFF2-40B4-BE49-F238E27FC236}">
                <a16:creationId xmlns:a16="http://schemas.microsoft.com/office/drawing/2014/main" id="{DC95BE49-FE25-4A66-892E-6A581B24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47800"/>
            <a:ext cx="0" cy="430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10" name="case-row-rule-1">
            <a:extLst xmlns:a="http://schemas.openxmlformats.org/drawingml/2006/main">
              <a:ext uri="{FF2B5EF4-FFF2-40B4-BE49-F238E27FC236}">
                <a16:creationId xmlns:a16="http://schemas.microsoft.com/office/drawing/2014/main" id="{434A48D7-43FF-4DC9-9B45-A5FCFC73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1" name="case-row-status-1">
            <a:extLst xmlns:a="http://schemas.openxmlformats.org/drawingml/2006/main">
              <a:ext uri="{FF2B5EF4-FFF2-40B4-BE49-F238E27FC236}">
                <a16:creationId xmlns:a16="http://schemas.microsoft.com/office/drawing/2014/main" id="{B90BBFE8-0C11-4E25-9F70-50B80E4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62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15B4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215B43"/>
                </a:solidFill>
                <a:latin typeface="Courier New"/>
                <a:ea typeface="Courier New"/>
                <a:cs typeface="Courier New"/>
              </a:rPr>
              <a:t>SUPPORTED</a:t>
            </a:r>
          </a:p>
        </p:txBody>
      </p:sp>
      <p:sp>
        <p:nvSpPr>
          <p:cNvPr id="12" name="case-row-label-1">
            <a:extLst xmlns:a="http://schemas.openxmlformats.org/drawingml/2006/main">
              <a:ext uri="{FF2B5EF4-FFF2-40B4-BE49-F238E27FC236}">
                <a16:creationId xmlns:a16="http://schemas.microsoft.com/office/drawing/2014/main" id="{22A4A2F0-282F-4B80-A866-28E8DD1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66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Closing NAV</a:t>
            </a:r>
          </a:p>
        </p:txBody>
      </p:sp>
      <p:sp>
        <p:nvSpPr>
          <p:cNvPr id="13" name="case-row-copy-1">
            <a:extLst xmlns:a="http://schemas.openxmlformats.org/drawingml/2006/main">
              <a:ext uri="{FF2B5EF4-FFF2-40B4-BE49-F238E27FC236}">
                <a16:creationId xmlns:a16="http://schemas.microsoft.com/office/drawing/2014/main" id="{284ECC96-2C6B-4E14-85EB-A90B1861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240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F0E0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F0E0B"/>
                </a:solidFill>
                <a:latin typeface="Arial"/>
                <a:ea typeface="Arial"/>
                <a:cs typeface="Arial"/>
              </a:rPr>
              <a:t>INR 12.5M agrees across two sources</a:t>
            </a:r>
          </a:p>
        </p:txBody>
      </p:sp>
      <p:sp>
        <p:nvSpPr>
          <p:cNvPr id="14" name="case-row-rule-2">
            <a:extLst xmlns:a="http://schemas.openxmlformats.org/drawingml/2006/main">
              <a:ext uri="{FF2B5EF4-FFF2-40B4-BE49-F238E27FC236}">
                <a16:creationId xmlns:a16="http://schemas.microsoft.com/office/drawing/2014/main" id="{9DAD1C09-8F3F-44BE-92E2-B751B268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386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5" name="case-row-status-2">
            <a:extLst xmlns:a="http://schemas.openxmlformats.org/drawingml/2006/main">
              <a:ext uri="{FF2B5EF4-FFF2-40B4-BE49-F238E27FC236}">
                <a16:creationId xmlns:a16="http://schemas.microsoft.com/office/drawing/2014/main" id="{9CE8E6B4-BE6C-400B-9EF4-45EB0BD6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96491A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96491A"/>
                </a:solidFill>
                <a:latin typeface="Courier New"/>
                <a:ea typeface="Courier New"/>
                <a:cs typeface="Courier New"/>
              </a:rPr>
              <a:t>CONFLICTING</a:t>
            </a:r>
          </a:p>
        </p:txBody>
      </p:sp>
      <p:sp>
        <p:nvSpPr>
          <p:cNvPr id="16" name="case-row-label-2">
            <a:extLst xmlns:a="http://schemas.openxmlformats.org/drawingml/2006/main">
              <a:ext uri="{FF2B5EF4-FFF2-40B4-BE49-F238E27FC236}">
                <a16:creationId xmlns:a16="http://schemas.microsoft.com/office/drawing/2014/main" id="{374FB416-C364-4457-9E0A-3ED961E3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Committed capital</a:t>
            </a:r>
          </a:p>
        </p:txBody>
      </p:sp>
      <p:sp>
        <p:nvSpPr>
          <p:cNvPr id="17" name="case-row-copy-2">
            <a:extLst xmlns:a="http://schemas.openxmlformats.org/drawingml/2006/main">
              <a:ext uri="{FF2B5EF4-FFF2-40B4-BE49-F238E27FC236}">
                <a16:creationId xmlns:a16="http://schemas.microsoft.com/office/drawing/2014/main" id="{24103339-8004-453C-8F84-E1A3EE84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66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F0E0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F0E0B"/>
                </a:solidFill>
                <a:latin typeface="Arial"/>
                <a:ea typeface="Arial"/>
                <a:cs typeface="Arial"/>
              </a:rPr>
              <a:t>INR 50M vs INR 48M</a:t>
            </a:r>
          </a:p>
        </p:txBody>
      </p:sp>
      <p:sp>
        <p:nvSpPr>
          <p:cNvPr id="18" name="case-row-rule-3">
            <a:extLst xmlns:a="http://schemas.openxmlformats.org/drawingml/2006/main">
              <a:ext uri="{FF2B5EF4-FFF2-40B4-BE49-F238E27FC236}">
                <a16:creationId xmlns:a16="http://schemas.microsoft.com/office/drawing/2014/main" id="{2155E03D-37F5-46A4-8F3E-B0F72D0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9115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9" name="case-row-status-3">
            <a:extLst xmlns:a="http://schemas.openxmlformats.org/drawingml/2006/main">
              <a:ext uri="{FF2B5EF4-FFF2-40B4-BE49-F238E27FC236}">
                <a16:creationId xmlns:a16="http://schemas.microsoft.com/office/drawing/2014/main" id="{5E1BE532-48EC-4026-9065-312ED6EF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UNSUPPORTED</a:t>
            </a:r>
          </a:p>
        </p:txBody>
      </p:sp>
      <p:sp>
        <p:nvSpPr>
          <p:cNvPr id="20" name="case-row-label-3">
            <a:extLst xmlns:a="http://schemas.openxmlformats.org/drawingml/2006/main">
              <a:ext uri="{FF2B5EF4-FFF2-40B4-BE49-F238E27FC236}">
                <a16:creationId xmlns:a16="http://schemas.microsoft.com/office/drawing/2014/main" id="{883E22AE-72AD-464B-9EA3-E38A582D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720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Investor complaints closed</a:t>
            </a:r>
          </a:p>
        </p:txBody>
      </p:sp>
      <p:sp>
        <p:nvSpPr>
          <p:cNvPr id="21" name="case-row-copy-3">
            <a:extLst xmlns:a="http://schemas.openxmlformats.org/drawingml/2006/main">
              <a:ext uri="{FF2B5EF4-FFF2-40B4-BE49-F238E27FC236}">
                <a16:creationId xmlns:a16="http://schemas.microsoft.com/office/drawing/2014/main" id="{9305DCBA-4C6F-460C-9064-9BA348C9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291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F0E0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F0E0B"/>
                </a:solidFill>
                <a:latin typeface="Arial"/>
                <a:ea typeface="Arial"/>
                <a:cs typeface="Arial"/>
              </a:rPr>
              <a:t>no candidate evidence</a:t>
            </a:r>
          </a:p>
        </p:txBody>
      </p:sp>
    </p:spTree>
    <p:extLst>
      <p:ext uri="{BB962C8B-B14F-4D97-AF65-F5344CB8AC3E}">
        <p14:creationId xmlns:p14="http://schemas.microsoft.com/office/powerpoint/2010/main" val="13050777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5">
            <a:extLst xmlns:a="http://schemas.openxmlformats.org/drawingml/2006/main">
              <a:ext uri="{FF2B5EF4-FFF2-40B4-BE49-F238E27FC236}">
                <a16:creationId xmlns:a16="http://schemas.microsoft.com/office/drawing/2014/main" id="{D619050C-0B1D-4BF4-B5FD-5A966A58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2C25FEF-E911-42BC-9F88-9434795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Preserve the handoff, not just the answer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4B2123A-B36E-4EAC-B2DD-19248B9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AC84C5A4-35A2-4587-8FC8-794EFBC6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270C9786-60F4-4E71-85C5-60ED7FE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05 / 10</a:t>
            </a:r>
          </a:p>
        </p:txBody>
      </p:sp>
      <p:sp>
        <p:nvSpPr>
          <p:cNvPr id="6" name="workflow-rail">
            <a:extLst xmlns:a="http://schemas.openxmlformats.org/drawingml/2006/main">
              <a:ext uri="{FF2B5EF4-FFF2-40B4-BE49-F238E27FC236}">
                <a16:creationId xmlns:a16="http://schemas.microsoft.com/office/drawing/2014/main" id="{B3FBC08A-F5AC-42C1-B1E1-A9654F6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7" name="workflow-tick-1">
            <a:extLst xmlns:a="http://schemas.openxmlformats.org/drawingml/2006/main">
              <a:ext uri="{FF2B5EF4-FFF2-40B4-BE49-F238E27FC236}">
                <a16:creationId xmlns:a16="http://schemas.microsoft.com/office/drawing/2014/main" id="{12212C50-CBD6-4898-A450-D10C631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7229"/>
            </a:solidFill>
            <a:prstDash val="solid"/>
          </a:ln>
        </p:spPr>
      </p:sp>
      <p:sp>
        <p:nvSpPr>
          <p:cNvPr id="8" name="workflow-step-1">
            <a:extLst xmlns:a="http://schemas.openxmlformats.org/drawingml/2006/main">
              <a:ext uri="{FF2B5EF4-FFF2-40B4-BE49-F238E27FC236}">
                <a16:creationId xmlns:a16="http://schemas.microsoft.com/office/drawing/2014/main" id="{2BAC3978-9C10-4FB4-B1B5-5993610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01 SOURCE · exact page, region or cell</a:t>
            </a:r>
          </a:p>
        </p:txBody>
      </p:sp>
      <p:sp>
        <p:nvSpPr>
          <p:cNvPr id="9" name="workflow-tick-2">
            <a:extLst xmlns:a="http://schemas.openxmlformats.org/drawingml/2006/main">
              <a:ext uri="{FF2B5EF4-FFF2-40B4-BE49-F238E27FC236}">
                <a16:creationId xmlns:a16="http://schemas.microsoft.com/office/drawing/2014/main" id="{F7556C63-1FB8-4DAA-80EA-BF4EAA70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7229"/>
            </a:solidFill>
            <a:prstDash val="solid"/>
          </a:ln>
        </p:spPr>
      </p:sp>
      <p:sp>
        <p:nvSpPr>
          <p:cNvPr id="10" name="workflow-step-2">
            <a:extLst xmlns:a="http://schemas.openxmlformats.org/drawingml/2006/main">
              <a:ext uri="{FF2B5EF4-FFF2-40B4-BE49-F238E27FC236}">
                <a16:creationId xmlns:a16="http://schemas.microsoft.com/office/drawing/2014/main" id="{76A23314-1A3C-4E2E-BA59-09950410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147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02 COMPARE · preserve agreement and disagreement</a:t>
            </a:r>
          </a:p>
        </p:txBody>
      </p:sp>
      <p:sp>
        <p:nvSpPr>
          <p:cNvPr id="11" name="workflow-tick-3">
            <a:extLst xmlns:a="http://schemas.openxmlformats.org/drawingml/2006/main">
              <a:ext uri="{FF2B5EF4-FFF2-40B4-BE49-F238E27FC236}">
                <a16:creationId xmlns:a16="http://schemas.microsoft.com/office/drawing/2014/main" id="{A1E40888-ECF4-4106-A1AA-5088EF5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90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7229"/>
            </a:solidFill>
            <a:prstDash val="solid"/>
          </a:ln>
        </p:spPr>
      </p:sp>
      <p:sp>
        <p:nvSpPr>
          <p:cNvPr id="12" name="workflow-step-3">
            <a:extLst xmlns:a="http://schemas.openxmlformats.org/drawingml/2006/main">
              <a:ext uri="{FF2B5EF4-FFF2-40B4-BE49-F238E27FC236}">
                <a16:creationId xmlns:a16="http://schemas.microsoft.com/office/drawing/2014/main" id="{ABBB14CF-53DD-41A5-8EBB-C0BBDC4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03 ESCALATE · no default winner</a:t>
            </a:r>
          </a:p>
        </p:txBody>
      </p:sp>
      <p:sp>
        <p:nvSpPr>
          <p:cNvPr id="13" name="workflow-tick-4">
            <a:extLst xmlns:a="http://schemas.openxmlformats.org/drawingml/2006/main">
              <a:ext uri="{FF2B5EF4-FFF2-40B4-BE49-F238E27FC236}">
                <a16:creationId xmlns:a16="http://schemas.microsoft.com/office/drawing/2014/main" id="{B1C2EB70-2A82-4ACF-B377-7DF7658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90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7229"/>
            </a:solidFill>
            <a:prstDash val="solid"/>
          </a:ln>
        </p:spPr>
      </p:sp>
      <p:sp>
        <p:nvSpPr>
          <p:cNvPr id="14" name="workflow-step-4">
            <a:extLst xmlns:a="http://schemas.openxmlformats.org/drawingml/2006/main">
              <a:ext uri="{FF2B5EF4-FFF2-40B4-BE49-F238E27FC236}">
                <a16:creationId xmlns:a16="http://schemas.microsoft.com/office/drawing/2014/main" id="{B435699C-4E66-4C06-82E4-A738432B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04 DECIDE · named reviewer and reason</a:t>
            </a:r>
          </a:p>
        </p:txBody>
      </p:sp>
      <p:sp>
        <p:nvSpPr>
          <p:cNvPr id="15" name="workflow-tick-5">
            <a:extLst xmlns:a="http://schemas.openxmlformats.org/drawingml/2006/main">
              <a:ext uri="{FF2B5EF4-FFF2-40B4-BE49-F238E27FC236}">
                <a16:creationId xmlns:a16="http://schemas.microsoft.com/office/drawing/2014/main" id="{84DF3910-C6DF-472C-BA2A-FC1F3FCE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7229"/>
            </a:solidFill>
            <a:prstDash val="solid"/>
          </a:ln>
        </p:spPr>
      </p:sp>
      <p:sp>
        <p:nvSpPr>
          <p:cNvPr id="16" name="workflow-step-5">
            <a:extLst xmlns:a="http://schemas.openxmlformats.org/drawingml/2006/main">
              <a:ext uri="{FF2B5EF4-FFF2-40B4-BE49-F238E27FC236}">
                <a16:creationId xmlns:a16="http://schemas.microsoft.com/office/drawing/2014/main" id="{6186ED49-EDE3-4D0B-A506-D5B8B741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09750"/>
            <a:ext cx="1952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05 RETAIN · local JSON and printable HTML manifest</a:t>
            </a:r>
          </a:p>
        </p:txBody>
      </p:sp>
    </p:spTree>
    <p:extLst>
      <p:ext uri="{BB962C8B-B14F-4D97-AF65-F5344CB8AC3E}">
        <p14:creationId xmlns:p14="http://schemas.microsoft.com/office/powerpoint/2010/main" val="19354986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6">
            <a:extLst xmlns:a="http://schemas.openxmlformats.org/drawingml/2006/main">
              <a:ext uri="{FF2B5EF4-FFF2-40B4-BE49-F238E27FC236}">
                <a16:creationId xmlns:a16="http://schemas.microsoft.com/office/drawing/2014/main" id="{2BBD370F-CFE4-4558-A154-AB97C2B7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7FBF569-A58D-41C9-A3F5-59479FE6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The prototype knows when to stop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9C3E1B6E-55DF-4584-9705-3912340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3EDE0"/>
            </a:solidFill>
            <a:prstDash val="solid"/>
          </a:ln>
        </p:spPr>
      </p:sp>
      <p:sp>
        <p:nvSpPr>
          <p:cNvPr id="4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A479AC38-08F9-420E-BC91-153268DD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E721275-B35E-4740-B102-0E0604F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06 / 10</a:t>
            </a:r>
          </a:p>
        </p:txBody>
      </p:sp>
      <p:sp>
        <p:nvSpPr>
          <p:cNvPr id="6" name="agent-trace-label">
            <a:extLst xmlns:a="http://schemas.openxmlformats.org/drawingml/2006/main">
              <a:ext uri="{FF2B5EF4-FFF2-40B4-BE49-F238E27FC236}">
                <a16:creationId xmlns:a16="http://schemas.microsoft.com/office/drawing/2014/main" id="{7FB5B9F8-C1AB-4DC6-AAB7-4D5BC4F7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RECORDED DETERMINISTIC PROTOTYPE TRACE</a:t>
            </a:r>
          </a:p>
        </p:txBody>
      </p:sp>
      <p:sp>
        <p:nvSpPr>
          <p:cNvPr id="7" name="agent-trace-spine">
            <a:extLst xmlns:a="http://schemas.openxmlformats.org/drawingml/2006/main">
              <a:ext uri="{FF2B5EF4-FFF2-40B4-BE49-F238E27FC236}">
                <a16:creationId xmlns:a16="http://schemas.microsoft.com/office/drawing/2014/main" id="{03018589-7532-4FE5-ABC9-CBAA9509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621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8" name="agent-propose">
            <a:extLst xmlns:a="http://schemas.openxmlformats.org/drawingml/2006/main">
              <a:ext uri="{FF2B5EF4-FFF2-40B4-BE49-F238E27FC236}">
                <a16:creationId xmlns:a16="http://schemas.microsoft.com/office/drawing/2014/main" id="{7F42106F-D67B-4B5F-9136-9CEF189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PROPOSE</a:t>
            </a:r>
          </a:p>
        </p:txBody>
      </p:sp>
      <p:sp>
        <p:nvSpPr>
          <p:cNvPr id="9" name="agent-propose-copy">
            <a:extLst xmlns:a="http://schemas.openxmlformats.org/drawingml/2006/main">
              <a:ext uri="{FF2B5EF4-FFF2-40B4-BE49-F238E27FC236}">
                <a16:creationId xmlns:a16="http://schemas.microsoft.com/office/drawing/2014/main" id="{BC4A89FD-F1D6-4B15-A6C8-67A53C76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candidate evidence and exact references</a:t>
            </a:r>
          </a:p>
        </p:txBody>
      </p:sp>
      <p:sp>
        <p:nvSpPr>
          <p:cNvPr id="10" name="agent-abstain">
            <a:extLst xmlns:a="http://schemas.openxmlformats.org/drawingml/2006/main">
              <a:ext uri="{FF2B5EF4-FFF2-40B4-BE49-F238E27FC236}">
                <a16:creationId xmlns:a16="http://schemas.microsoft.com/office/drawing/2014/main" id="{E1C1C406-A1C8-4EA9-8329-01EC84D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ABSTAIN</a:t>
            </a:r>
          </a:p>
        </p:txBody>
      </p:sp>
      <p:sp>
        <p:nvSpPr>
          <p:cNvPr id="11" name="agent-abstain-copy">
            <a:extLst xmlns:a="http://schemas.openxmlformats.org/drawingml/2006/main">
              <a:ext uri="{FF2B5EF4-FFF2-40B4-BE49-F238E27FC236}">
                <a16:creationId xmlns:a16="http://schemas.microsoft.com/office/drawing/2014/main" id="{4752B695-EF0D-40B3-A17B-B8836E4C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766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no candidate evidence; request more</a:t>
            </a:r>
          </a:p>
        </p:txBody>
      </p:sp>
      <p:sp>
        <p:nvSpPr>
          <p:cNvPr id="12" name="agent-decide">
            <a:extLst xmlns:a="http://schemas.openxmlformats.org/drawingml/2006/main">
              <a:ext uri="{FF2B5EF4-FFF2-40B4-BE49-F238E27FC236}">
                <a16:creationId xmlns:a16="http://schemas.microsoft.com/office/drawing/2014/main" id="{484E9631-3B25-41FE-ADD8-03B9C791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DECIDE</a:t>
            </a:r>
          </a:p>
        </p:txBody>
      </p:sp>
      <p:sp>
        <p:nvSpPr>
          <p:cNvPr id="13" name="agent-decide-copy">
            <a:extLst xmlns:a="http://schemas.openxmlformats.org/drawingml/2006/main">
              <a:ext uri="{FF2B5EF4-FFF2-40B4-BE49-F238E27FC236}">
                <a16:creationId xmlns:a16="http://schemas.microsoft.com/office/drawing/2014/main" id="{8CC6F521-6117-44C2-871E-AB0DF15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053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only a named human can accept, correct, reject or defer</a:t>
            </a:r>
          </a:p>
        </p:txBody>
      </p:sp>
      <p:sp>
        <p:nvSpPr>
          <p:cNvPr id="14" name="agent-boundary-rule">
            <a:extLst xmlns:a="http://schemas.openxmlformats.org/drawingml/2006/main">
              <a:ext uri="{FF2B5EF4-FFF2-40B4-BE49-F238E27FC236}">
                <a16:creationId xmlns:a16="http://schemas.microsoft.com/office/drawing/2014/main" id="{9E75963C-1A7B-4D3B-9DE6-F9B2E235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15" name="agent-boundary-copy">
            <a:extLst xmlns:a="http://schemas.openxmlformats.org/drawingml/2006/main">
              <a:ext uri="{FF2B5EF4-FFF2-40B4-BE49-F238E27FC236}">
                <a16:creationId xmlns:a16="http://schemas.microsoft.com/office/drawing/2014/main" id="{66C97652-DEA3-4E71-BEE6-B080A2F2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A87229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87229"/>
                </a:solidFill>
                <a:latin typeface="Georgia"/>
                <a:ea typeface="Georgia"/>
                <a:cs typeface="Georgia"/>
              </a:rPr>
              <a:t>No live model. No compliance conclusion.</a:t>
            </a:r>
          </a:p>
        </p:txBody>
      </p:sp>
    </p:spTree>
    <p:extLst>
      <p:ext uri="{BB962C8B-B14F-4D97-AF65-F5344CB8AC3E}">
        <p14:creationId xmlns:p14="http://schemas.microsoft.com/office/powerpoint/2010/main" val="1623457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-7">
            <a:extLst xmlns:a="http://schemas.openxmlformats.org/drawingml/2006/main">
              <a:ext uri="{FF2B5EF4-FFF2-40B4-BE49-F238E27FC236}">
                <a16:creationId xmlns:a16="http://schemas.microsoft.com/office/drawing/2014/main" id="{0B210DAB-E4B7-4FA6-911D-D11638B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9C5ED59-5380-4614-83FD-FEB6F5D8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The current build exposes the full evidence record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70332EFB-5145-4B9B-BF3F-F797193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ABBD2B29-2203-4C64-A35A-6A605D2A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5DE4952-6190-446F-B2C2-4A130CC1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07 / 10</a:t>
            </a:r>
          </a:p>
        </p:txBody>
      </p:sp>
      <p:sp>
        <p:nvSpPr>
          <p:cNvPr id="6" name="prototype-proof-label">
            <a:extLst xmlns:a="http://schemas.openxmlformats.org/drawingml/2006/main">
              <a:ext uri="{FF2B5EF4-FFF2-40B4-BE49-F238E27FC236}">
                <a16:creationId xmlns:a16="http://schemas.microsoft.com/office/drawing/2014/main" id="{AEC4F2E6-1645-485E-B811-80191CD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76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CURRENT LOCAL BUILD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4db7fea484020"/>
          <a:srcRect xmlns:a="http://schemas.openxmlformats.org/drawingml/2006/main" l="0" t="27730" r="0" b="27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19250"/>
            <a:ext cx="7067550" cy="3600450"/>
          </a:xfrm>
          <a:prstGeom xmlns:a="http://schemas.openxmlformats.org/drawingml/2006/main" prst="rect">
            <a:avLst/>
          </a:prstGeom>
        </p:spPr>
      </p:pic>
      <p:sp>
        <p:nvSpPr>
          <p:cNvPr id="8" name="prototype-conflict-border">
            <a:extLst xmlns:a="http://schemas.openxmlformats.org/drawingml/2006/main">
              <a:ext uri="{FF2B5EF4-FFF2-40B4-BE49-F238E27FC236}">
                <a16:creationId xmlns:a16="http://schemas.microsoft.com/office/drawing/2014/main" id="{CCA56627-F6F5-4C3C-8BDD-7850A46C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0675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c378d7c2e4be3"/>
          <a:srcRect xmlns:a="http://schemas.openxmlformats.org/drawingml/2006/main" l="0" t="23676" r="0" b="23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619250"/>
            <a:ext cx="3714750" cy="3600450"/>
          </a:xfrm>
          <a:prstGeom xmlns:a="http://schemas.openxmlformats.org/drawingml/2006/main" prst="rect">
            <a:avLst/>
          </a:prstGeom>
        </p:spPr>
      </p:pic>
      <p:sp>
        <p:nvSpPr>
          <p:cNvPr id="10" name="prototype-receipt-border">
            <a:extLst xmlns:a="http://schemas.openxmlformats.org/drawingml/2006/main">
              <a:ext uri="{FF2B5EF4-FFF2-40B4-BE49-F238E27FC236}">
                <a16:creationId xmlns:a16="http://schemas.microsoft.com/office/drawing/2014/main" id="{4C907B09-436A-4BF3-904E-CD16AA84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19250"/>
            <a:ext cx="37147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11" name="prototype-callout-1">
            <a:extLst xmlns:a="http://schemas.openxmlformats.org/drawingml/2006/main">
              <a:ext uri="{FF2B5EF4-FFF2-40B4-BE49-F238E27FC236}">
                <a16:creationId xmlns:a16="http://schemas.microsoft.com/office/drawing/2014/main" id="{A767CAF5-9B81-488C-A186-0DD9F86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1F4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F44"/>
                </a:solidFill>
                <a:latin typeface="Arial"/>
                <a:ea typeface="Arial"/>
                <a:cs typeface="Arial"/>
              </a:rPr>
              <a:t>Conflict stays side by side.</a:t>
            </a:r>
          </a:p>
        </p:txBody>
      </p:sp>
      <p:sp>
        <p:nvSpPr>
          <p:cNvPr id="12" name="prototype-callout-2">
            <a:extLst xmlns:a="http://schemas.openxmlformats.org/drawingml/2006/main">
              <a:ext uri="{FF2B5EF4-FFF2-40B4-BE49-F238E27FC236}">
                <a16:creationId xmlns:a16="http://schemas.microsoft.com/office/drawing/2014/main" id="{C3DE5BCE-785A-4622-9C22-276CA81A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292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1F4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F44"/>
                </a:solidFill>
                <a:latin typeface="Arial"/>
                <a:ea typeface="Arial"/>
                <a:cs typeface="Arial"/>
              </a:rPr>
              <a:t>Human reason is required.</a:t>
            </a:r>
          </a:p>
        </p:txBody>
      </p:sp>
      <p:sp>
        <p:nvSpPr>
          <p:cNvPr id="13" name="prototype-callout-3">
            <a:extLst xmlns:a="http://schemas.openxmlformats.org/drawingml/2006/main">
              <a:ext uri="{FF2B5EF4-FFF2-40B4-BE49-F238E27FC236}">
                <a16:creationId xmlns:a16="http://schemas.microsoft.com/office/drawing/2014/main" id="{C6D9D781-F20B-4F25-BCCB-E10958B2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29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0A1F4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0A1F44"/>
                </a:solidFill>
                <a:latin typeface="Arial"/>
                <a:ea typeface="Arial"/>
                <a:cs typeface="Arial"/>
              </a:rPr>
              <a:t>Receipt retains fingerprints, both candidates and unresolved evidence.</a:t>
            </a:r>
          </a:p>
        </p:txBody>
      </p:sp>
      <p:sp>
        <p:nvSpPr>
          <p:cNvPr id="14" name="prototype-callout-4">
            <a:extLst xmlns:a="http://schemas.openxmlformats.org/drawingml/2006/main">
              <a:ext uri="{FF2B5EF4-FFF2-40B4-BE49-F238E27FC236}">
                <a16:creationId xmlns:a16="http://schemas.microsoft.com/office/drawing/2014/main" id="{2519A459-5776-4511-802D-B63289BC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292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96491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96491A"/>
                </a:solidFill>
                <a:latin typeface="Arial"/>
                <a:ea typeface="Arial"/>
                <a:cs typeface="Arial"/>
              </a:rPr>
              <a:t>Synthetic data only · no filing · no regulator connection</a:t>
            </a:r>
          </a:p>
        </p:txBody>
      </p:sp>
    </p:spTree>
    <p:extLst>
      <p:ext uri="{BB962C8B-B14F-4D97-AF65-F5344CB8AC3E}">
        <p14:creationId xmlns:p14="http://schemas.microsoft.com/office/powerpoint/2010/main" val="1610947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D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-8">
            <a:extLst xmlns:a="http://schemas.openxmlformats.org/drawingml/2006/main">
              <a:ext uri="{FF2B5EF4-FFF2-40B4-BE49-F238E27FC236}">
                <a16:creationId xmlns:a16="http://schemas.microsoft.com/office/drawing/2014/main" id="{064BF53F-C008-4A80-BCBD-5B5AFEA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C15BCDF-0187-47F0-942C-42F2420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Revenue here is a sensitivity test, not a forecast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2B817319-7FAA-411E-B9A4-7ED963F2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09115BE8-D063-4D17-9DD1-D4DDA3BC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67A5656E-DAF2-461F-BCEA-309ED60F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08 / 10</a:t>
            </a:r>
          </a:p>
        </p:txBody>
      </p:sp>
      <p:sp>
        <p:nvSpPr>
          <p:cNvPr id="6" name="sensitivity-label">
            <a:extLst xmlns:a="http://schemas.openxmlformats.org/drawingml/2006/main">
              <a:ext uri="{FF2B5EF4-FFF2-40B4-BE49-F238E27FC236}">
                <a16:creationId xmlns:a16="http://schemas.microsoft.com/office/drawing/2014/main" id="{331BBAC2-E41F-4550-B012-C4959CEC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ILLUSTRATIVE ARR SENSITIVITY</a:t>
            </a:r>
          </a:p>
        </p:txBody>
      </p:sp>
      <p:sp>
        <p:nvSpPr>
          <p:cNvPr id="7" name="sensitivity-row-0">
            <a:extLst xmlns:a="http://schemas.openxmlformats.org/drawingml/2006/main">
              <a:ext uri="{FF2B5EF4-FFF2-40B4-BE49-F238E27FC236}">
                <a16:creationId xmlns:a16="http://schemas.microsoft.com/office/drawing/2014/main" id="{368ED05B-DBD7-411A-9EA4-8E22DF0B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8" name="sensitivity-0-0">
            <a:extLst xmlns:a="http://schemas.openxmlformats.org/drawingml/2006/main">
              <a:ext uri="{FF2B5EF4-FFF2-40B4-BE49-F238E27FC236}">
                <a16:creationId xmlns:a16="http://schemas.microsoft.com/office/drawing/2014/main" id="{11C8AA8A-4924-41A1-866A-5375E5BC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Entities</a:t>
            </a:r>
          </a:p>
        </p:txBody>
      </p:sp>
      <p:sp>
        <p:nvSpPr>
          <p:cNvPr id="9" name="sensitivity-0-1">
            <a:extLst xmlns:a="http://schemas.openxmlformats.org/drawingml/2006/main">
              <a:ext uri="{FF2B5EF4-FFF2-40B4-BE49-F238E27FC236}">
                <a16:creationId xmlns:a16="http://schemas.microsoft.com/office/drawing/2014/main" id="{6902BAEA-CE9E-41E5-A0E5-9BFB4F20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526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₹3L</a:t>
            </a:r>
          </a:p>
        </p:txBody>
      </p:sp>
      <p:sp>
        <p:nvSpPr>
          <p:cNvPr id="10" name="sensitivity-0-2">
            <a:extLst xmlns:a="http://schemas.openxmlformats.org/drawingml/2006/main">
              <a:ext uri="{FF2B5EF4-FFF2-40B4-BE49-F238E27FC236}">
                <a16:creationId xmlns:a16="http://schemas.microsoft.com/office/drawing/2014/main" id="{84E74C66-7BB5-44F9-BB1A-BE21F0B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₹6L</a:t>
            </a:r>
          </a:p>
        </p:txBody>
      </p:sp>
      <p:sp>
        <p:nvSpPr>
          <p:cNvPr id="11" name="sensitivity-0-3">
            <a:extLst xmlns:a="http://schemas.openxmlformats.org/drawingml/2006/main">
              <a:ext uri="{FF2B5EF4-FFF2-40B4-BE49-F238E27FC236}">
                <a16:creationId xmlns:a16="http://schemas.microsoft.com/office/drawing/2014/main" id="{1BA851F6-6A55-402E-A46D-F909B525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₹12L</a:t>
            </a:r>
          </a:p>
        </p:txBody>
      </p:sp>
      <p:sp>
        <p:nvSpPr>
          <p:cNvPr id="12" name="sensitivity-row-1">
            <a:extLst xmlns:a="http://schemas.openxmlformats.org/drawingml/2006/main">
              <a:ext uri="{FF2B5EF4-FFF2-40B4-BE49-F238E27FC236}">
                <a16:creationId xmlns:a16="http://schemas.microsoft.com/office/drawing/2014/main" id="{DDE95BC0-2AF7-4E5A-9F2A-4A1F41C2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3" name="sensitivity-1-0">
            <a:extLst xmlns:a="http://schemas.openxmlformats.org/drawingml/2006/main">
              <a:ext uri="{FF2B5EF4-FFF2-40B4-BE49-F238E27FC236}">
                <a16:creationId xmlns:a16="http://schemas.microsoft.com/office/drawing/2014/main" id="{A127E383-AF52-46BD-9DC9-BA2AC5BC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4" name="sensitivity-1-1">
            <a:extLst xmlns:a="http://schemas.openxmlformats.org/drawingml/2006/main">
              <a:ext uri="{FF2B5EF4-FFF2-40B4-BE49-F238E27FC236}">
                <a16:creationId xmlns:a16="http://schemas.microsoft.com/office/drawing/2014/main" id="{9E80764D-C1A0-415A-A7ED-1393DE1D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384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₹15L</a:t>
            </a:r>
          </a:p>
        </p:txBody>
      </p:sp>
      <p:sp>
        <p:nvSpPr>
          <p:cNvPr id="15" name="sensitivity-1-2">
            <a:extLst xmlns:a="http://schemas.openxmlformats.org/drawingml/2006/main">
              <a:ext uri="{FF2B5EF4-FFF2-40B4-BE49-F238E27FC236}">
                <a16:creationId xmlns:a16="http://schemas.microsoft.com/office/drawing/2014/main" id="{1E3F0772-5314-4617-BF64-0768979D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₹30L</a:t>
            </a:r>
          </a:p>
        </p:txBody>
      </p:sp>
      <p:sp>
        <p:nvSpPr>
          <p:cNvPr id="16" name="sensitivity-1-3">
            <a:extLst xmlns:a="http://schemas.openxmlformats.org/drawingml/2006/main">
              <a:ext uri="{FF2B5EF4-FFF2-40B4-BE49-F238E27FC236}">
                <a16:creationId xmlns:a16="http://schemas.microsoft.com/office/drawing/2014/main" id="{29F8E30E-2378-4606-9628-3D1693FE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384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₹60L</a:t>
            </a:r>
          </a:p>
        </p:txBody>
      </p:sp>
      <p:sp>
        <p:nvSpPr>
          <p:cNvPr id="17" name="sensitivity-row-2">
            <a:extLst xmlns:a="http://schemas.openxmlformats.org/drawingml/2006/main">
              <a:ext uri="{FF2B5EF4-FFF2-40B4-BE49-F238E27FC236}">
                <a16:creationId xmlns:a16="http://schemas.microsoft.com/office/drawing/2014/main" id="{52B0E903-762D-427F-BA79-B7769D23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18" name="sensitivity-2-0">
            <a:extLst xmlns:a="http://schemas.openxmlformats.org/drawingml/2006/main">
              <a:ext uri="{FF2B5EF4-FFF2-40B4-BE49-F238E27FC236}">
                <a16:creationId xmlns:a16="http://schemas.microsoft.com/office/drawing/2014/main" id="{33652A3C-B727-4E6C-AA81-1EF3F9F1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19" name="sensitivity-2-1">
            <a:extLst xmlns:a="http://schemas.openxmlformats.org/drawingml/2006/main">
              <a:ext uri="{FF2B5EF4-FFF2-40B4-BE49-F238E27FC236}">
                <a16:creationId xmlns:a16="http://schemas.microsoft.com/office/drawing/2014/main" id="{CB307BDF-B986-47FC-85A8-232C7F9A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242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₹60L</a:t>
            </a:r>
          </a:p>
        </p:txBody>
      </p:sp>
      <p:sp>
        <p:nvSpPr>
          <p:cNvPr id="20" name="sensitivity-2-2">
            <a:extLst xmlns:a="http://schemas.openxmlformats.org/drawingml/2006/main">
              <a:ext uri="{FF2B5EF4-FFF2-40B4-BE49-F238E27FC236}">
                <a16:creationId xmlns:a16="http://schemas.microsoft.com/office/drawing/2014/main" id="{1096D7D1-51EB-4A8B-A492-D4A4AC23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242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₹1.2Cr</a:t>
            </a:r>
          </a:p>
        </p:txBody>
      </p:sp>
      <p:sp>
        <p:nvSpPr>
          <p:cNvPr id="21" name="sensitivity-2-3">
            <a:extLst xmlns:a="http://schemas.openxmlformats.org/drawingml/2006/main">
              <a:ext uri="{FF2B5EF4-FFF2-40B4-BE49-F238E27FC236}">
                <a16:creationId xmlns:a16="http://schemas.microsoft.com/office/drawing/2014/main" id="{888812AB-0273-4FF3-BC15-63CF438E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₹2.4Cr</a:t>
            </a:r>
          </a:p>
        </p:txBody>
      </p:sp>
      <p:sp>
        <p:nvSpPr>
          <p:cNvPr id="22" name="sensitivity-row-3">
            <a:extLst xmlns:a="http://schemas.openxmlformats.org/drawingml/2006/main">
              <a:ext uri="{FF2B5EF4-FFF2-40B4-BE49-F238E27FC236}">
                <a16:creationId xmlns:a16="http://schemas.microsoft.com/office/drawing/2014/main" id="{92FB5B76-FFF2-4827-A303-6E4E7FE0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E786E"/>
            </a:solidFill>
            <a:prstDash val="solid"/>
          </a:ln>
        </p:spPr>
      </p:sp>
      <p:sp>
        <p:nvSpPr>
          <p:cNvPr id="23" name="sensitivity-3-0">
            <a:extLst xmlns:a="http://schemas.openxmlformats.org/drawingml/2006/main">
              <a:ext uri="{FF2B5EF4-FFF2-40B4-BE49-F238E27FC236}">
                <a16:creationId xmlns:a16="http://schemas.microsoft.com/office/drawing/2014/main" id="{A601994A-7844-4CE8-B4D0-EE4238CC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50</a:t>
            </a:r>
          </a:p>
        </p:txBody>
      </p:sp>
      <p:sp>
        <p:nvSpPr>
          <p:cNvPr id="24" name="sensitivity-3-1">
            <a:extLst xmlns:a="http://schemas.openxmlformats.org/drawingml/2006/main">
              <a:ext uri="{FF2B5EF4-FFF2-40B4-BE49-F238E27FC236}">
                <a16:creationId xmlns:a16="http://schemas.microsoft.com/office/drawing/2014/main" id="{0DF2A57C-753F-492E-8680-F4350954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₹1.5Cr</a:t>
            </a:r>
          </a:p>
        </p:txBody>
      </p:sp>
      <p:sp>
        <p:nvSpPr>
          <p:cNvPr id="25" name="sensitivity-3-2">
            <a:extLst xmlns:a="http://schemas.openxmlformats.org/drawingml/2006/main">
              <a:ext uri="{FF2B5EF4-FFF2-40B4-BE49-F238E27FC236}">
                <a16:creationId xmlns:a16="http://schemas.microsoft.com/office/drawing/2014/main" id="{B1AD8284-5A39-45D2-AED4-5E26E5BD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₹3Cr</a:t>
            </a:r>
          </a:p>
        </p:txBody>
      </p:sp>
      <p:sp>
        <p:nvSpPr>
          <p:cNvPr id="26" name="sensitivity-3-3">
            <a:extLst xmlns:a="http://schemas.openxmlformats.org/drawingml/2006/main">
              <a:ext uri="{FF2B5EF4-FFF2-40B4-BE49-F238E27FC236}">
                <a16:creationId xmlns:a16="http://schemas.microsoft.com/office/drawing/2014/main" id="{55C495F4-57BD-4FC0-99BB-110C3C6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0" rIns="9525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₹6Cr</a:t>
            </a:r>
          </a:p>
        </p:txBody>
      </p:sp>
      <p:sp>
        <p:nvSpPr>
          <p:cNvPr id="27" name="sensitivity-divider">
            <a:extLst xmlns:a="http://schemas.openxmlformats.org/drawingml/2006/main">
              <a:ext uri="{FF2B5EF4-FFF2-40B4-BE49-F238E27FC236}">
                <a16:creationId xmlns:a16="http://schemas.microsoft.com/office/drawing/2014/main" id="{10AADC35-C4AF-4875-A978-F402207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240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28" name="sensitivity-gates">
            <a:extLst xmlns:a="http://schemas.openxmlformats.org/drawingml/2006/main">
              <a:ext uri="{FF2B5EF4-FFF2-40B4-BE49-F238E27FC236}">
                <a16:creationId xmlns:a16="http://schemas.microsoft.com/office/drawing/2014/main" id="{63EBEF9A-9F73-4A05-8A82-B1653B43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09750"/>
            <a:ext cx="400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Gates · buyer · bundling · legal · paid test · support economics</a:t>
            </a:r>
          </a:p>
        </p:txBody>
      </p:sp>
      <p:sp>
        <p:nvSpPr>
          <p:cNvPr id="29" name="sensitivity-disclaimer">
            <a:extLst xmlns:a="http://schemas.openxmlformats.org/drawingml/2006/main">
              <a:ext uri="{FF2B5EF4-FFF2-40B4-BE49-F238E27FC236}">
                <a16:creationId xmlns:a16="http://schemas.microsoft.com/office/drawing/2014/main" id="{9934691C-A3F8-4788-B71B-73ED728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005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96491A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96491A"/>
                </a:solidFill>
                <a:latin typeface="Georgia"/>
                <a:ea typeface="Georgia"/>
                <a:cs typeface="Georgia"/>
              </a:rPr>
              <a:t>Not TAM, forecast or willingness-to-pay evidence.</a:t>
            </a:r>
          </a:p>
        </p:txBody>
      </p:sp>
    </p:spTree>
    <p:extLst>
      <p:ext uri="{BB962C8B-B14F-4D97-AF65-F5344CB8AC3E}">
        <p14:creationId xmlns:p14="http://schemas.microsoft.com/office/powerpoint/2010/main" val="775522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ED6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-9">
            <a:extLst xmlns:a="http://schemas.openxmlformats.org/drawingml/2006/main">
              <a:ext uri="{FF2B5EF4-FFF2-40B4-BE49-F238E27FC236}">
                <a16:creationId xmlns:a16="http://schemas.microsoft.com/office/drawing/2014/main" id="{E36B6259-0D2B-4604-B5B4-FDD8C8C1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BE7F8EE8-3B3B-49C6-8E57-5A00DF89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Equal contribution means equal accountability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47F58E57-CF83-424F-8067-6EB0F8F0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A1F44"/>
            </a:solidFill>
            <a:prstDash val="solid"/>
          </a:ln>
        </p:spPr>
      </p:sp>
      <p:sp>
        <p:nvSpPr>
          <p:cNvPr id="4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087D95ED-2961-462C-A688-70CB3C20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25B53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AEC50CD-493D-4746-B7CB-80877A6F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0A1F44"/>
                </a:solidFill>
                <a:latin typeface="Courier New"/>
                <a:ea typeface="Courier New"/>
                <a:cs typeface="Courier New"/>
              </a:rPr>
              <a:t>09 / 10</a:t>
            </a:r>
          </a:p>
        </p:txBody>
      </p:sp>
      <p:sp>
        <p:nvSpPr>
          <p:cNvPr id="6" name="ownership-divider">
            <a:extLst xmlns:a="http://schemas.openxmlformats.org/drawingml/2006/main">
              <a:ext uri="{FF2B5EF4-FFF2-40B4-BE49-F238E27FC236}">
                <a16:creationId xmlns:a16="http://schemas.microsoft.com/office/drawing/2014/main" id="{CB821A66-D7EA-4842-8EE5-2A7429FE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0" cy="3257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7" name="ownership-ayush-label">
            <a:extLst xmlns:a="http://schemas.openxmlformats.org/drawingml/2006/main">
              <a:ext uri="{FF2B5EF4-FFF2-40B4-BE49-F238E27FC236}">
                <a16:creationId xmlns:a16="http://schemas.microsoft.com/office/drawing/2014/main" id="{06BCE376-6265-4762-BF39-79C19EC2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AYUSH TIWARY</a:t>
            </a:r>
          </a:p>
        </p:txBody>
      </p:sp>
      <p:sp>
        <p:nvSpPr>
          <p:cNvPr id="8" name="ownership-ayush-copy">
            <a:extLst xmlns:a="http://schemas.openxmlformats.org/drawingml/2006/main">
              <a:ext uri="{FF2B5EF4-FFF2-40B4-BE49-F238E27FC236}">
                <a16:creationId xmlns:a16="http://schemas.microsoft.com/office/drawing/2014/main" id="{77ABF51A-3FFA-4505-B0A8-9EE9A736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Engineering, integration, test evidence and packaging.</a:t>
            </a:r>
          </a:p>
        </p:txBody>
      </p:sp>
      <p:sp>
        <p:nvSpPr>
          <p:cNvPr id="9" name="ownership-finance-label">
            <a:extLst xmlns:a="http://schemas.openxmlformats.org/drawingml/2006/main">
              <a:ext uri="{FF2B5EF4-FFF2-40B4-BE49-F238E27FC236}">
                <a16:creationId xmlns:a16="http://schemas.microsoft.com/office/drawing/2014/main" id="{900712E5-0DA4-4437-A9C7-523A551F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FINANCE &amp; BUSINESS ANALYSIS OWNER</a:t>
            </a:r>
          </a:p>
        </p:txBody>
      </p:sp>
      <p:sp>
        <p:nvSpPr>
          <p:cNvPr id="10" name="ownership-finance-copy">
            <a:extLst xmlns:a="http://schemas.openxmlformats.org/drawingml/2006/main">
              <a:ext uri="{FF2B5EF4-FFF2-40B4-BE49-F238E27FC236}">
                <a16:creationId xmlns:a16="http://schemas.microsoft.com/office/drawing/2014/main" id="{296793A2-3B4E-48DB-9057-2A781B6B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0A1F44"/>
                </a:solidFill>
                <a:latin typeface="Georgia"/>
                <a:ea typeface="Georgia"/>
                <a:cs typeface="Georgia"/>
              </a:rPr>
              <a:t>Case consistency, buyer hypotheses, pricing research, workflow QA, pitch and demo contribution.</a:t>
            </a:r>
          </a:p>
        </p:txBody>
      </p:sp>
      <p:sp>
        <p:nvSpPr>
          <p:cNvPr id="11" name="ownership-gate-band">
            <a:extLst xmlns:a="http://schemas.openxmlformats.org/drawingml/2006/main">
              <a:ext uri="{FF2B5EF4-FFF2-40B4-BE49-F238E27FC236}">
                <a16:creationId xmlns:a16="http://schemas.microsoft.com/office/drawing/2014/main" id="{F8AE210E-05F8-4445-B8FA-8165B1A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F44"/>
          </a:solidFill>
          <a:ln xmlns:a="http://schemas.openxmlformats.org/drawingml/2006/main" w="0">
            <a:solidFill>
              <a:srgbClr val="0A1F44"/>
            </a:solidFill>
            <a:prstDash val="solid"/>
          </a:ln>
        </p:spPr>
      </p:sp>
      <p:sp>
        <p:nvSpPr>
          <p:cNvPr id="12" name="ownership-gate">
            <a:extLst xmlns:a="http://schemas.openxmlformats.org/drawingml/2006/main">
              <a:ext uri="{FF2B5EF4-FFF2-40B4-BE49-F238E27FC236}">
                <a16:creationId xmlns:a16="http://schemas.microsoft.com/office/drawing/2014/main" id="{A703625D-93BF-4763-B9AF-2E2E7002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3EDE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3EDE0"/>
                </a:solidFill>
                <a:latin typeface="Arial"/>
                <a:ea typeface="Arial"/>
                <a:cs typeface="Arial"/>
              </a:rPr>
              <a:t>Proposed contributor · pending written acceptance and public attribution.</a:t>
            </a:r>
          </a:p>
        </p:txBody>
      </p:sp>
    </p:spTree>
    <p:extLst>
      <p:ext uri="{BB962C8B-B14F-4D97-AF65-F5344CB8AC3E}">
        <p14:creationId xmlns:p14="http://schemas.microsoft.com/office/powerpoint/2010/main" val="2090938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F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10">
            <a:extLst xmlns:a="http://schemas.openxmlformats.org/drawingml/2006/main">
              <a:ext uri="{FF2B5EF4-FFF2-40B4-BE49-F238E27FC236}">
                <a16:creationId xmlns:a16="http://schemas.microsoft.com/office/drawing/2014/main" id="{BAE05195-1FF2-484D-845D-A826627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KRISEVA  /  ATTEST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A4F8C37-0A3D-4610-A4E0-98D581A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Use eight weeks to lock the wedge, or reject it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743ED46B-7E11-4D3F-9734-035366EB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3EDE0"/>
            </a:solidFill>
            <a:prstDash val="solid"/>
          </a:ln>
        </p:spPr>
      </p:sp>
      <p:sp>
        <p:nvSpPr>
          <p:cNvPr id="4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B3EA98DF-D96D-4284-A5E0-2C49C785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SOURCES IN SPEAKER NOTES · RESEARCH-STAGE PROTOTYPE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BB4F5FAA-9F11-4242-92EB-949311C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F3EDE0"/>
                </a:solidFill>
                <a:latin typeface="Courier New"/>
                <a:ea typeface="Courier New"/>
                <a:cs typeface="Courier New"/>
              </a:rPr>
              <a:t>10 / 10</a:t>
            </a:r>
          </a:p>
        </p:txBody>
      </p:sp>
      <p:sp>
        <p:nvSpPr>
          <p:cNvPr id="6" name="ask-spine">
            <a:extLst xmlns:a="http://schemas.openxmlformats.org/drawingml/2006/main">
              <a:ext uri="{FF2B5EF4-FFF2-40B4-BE49-F238E27FC236}">
                <a16:creationId xmlns:a16="http://schemas.microsoft.com/office/drawing/2014/main" id="{0C19BF06-EEB4-480A-8B8A-9AEF4E2A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7229"/>
            </a:solidFill>
            <a:prstDash val="solid"/>
          </a:ln>
        </p:spPr>
      </p:sp>
      <p:sp>
        <p:nvSpPr>
          <p:cNvPr id="7" name="ask-access-label">
            <a:extLst xmlns:a="http://schemas.openxmlformats.org/drawingml/2006/main">
              <a:ext uri="{FF2B5EF4-FFF2-40B4-BE49-F238E27FC236}">
                <a16:creationId xmlns:a16="http://schemas.microsoft.com/office/drawing/2014/main" id="{5371E774-986F-4EF1-8834-34902E0B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ACCESS</a:t>
            </a:r>
          </a:p>
        </p:txBody>
      </p:sp>
      <p:sp>
        <p:nvSpPr>
          <p:cNvPr id="8" name="ask-access-copy">
            <a:extLst xmlns:a="http://schemas.openxmlformats.org/drawingml/2006/main">
              <a:ext uri="{FF2B5EF4-FFF2-40B4-BE49-F238E27FC236}">
                <a16:creationId xmlns:a16="http://schemas.microsoft.com/office/drawing/2014/main" id="{B3E819DF-0928-4049-B48A-5AE8D6B7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000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240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2 FME officers + 2 administrators + 1 independent compliance provider</a:t>
            </a:r>
          </a:p>
        </p:txBody>
      </p:sp>
      <p:sp>
        <p:nvSpPr>
          <p:cNvPr id="9" name="ask-falsify">
            <a:extLst xmlns:a="http://schemas.openxmlformats.org/drawingml/2006/main">
              <a:ext uri="{FF2B5EF4-FFF2-40B4-BE49-F238E27FC236}">
                <a16:creationId xmlns:a16="http://schemas.microsoft.com/office/drawing/2014/main" id="{9ABFAB83-C815-4CA9-8636-DCD17FD3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Help us falsify quickly.</a:t>
            </a:r>
          </a:p>
        </p:txBody>
      </p:sp>
      <p:sp>
        <p:nvSpPr>
          <p:cNvPr id="10" name="ask-challenge-label">
            <a:extLst xmlns:a="http://schemas.openxmlformats.org/drawingml/2006/main">
              <a:ext uri="{FF2B5EF4-FFF2-40B4-BE49-F238E27FC236}">
                <a16:creationId xmlns:a16="http://schemas.microsoft.com/office/drawing/2014/main" id="{EBF7626E-8D2E-4783-B58D-D9858C1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CHALLENGE</a:t>
            </a:r>
          </a:p>
        </p:txBody>
      </p:sp>
      <p:sp>
        <p:nvSpPr>
          <p:cNvPr id="11" name="ask-challenge-copy">
            <a:extLst xmlns:a="http://schemas.openxmlformats.org/drawingml/2006/main">
              <a:ext uri="{FF2B5EF4-FFF2-40B4-BE49-F238E27FC236}">
                <a16:creationId xmlns:a16="http://schemas.microsoft.com/office/drawing/2014/main" id="{D66DA43E-63C6-4567-B472-000AF340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1455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3EDE0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F3EDE0"/>
                </a:solidFill>
                <a:latin typeface="Georgia"/>
                <a:ea typeface="Georgia"/>
                <a:cs typeface="Georgia"/>
              </a:rPr>
              <a:t>Is upstream evidence work outside DRR or bundled services?</a:t>
            </a:r>
          </a:p>
        </p:txBody>
      </p:sp>
      <p:sp>
        <p:nvSpPr>
          <p:cNvPr id="12" name="ask-test-label">
            <a:extLst xmlns:a="http://schemas.openxmlformats.org/drawingml/2006/main">
              <a:ext uri="{FF2B5EF4-FFF2-40B4-BE49-F238E27FC236}">
                <a16:creationId xmlns:a16="http://schemas.microsoft.com/office/drawing/2014/main" id="{D8C15BE1-C25D-4DA8-A40E-E0750B6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TEST</a:t>
            </a:r>
          </a:p>
        </p:txBody>
      </p:sp>
      <p:sp>
        <p:nvSpPr>
          <p:cNvPr id="13" name="ask-test-copy">
            <a:extLst xmlns:a="http://schemas.openxmlformats.org/drawingml/2006/main">
              <a:ext uri="{FF2B5EF4-FFF2-40B4-BE49-F238E27FC236}">
                <a16:creationId xmlns:a16="http://schemas.microsoft.com/office/drawing/2014/main" id="{11BDFBA6-217D-4362-BAA4-55C98D02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3EDE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3EDE0"/>
                </a:solidFill>
                <a:latin typeface="Arial"/>
                <a:ea typeface="Arial"/>
                <a:cs typeface="Arial"/>
              </a:rPr>
              <a:t>One controlled synthetic workflow only if discovery survives</a:t>
            </a:r>
          </a:p>
        </p:txBody>
      </p:sp>
      <p:sp>
        <p:nvSpPr>
          <p:cNvPr id="14" name="ask-decide-label">
            <a:extLst xmlns:a="http://schemas.openxmlformats.org/drawingml/2006/main">
              <a:ext uri="{FF2B5EF4-FFF2-40B4-BE49-F238E27FC236}">
                <a16:creationId xmlns:a16="http://schemas.microsoft.com/office/drawing/2014/main" id="{00A62B7D-CF16-4B44-92DF-8A53887F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 i="0">
                <a:solidFill>
                  <a:srgbClr val="A87229"/>
                </a:solidFill>
                <a:latin typeface="Courier New"/>
                <a:ea typeface="Courier New"/>
                <a:cs typeface="Courier New"/>
              </a:rPr>
              <a:t>DECIDE</a:t>
            </a:r>
          </a:p>
        </p:txBody>
      </p:sp>
      <p:sp>
        <p:nvSpPr>
          <p:cNvPr id="15" name="ask-decide-copy">
            <a:extLst xmlns:a="http://schemas.openxmlformats.org/drawingml/2006/main">
              <a:ext uri="{FF2B5EF4-FFF2-40B4-BE49-F238E27FC236}">
                <a16:creationId xmlns:a16="http://schemas.microsoft.com/office/drawing/2014/main" id="{C5892CDA-A4FD-4CB7-812A-BACE8F1D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A87229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A87229"/>
                </a:solidFill>
                <a:latin typeface="Georgia"/>
                <a:ea typeface="Georgia"/>
                <a:cs typeface="Georgia"/>
              </a:rPr>
              <a:t>Lock or reject by week 8</a:t>
            </a:r>
          </a:p>
        </p:txBody>
      </p:sp>
    </p:spTree>
    <p:extLst>
      <p:ext uri="{BB962C8B-B14F-4D97-AF65-F5344CB8AC3E}">
        <p14:creationId xmlns:p14="http://schemas.microsoft.com/office/powerpoint/2010/main" val="1309001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2026-08-12T17:33:14.2890000Z</dcterms:created>
  <dcterms:modified xsi:type="dcterms:W3CDTF">2026-08-12T17:33:14.2890000Z</dcterms:modified>
</coreProperties>
</file>