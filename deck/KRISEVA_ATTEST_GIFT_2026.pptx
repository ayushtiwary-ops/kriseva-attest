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4ab96ee423428f" /><Relationship Type="http://schemas.openxmlformats.org/officeDocument/2006/relationships/extended-properties" Target="/docProps/app.xml" Id="R3e6beef7253b4ba1" /><Relationship Type="http://schemas.openxmlformats.org/officeDocument/2006/relationships/officeDocument" Target="/ppt/presentation.xml" Id="R302fc28d498244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41bb2eca3e4204"/>
  </p:sldMasterIdLst>
  <p:notesMasterIdLst>
    <p:notesMasterId xmlns:r="http://schemas.openxmlformats.org/officeDocument/2006/relationships" r:id="Rf55acdc3a1c54409"/>
  </p:notesMasterIdLst>
  <p:sldIdLst>
    <p:sldId xmlns:r="http://schemas.openxmlformats.org/officeDocument/2006/relationships" id="256" r:id="R6aa22112ae424434"/>
    <p:sldId xmlns:r="http://schemas.openxmlformats.org/officeDocument/2006/relationships" id="257" r:id="R7eb1c9f10cd341b0"/>
    <p:sldId xmlns:r="http://schemas.openxmlformats.org/officeDocument/2006/relationships" id="258" r:id="R7d32c8a5b6484b21"/>
    <p:sldId xmlns:r="http://schemas.openxmlformats.org/officeDocument/2006/relationships" id="259" r:id="Rd6f3bdd642044fde"/>
    <p:sldId xmlns:r="http://schemas.openxmlformats.org/officeDocument/2006/relationships" id="260" r:id="R588cbf08494443c0"/>
    <p:sldId xmlns:r="http://schemas.openxmlformats.org/officeDocument/2006/relationships" id="261" r:id="Rea90a5687dc3446d"/>
    <p:sldId xmlns:r="http://schemas.openxmlformats.org/officeDocument/2006/relationships" id="262" r:id="R73d508ac850f43bc"/>
    <p:sldId xmlns:r="http://schemas.openxmlformats.org/officeDocument/2006/relationships" id="263" r:id="Rb56e0cfadbb04c85"/>
    <p:sldId xmlns:r="http://schemas.openxmlformats.org/officeDocument/2006/relationships" id="264" r:id="R413eb121d91a4ae7"/>
    <p:sldId xmlns:r="http://schemas.openxmlformats.org/officeDocument/2006/relationships" id="265" r:id="Rb5fe6f79a6194d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c3000dd890493d" /><Relationship Type="http://schemas.openxmlformats.org/officeDocument/2006/relationships/slideMaster" Target="/ppt/slideMasters/slideMaster1.xml" Id="R0041bb2eca3e4204" /><Relationship Type="http://schemas.openxmlformats.org/officeDocument/2006/relationships/notesMaster" Target="/ppt/notesMasters/notesMaster1.xml" Id="Rf55acdc3a1c54409" /><Relationship Type="http://schemas.openxmlformats.org/officeDocument/2006/relationships/presProps" Target="/ppt/presProps.xml" Id="Rfb0c8ac116ae4d23" /><Relationship Type="http://schemas.openxmlformats.org/officeDocument/2006/relationships/tableStyles" Target="/ppt/tableStyles.xml" Id="R4538940bded941ae" /><Relationship Type="http://schemas.openxmlformats.org/officeDocument/2006/relationships/slide" Target="/ppt/slides/slide1.xml" Id="R6aa22112ae424434" /><Relationship Type="http://schemas.openxmlformats.org/officeDocument/2006/relationships/slide" Target="/ppt/slides/slide2.xml" Id="R7eb1c9f10cd341b0" /><Relationship Type="http://schemas.openxmlformats.org/officeDocument/2006/relationships/slide" Target="/ppt/slides/slide3.xml" Id="R7d32c8a5b6484b21" /><Relationship Type="http://schemas.openxmlformats.org/officeDocument/2006/relationships/slide" Target="/ppt/slides/slide4.xml" Id="Rd6f3bdd642044fde" /><Relationship Type="http://schemas.openxmlformats.org/officeDocument/2006/relationships/slide" Target="/ppt/slides/slide5.xml" Id="R588cbf08494443c0" /><Relationship Type="http://schemas.openxmlformats.org/officeDocument/2006/relationships/slide" Target="/ppt/slides/slide6.xml" Id="Rea90a5687dc3446d" /><Relationship Type="http://schemas.openxmlformats.org/officeDocument/2006/relationships/slide" Target="/ppt/slides/slide7.xml" Id="R73d508ac850f43bc" /><Relationship Type="http://schemas.openxmlformats.org/officeDocument/2006/relationships/slide" Target="/ppt/slides/slide8.xml" Id="Rb56e0cfadbb04c85" /><Relationship Type="http://schemas.openxmlformats.org/officeDocument/2006/relationships/slide" Target="/ppt/slides/slide9.xml" Id="R413eb121d91a4ae7" /><Relationship Type="http://schemas.openxmlformats.org/officeDocument/2006/relationships/slide" Target="/ppt/slides/slide10.xml" Id="Rb5fe6f79a6194d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f648988c0140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54272a0b1241fc" /><Relationship Type="http://schemas.openxmlformats.org/officeDocument/2006/relationships/notesMaster" Target="/ppt/notesMasters/notesMaster1.xml" Id="R171f333d18ce48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9c7baac7844337" /><Relationship Type="http://schemas.openxmlformats.org/officeDocument/2006/relationships/notesMaster" Target="/ppt/notesMasters/notesMaster1.xml" Id="R2ba23d58366d4e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7fc82c96a141d2" /><Relationship Type="http://schemas.openxmlformats.org/officeDocument/2006/relationships/notesMaster" Target="/ppt/notesMasters/notesMaster1.xml" Id="R1be2b1a05a824c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5bc911ad8f4d48" /><Relationship Type="http://schemas.openxmlformats.org/officeDocument/2006/relationships/notesMaster" Target="/ppt/notesMasters/notesMaster1.xml" Id="Rdc09ccaa0b594a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57ef3786f74c1e" /><Relationship Type="http://schemas.openxmlformats.org/officeDocument/2006/relationships/notesMaster" Target="/ppt/notesMasters/notesMaster1.xml" Id="R620d51d737e84c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22dff86ddb4ee9" /><Relationship Type="http://schemas.openxmlformats.org/officeDocument/2006/relationships/notesMaster" Target="/ppt/notesMasters/notesMaster1.xml" Id="R8daf61f421874a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e5229da1644e54" /><Relationship Type="http://schemas.openxmlformats.org/officeDocument/2006/relationships/notesMaster" Target="/ppt/notesMasters/notesMaster1.xml" Id="R3810f776f5f44c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a15f9ebce64174" /><Relationship Type="http://schemas.openxmlformats.org/officeDocument/2006/relationships/notesMaster" Target="/ppt/notesMasters/notesMaster1.xml" Id="R40d948ebc72849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2ec3aad19642e8" /><Relationship Type="http://schemas.openxmlformats.org/officeDocument/2006/relationships/notesMaster" Target="/ppt/notesMasters/notesMaster1.xml" Id="Rf18e9ab3dc3948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8c9f9885794569" /><Relationship Type="http://schemas.openxmlformats.org/officeDocument/2006/relationships/notesMaster" Target="/ppt/notesMasters/notesMaster1.xml" Id="Rc575cb7b40ee43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Superseded cover framing, retained for audit only (replaced 2026-08-13):</a:t>
            </a:r>
          </a:p>
          <a:p xmlns:a="http://schemas.openxmlformats.org/drawingml/2006/main">
            <a:r>
              <a:t>"Application product lock. Company wedge not locked."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- repo:docs/PRODUCT_DECISION.md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workspace:10_GIFT_CITY/00_CONTROL/STATUS.md</a:t>
            </a:r>
          </a:p>
          <a:p xmlns:a="http://schemas.openxmlformats.org/drawingml/2006/main">
            <a:r>
              <a:t>- workspace:10_GIFT_CITY/00_CONTROL/DECISION_LOG.md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https://www.ifsca.gov.in/Document/Tender/concept-note_drr-consultation_2003202520032025073433.pdf</a:t>
            </a:r>
          </a:p>
          <a:p xmlns:a="http://schemas.openxmlformats.org/drawingml/2006/main">
            <a:r>
              <a:t>- https://www.ifsca.gov.in/CommonDirect/ViewFile?fileName=Award_of_Contract_under_RFPs_for_DRR_Solution_and_ERP_System_20260309_0153.pdf&amp;id=d575554ec59b09e7fde503d3a82787c7</a:t>
            </a:r>
          </a:p>
          <a:p xmlns:a="http://schemas.openxmlformats.org/drawingml/2006/main">
            <a:r>
              <a:t>- https://bsmedia.business-standard.com/_media/bs/data/announcements/bse/29012026/13c21166-8138-4630-a8b3-4f6b2202472e.pdf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repo:data/synthetic-case.json</a:t>
            </a:r>
          </a:p>
          <a:p xmlns:a="http://schemas.openxmlformats.org/drawingml/2006/main">
            <a:r>
              <a:t>- repo:src/case-engine.js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- repo:src/case-engine.js</a:t>
            </a:r>
          </a:p>
          <a:p xmlns:a="http://schemas.openxmlformats.org/drawingml/2006/main">
            <a:r>
              <a:t>- repo:src/manifest.js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repo:prototype/app.js</a:t>
            </a:r>
          </a:p>
          <a:p xmlns:a="http://schemas.openxmlformats.org/drawingml/2006/main">
            <a:r>
              <a:t>- repo:artifacts/prototype-trace-1440.png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repo:artifacts/prototype-conflict-1440.png</a:t>
            </a:r>
          </a:p>
          <a:p xmlns:a="http://schemas.openxmlformats.org/drawingml/2006/main">
            <a:r>
              <a:t>- repo:artifacts/prototype-receipt-1440.png</a:t>
            </a:r>
          </a:p>
          <a:p xmlns:a="http://schemas.openxmlformats.org/drawingml/2006/main">
            <a:r>
              <a:t>- repo:.superpowers/sdd/2026-08-12-attest-submission-system/task-5-report.md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repo:docs/BUSINESS_VIABILITY.md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repo:docs/CONTRIBUTOR_SCOPE.md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https://www.giftifih.in/young-builders-program</a:t>
            </a:r>
          </a:p>
          <a:p xmlns:a="http://schemas.openxmlformats.org/drawingml/2006/main">
            <a:r>
              <a:t>- repo:docs/MEETING_BRIEF_2026-08-12.md</a:t>
            </a:r>
          </a:p>
          <a:p xmlns:a="http://schemas.openxmlformats.org/drawingml/2006/main">
            <a:r>
              <a:t>- repo:docs/PRODUCT_DECISION.md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e35a0abed74a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19e349b83346b7" /><Relationship Type="http://schemas.openxmlformats.org/officeDocument/2006/relationships/slideLayout" Target="/ppt/slideLayouts/slideLayout1.xml" Id="Rc778e369252743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78e369252743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03d25ba674bf7" /><Relationship Type="http://schemas.openxmlformats.org/officeDocument/2006/relationships/notesSlide" Target="/ppt/notesSlides/notesSlide1.xml" Id="R2bfdc823944b4a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3d9222bf14914" /><Relationship Type="http://schemas.openxmlformats.org/officeDocument/2006/relationships/notesSlide" Target="/ppt/notesSlides/notesSlide2.xml" Id="R397b9a3ecbc94c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70d56ae344070" /><Relationship Type="http://schemas.openxmlformats.org/officeDocument/2006/relationships/notesSlide" Target="/ppt/notesSlides/notesSlide3.xml" Id="R79e0c7cf00ed4d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d1e264bfb4857" /><Relationship Type="http://schemas.openxmlformats.org/officeDocument/2006/relationships/notesSlide" Target="/ppt/notesSlides/notesSlide4.xml" Id="Ra89644d84e1841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5cdfe372f42a3" /><Relationship Type="http://schemas.openxmlformats.org/officeDocument/2006/relationships/notesSlide" Target="/ppt/notesSlides/notesSlide5.xml" Id="R9c14c526df7648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471b4a49a4b6f" /><Relationship Type="http://schemas.openxmlformats.org/officeDocument/2006/relationships/notesSlide" Target="/ppt/notesSlides/notesSlide6.xml" Id="Rfd7aa23de8d541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16550c0b04c22" /><Relationship Type="http://schemas.openxmlformats.org/officeDocument/2006/relationships/image" Target="/ppt/media/image.png" Id="R9c51eb1a70064336" /><Relationship Type="http://schemas.openxmlformats.org/officeDocument/2006/relationships/image" Target="/ppt/media/image2.png" Id="R99d189f6ad9e47d2" /><Relationship Type="http://schemas.openxmlformats.org/officeDocument/2006/relationships/notesSlide" Target="/ppt/notesSlides/notesSlide7.xml" Id="R59f6966870454c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5c49f504c4248" /><Relationship Type="http://schemas.openxmlformats.org/officeDocument/2006/relationships/notesSlide" Target="/ppt/notesSlides/notesSlide8.xml" Id="R4bbeaa9af2f541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c3777572e40a2" /><Relationship Type="http://schemas.openxmlformats.org/officeDocument/2006/relationships/notesSlide" Target="/ppt/notesSlides/notesSlide9.xml" Id="Rb6a21a6b9e4243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1302d7adb4327" /><Relationship Type="http://schemas.openxmlformats.org/officeDocument/2006/relationships/notesSlide" Target="/ppt/notesSlides/notesSlide10.xml" Id="Rc6897f4a51fe40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navy-field">
            <a:extLst xmlns:a="http://schemas.openxmlformats.org/drawingml/2006/main">
              <a:ext uri="{FF2B5EF4-FFF2-40B4-BE49-F238E27FC236}">
                <a16:creationId xmlns:a16="http://schemas.microsoft.com/office/drawing/2014/main" id="{1E03D334-A29E-4FD2-AF63-69790373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0"/>
            <a:ext cx="2590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2" name="cover-brass-spine">
            <a:extLst xmlns:a="http://schemas.openxmlformats.org/drawingml/2006/main">
              <a:ext uri="{FF2B5EF4-FFF2-40B4-BE49-F238E27FC236}">
                <a16:creationId xmlns:a16="http://schemas.microsoft.com/office/drawing/2014/main" id="{EC5C5F2C-102B-491F-97A5-0C89648A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3" name="brand-1">
            <a:extLst xmlns:a="http://schemas.openxmlformats.org/drawingml/2006/main">
              <a:ext uri="{FF2B5EF4-FFF2-40B4-BE49-F238E27FC236}">
                <a16:creationId xmlns:a16="http://schemas.microsoft.com/office/drawing/2014/main" id="{5E1ACBFF-E6D2-4A9E-94F5-4C1AF883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0DF43EA-4B82-4AA4-9FF0-F08DAF72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809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57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KRISEVA ATTEST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5BBCCEE-0D4D-4D36-BB55-146594AE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695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An entity-side evidence-integrity and human-accountability layer for AI-assisted regulatory reporting in GIFT IFSC.</a:t>
            </a:r>
          </a:p>
        </p:txBody>
      </p:sp>
      <p:sp>
        <p:nvSpPr>
          <p:cNvPr id="6" name="cover-rule">
            <a:extLst xmlns:a="http://schemas.openxmlformats.org/drawingml/2006/main">
              <a:ext uri="{FF2B5EF4-FFF2-40B4-BE49-F238E27FC236}">
                <a16:creationId xmlns:a16="http://schemas.microsoft.com/office/drawing/2014/main" id="{8CDE2358-832C-452A-8C06-26CA1CC2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2430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cover-lock">
            <a:extLst xmlns:a="http://schemas.openxmlformats.org/drawingml/2006/main">
              <a:ext uri="{FF2B5EF4-FFF2-40B4-BE49-F238E27FC236}">
                <a16:creationId xmlns:a16="http://schemas.microsoft.com/office/drawing/2014/main" id="{9028EE72-A972-4B5C-AED5-E90DBA3B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This prototype is final for this application. Whether it becomes the company's product is deliberately still open.</a:t>
            </a:r>
          </a:p>
        </p:txBody>
      </p:sp>
      <p:sp>
        <p:nvSpPr>
          <p:cNvPr id="8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2D828A48-D693-4011-A710-42FCA668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Research-stage prototype · synthetic data · no filing · no regulator connection</a:t>
            </a:r>
          </a:p>
        </p:txBody>
      </p:sp>
      <p:sp>
        <p:nvSpPr>
          <p:cNvPr id="9" name="cover-number">
            <a:extLst xmlns:a="http://schemas.openxmlformats.org/drawingml/2006/main">
              <a:ext uri="{FF2B5EF4-FFF2-40B4-BE49-F238E27FC236}">
                <a16:creationId xmlns:a16="http://schemas.microsoft.com/office/drawing/2014/main" id="{A2644E8A-3AAF-4BBD-9BF2-1D0CCC80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62100"/>
            <a:ext cx="1809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810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cover-classification">
            <a:extLst xmlns:a="http://schemas.openxmlformats.org/drawingml/2006/main">
              <a:ext uri="{FF2B5EF4-FFF2-40B4-BE49-F238E27FC236}">
                <a16:creationId xmlns:a16="http://schemas.microsoft.com/office/drawing/2014/main" id="{2E35C270-BAB1-4B55-ACDA-A4A47E4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43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GIFT IFIH</a:t>
            </a:r>
          </a:p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YOUNG BUILDERS</a:t>
            </a:r>
          </a:p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2026</a:t>
            </a:r>
          </a:p>
        </p:txBody>
      </p:sp>
      <p:sp>
        <p:nvSpPr>
          <p:cNvPr id="11" name="cover-page">
            <a:extLst xmlns:a="http://schemas.openxmlformats.org/drawingml/2006/main">
              <a:ext uri="{FF2B5EF4-FFF2-40B4-BE49-F238E27FC236}">
                <a16:creationId xmlns:a16="http://schemas.microsoft.com/office/drawing/2014/main" id="{32CC0432-B234-4E27-9264-A0844FD1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90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APPLICATION EVIDENCE</a:t>
            </a:r>
          </a:p>
        </p:txBody>
      </p:sp>
      <p:sp>
        <p:nvSpPr>
          <p:cNvPr id="12" name="footer-cover-url">
            <a:extLst xmlns:a="http://schemas.openxmlformats.org/drawingml/2006/main">
              <a:ext uri="{FF2B5EF4-FFF2-40B4-BE49-F238E27FC236}">
                <a16:creationId xmlns:a16="http://schemas.microsoft.com/office/drawing/2014/main" id="{B3D5599F-9E90-4FA1-9C73-97448D28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6286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ayushtiwary-ops.github.io</a:t>
            </a:r>
          </a:p>
          <a:p xmlns:a="http://schemas.openxmlformats.org/drawingml/2006/main">
            <a:pPr algn="l">
              <a:def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/kriseva-attest</a:t>
            </a:r>
          </a:p>
        </p:txBody>
      </p:sp>
    </p:spTree>
    <p:extLst>
      <p:ext uri="{BB962C8B-B14F-4D97-AF65-F5344CB8AC3E}">
        <p14:creationId xmlns:p14="http://schemas.microsoft.com/office/powerpoint/2010/main" val="7334234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2">
            <a:extLst xmlns:a="http://schemas.openxmlformats.org/drawingml/2006/main">
              <a:ext uri="{FF2B5EF4-FFF2-40B4-BE49-F238E27FC236}">
                <a16:creationId xmlns:a16="http://schemas.microsoft.com/office/drawing/2014/main" id="{17ECFF49-4459-4C01-AE30-44F3298D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BF67A2D-F421-4F1C-B8C0-3015C7F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A human still owns the source question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A82B5EC8-01BA-4195-963D-F414827B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9FA3CA59-73AC-4593-AAC3-49EBC92C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3863613-6438-4AE2-ABA0-E568EF44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6" name="accountability-divider">
            <a:extLst xmlns:a="http://schemas.openxmlformats.org/drawingml/2006/main">
              <a:ext uri="{FF2B5EF4-FFF2-40B4-BE49-F238E27FC236}">
                <a16:creationId xmlns:a16="http://schemas.microsoft.com/office/drawing/2014/main" id="{223FE0C5-4164-43D6-BEBE-550058F3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2875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accountability-label">
            <a:extLst xmlns:a="http://schemas.openxmlformats.org/drawingml/2006/main">
              <a:ext uri="{FF2B5EF4-FFF2-40B4-BE49-F238E27FC236}">
                <a16:creationId xmlns:a16="http://schemas.microsoft.com/office/drawing/2014/main" id="{DB4F07DC-441D-4D82-AE01-06350A58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ACCOUNTABILITY QUESTION</a:t>
            </a:r>
          </a:p>
        </p:txBody>
      </p:sp>
      <p:sp>
        <p:nvSpPr>
          <p:cNvPr id="8" name="accountability-structured">
            <a:extLst xmlns:a="http://schemas.openxmlformats.org/drawingml/2006/main">
              <a:ext uri="{FF2B5EF4-FFF2-40B4-BE49-F238E27FC236}">
                <a16:creationId xmlns:a16="http://schemas.microsoft.com/office/drawing/2014/main" id="{83C2B51C-F674-4A70-9CAA-04A074DD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Structured returns do not remove the source question.</a:t>
            </a:r>
          </a:p>
        </p:txBody>
      </p:sp>
      <p:sp>
        <p:nvSpPr>
          <p:cNvPr id="9" name="accountability-question">
            <a:extLst xmlns:a="http://schemas.openxmlformats.org/drawingml/2006/main">
              <a:ext uri="{FF2B5EF4-FFF2-40B4-BE49-F238E27FC236}">
                <a16:creationId xmlns:a16="http://schemas.microsoft.com/office/drawing/2014/main" id="{F668417F-8F29-4D89-B053-9326FEC7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524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Which source supports this reported field?</a:t>
            </a:r>
          </a:p>
        </p:txBody>
      </p:sp>
      <p:sp>
        <p:nvSpPr>
          <p:cNvPr id="10" name="footer-accountability-caption-1">
            <a:extLst xmlns:a="http://schemas.openxmlformats.org/drawingml/2006/main">
              <a:ext uri="{FF2B5EF4-FFF2-40B4-BE49-F238E27FC236}">
                <a16:creationId xmlns:a16="http://schemas.microsoft.com/office/drawing/2014/main" id="{997747FD-57FE-430D-B9A9-433F4387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383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STATEMENT</a:t>
            </a:r>
          </a:p>
        </p:txBody>
      </p:sp>
      <p:sp>
        <p:nvSpPr>
          <p:cNvPr id="11" name="accountability-source-rule-1">
            <a:extLst xmlns:a="http://schemas.openxmlformats.org/drawingml/2006/main">
              <a:ext uri="{FF2B5EF4-FFF2-40B4-BE49-F238E27FC236}">
                <a16:creationId xmlns:a16="http://schemas.microsoft.com/office/drawing/2014/main" id="{12602C2D-91AA-41D6-BEED-9A0C3FAD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2" name="footer-accountability-caption-2">
            <a:extLst xmlns:a="http://schemas.openxmlformats.org/drawingml/2006/main">
              <a:ext uri="{FF2B5EF4-FFF2-40B4-BE49-F238E27FC236}">
                <a16:creationId xmlns:a16="http://schemas.microsoft.com/office/drawing/2014/main" id="{A60D14DF-34E1-42F8-B59B-C3BB4C1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LEDGER</a:t>
            </a:r>
          </a:p>
        </p:txBody>
      </p:sp>
      <p:sp>
        <p:nvSpPr>
          <p:cNvPr id="13" name="accountability-source-rule-2">
            <a:extLst xmlns:a="http://schemas.openxmlformats.org/drawingml/2006/main">
              <a:ext uri="{FF2B5EF4-FFF2-40B4-BE49-F238E27FC236}">
                <a16:creationId xmlns:a16="http://schemas.microsoft.com/office/drawing/2014/main" id="{616B42C9-D545-4208-B658-32C19C1B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4" name="footer-accountability-caption-3">
            <a:extLst xmlns:a="http://schemas.openxmlformats.org/drawingml/2006/main">
              <a:ext uri="{FF2B5EF4-FFF2-40B4-BE49-F238E27FC236}">
                <a16:creationId xmlns:a16="http://schemas.microsoft.com/office/drawing/2014/main" id="{8AA5D57A-5452-445E-9794-CCC64394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956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SCHEDULE</a:t>
            </a:r>
          </a:p>
        </p:txBody>
      </p:sp>
      <p:sp>
        <p:nvSpPr>
          <p:cNvPr id="15" name="accountability-source-rule-3">
            <a:extLst xmlns:a="http://schemas.openxmlformats.org/drawingml/2006/main">
              <a:ext uri="{FF2B5EF4-FFF2-40B4-BE49-F238E27FC236}">
                <a16:creationId xmlns:a16="http://schemas.microsoft.com/office/drawing/2014/main" id="{6C27F3DF-AF85-4637-8174-D35084BA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6" name="accountability-evidence">
            <a:extLst xmlns:a="http://schemas.openxmlformats.org/drawingml/2006/main">
              <a:ext uri="{FF2B5EF4-FFF2-40B4-BE49-F238E27FC236}">
                <a16:creationId xmlns:a16="http://schemas.microsoft.com/office/drawing/2014/main" id="{DC9A9A74-B70A-4AA8-AE0A-A4185726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905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Statements, ledgers and schedules can disagree or leave evidence missing.</a:t>
            </a:r>
          </a:p>
        </p:txBody>
      </p:sp>
      <p:sp>
        <p:nvSpPr>
          <p:cNvPr id="17" name="accountability-unknowns">
            <a:extLst xmlns:a="http://schemas.openxmlformats.org/drawingml/2006/main">
              <a:ext uri="{FF2B5EF4-FFF2-40B4-BE49-F238E27FC236}">
                <a16:creationId xmlns:a16="http://schemas.microsoft.com/office/drawing/2014/main" id="{D9DC75F4-A829-430B-90B9-6FCB26AC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25B53"/>
                </a:solidFill>
                <a:latin typeface="Arial"/>
                <a:ea typeface="Arial"/>
                <a:cs typeface="Arial"/>
              </a:rPr>
              <a:t>The operator, buyer, frequency, pain and willingness to pay remain unvalidated.</a:t>
            </a:r>
          </a:p>
        </p:txBody>
      </p:sp>
    </p:spTree>
    <p:extLst>
      <p:ext uri="{BB962C8B-B14F-4D97-AF65-F5344CB8AC3E}">
        <p14:creationId xmlns:p14="http://schemas.microsoft.com/office/powerpoint/2010/main" val="1064207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rand-3">
            <a:extLst xmlns:a="http://schemas.openxmlformats.org/drawingml/2006/main">
              <a:ext uri="{FF2B5EF4-FFF2-40B4-BE49-F238E27FC236}">
                <a16:creationId xmlns:a16="http://schemas.microsoft.com/office/drawing/2014/main" id="{83205BBA-2AD4-4C0C-9269-1F7D40EE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49AE28FA-C5C4-49A1-9EAD-04CF0E8F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DRR targets submission; evidence starts upstream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2527A10-FC71-414E-811A-52F1D638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095B92E5-CBCD-4E0D-8591-E8BFC1E1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8AD04C8D-5292-448B-BFF2-A2B60E6A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sp>
        <p:nvSpPr>
          <p:cNvPr id="6" name="boundary-left">
            <a:extLst xmlns:a="http://schemas.openxmlformats.org/drawingml/2006/main">
              <a:ext uri="{FF2B5EF4-FFF2-40B4-BE49-F238E27FC236}">
                <a16:creationId xmlns:a16="http://schemas.microsoft.com/office/drawing/2014/main" id="{62681918-BC6A-4E03-BBF0-DED058E9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33500"/>
            <a:ext cx="6096000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7" name="boundary-spine">
            <a:extLst xmlns:a="http://schemas.openxmlformats.org/drawingml/2006/main">
              <a:ext uri="{FF2B5EF4-FFF2-40B4-BE49-F238E27FC236}">
                <a16:creationId xmlns:a16="http://schemas.microsoft.com/office/drawing/2014/main" id="{266A9D79-EAED-49F4-89F3-5E71FE15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33500"/>
            <a:ext cx="0" cy="501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8" name="boundary-drr">
            <a:extLst xmlns:a="http://schemas.openxmlformats.org/drawingml/2006/main">
              <a:ext uri="{FF2B5EF4-FFF2-40B4-BE49-F238E27FC236}">
                <a16:creationId xmlns:a16="http://schemas.microsoft.com/office/drawing/2014/main" id="{913F6CF4-248E-435B-ADCA-9087D0FC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DRR</a:t>
            </a:r>
          </a:p>
        </p:txBody>
      </p:sp>
      <p:sp>
        <p:nvSpPr>
          <p:cNvPr id="9" name="boundary-drr-copy">
            <a:extLst xmlns:a="http://schemas.openxmlformats.org/drawingml/2006/main">
              <a:ext uri="{FF2B5EF4-FFF2-40B4-BE49-F238E27FC236}">
                <a16:creationId xmlns:a16="http://schemas.microsoft.com/office/drawing/2014/main" id="{D4C32D96-E8A0-46AE-B167-9F0ECF88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DRR (IFSCA's Digital Regulatory Reporting platform, procured 2026): structured reporting channels, validation and submission infrastructure.</a:t>
            </a:r>
          </a:p>
        </p:txBody>
      </p:sp>
      <p:sp>
        <p:nvSpPr>
          <p:cNvPr id="10" name="boundary-attest">
            <a:extLst xmlns:a="http://schemas.openxmlformats.org/drawingml/2006/main">
              <a:ext uri="{FF2B5EF4-FFF2-40B4-BE49-F238E27FC236}">
                <a16:creationId xmlns:a16="http://schemas.microsoft.com/office/drawing/2014/main" id="{764E3AA1-CFB8-4E8A-8EE4-46E4861B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ATTEST</a:t>
            </a:r>
          </a:p>
        </p:txBody>
      </p:sp>
      <p:sp>
        <p:nvSpPr>
          <p:cNvPr id="11" name="boundary-attest-copy">
            <a:extLst xmlns:a="http://schemas.openxmlformats.org/drawingml/2006/main">
              <a:ext uri="{FF2B5EF4-FFF2-40B4-BE49-F238E27FC236}">
                <a16:creationId xmlns:a16="http://schemas.microsoft.com/office/drawing/2014/main" id="{B913B582-0638-4890-AEB0-62C8F601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813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2025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Provider-neutral source references, disagreement and human review</a:t>
            </a:r>
          </a:p>
        </p:txBody>
      </p:sp>
      <p:sp>
        <p:nvSpPr>
          <p:cNvPr id="12" name="boundary-limit">
            <a:extLst xmlns:a="http://schemas.openxmlformats.org/drawingml/2006/main">
              <a:ext uri="{FF2B5EF4-FFF2-40B4-BE49-F238E27FC236}">
                <a16:creationId xmlns:a16="http://schemas.microsoft.com/office/drawing/2014/main" id="{E9876D9B-F800-4EF2-99FE-5C36A6C3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96491A"/>
                </a:solidFill>
                <a:latin typeface="Arial"/>
                <a:ea typeface="Arial"/>
                <a:cs typeface="Arial"/>
              </a:rPr>
              <a:t>No filing. No DRR connection. No claimed gap.</a:t>
            </a:r>
          </a:p>
        </p:txBody>
      </p:sp>
      <p:sp>
        <p:nvSpPr>
          <p:cNvPr id="13" name="boundary-absence">
            <a:extLst xmlns:a="http://schemas.openxmlformats.org/drawingml/2006/main">
              <a:ext uri="{FF2B5EF4-FFF2-40B4-BE49-F238E27FC236}">
                <a16:creationId xmlns:a16="http://schemas.microsoft.com/office/drawing/2014/main" id="{B24DCD06-0E7F-4FB9-B529-270D5CDC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391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87229"/>
                </a:solidFill>
                <a:latin typeface="Arial"/>
                <a:ea typeface="Arial"/>
                <a:cs typeface="Arial"/>
              </a:rPr>
              <a:t>Public absence is not proof.</a:t>
            </a:r>
          </a:p>
        </p:txBody>
      </p:sp>
    </p:spTree>
    <p:extLst>
      <p:ext uri="{BB962C8B-B14F-4D97-AF65-F5344CB8AC3E}">
        <p14:creationId xmlns:p14="http://schemas.microsoft.com/office/powerpoint/2010/main" val="14609505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D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brand-4">
            <a:extLst xmlns:a="http://schemas.openxmlformats.org/drawingml/2006/main">
              <a:ext uri="{FF2B5EF4-FFF2-40B4-BE49-F238E27FC236}">
                <a16:creationId xmlns:a16="http://schemas.microsoft.com/office/drawing/2014/main" id="{450965DB-7940-4ABD-80EB-2EF41728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E5C8CCA8-A210-4CAD-9D89-122AB84D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One fictional case makes three evidence states visible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89EB567-2602-4835-892D-A124D97F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6389C735-8BB7-4447-92D7-484BAE4F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11854EDE-BCB4-400A-ABEF-930FA59B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6" name="case-entity">
            <a:extLst xmlns:a="http://schemas.openxmlformats.org/drawingml/2006/main">
              <a:ext uri="{FF2B5EF4-FFF2-40B4-BE49-F238E27FC236}">
                <a16:creationId xmlns:a16="http://schemas.microsoft.com/office/drawing/2014/main" id="{75099179-E8C4-463E-87CA-E23371C0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38300"/>
            <a:ext cx="3238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Meridian Horizon Fund I (Meridian Horizon Fund Management IFSC Pvt Ltd)</a:t>
            </a:r>
          </a:p>
        </p:txBody>
      </p:sp>
      <p:sp>
        <p:nvSpPr>
          <p:cNvPr id="7" name="case-period">
            <a:extLst xmlns:a="http://schemas.openxmlformats.org/drawingml/2006/main">
              <a:ext uri="{FF2B5EF4-FFF2-40B4-BE49-F238E27FC236}">
                <a16:creationId xmlns:a16="http://schemas.microsoft.com/office/drawing/2014/main" id="{CD3F8DC4-DD1B-469D-9581-69B34B11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F0E0B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0F0E0B"/>
                </a:solidFill>
                <a:latin typeface="Courier New"/>
                <a:ea typeface="Courier New"/>
                <a:cs typeface="Courier New"/>
              </a:rPr>
              <a:t>QE 30 Jun 2026</a:t>
            </a:r>
          </a:p>
        </p:txBody>
      </p:sp>
      <p:sp>
        <p:nvSpPr>
          <p:cNvPr id="8" name="case-marker">
            <a:extLst xmlns:a="http://schemas.openxmlformats.org/drawingml/2006/main">
              <a:ext uri="{FF2B5EF4-FFF2-40B4-BE49-F238E27FC236}">
                <a16:creationId xmlns:a16="http://schemas.microsoft.com/office/drawing/2014/main" id="{9A061E1B-EE83-4D42-A5CD-4DA6A346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FICTIONAL</a:t>
            </a:r>
          </a:p>
        </p:txBody>
      </p:sp>
      <p:sp>
        <p:nvSpPr>
          <p:cNvPr id="9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91778BF4-D5BA-495B-A974-F88C149A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47800"/>
            <a:ext cx="0" cy="430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10" name="case-row-rule-1">
            <a:extLst xmlns:a="http://schemas.openxmlformats.org/drawingml/2006/main">
              <a:ext uri="{FF2B5EF4-FFF2-40B4-BE49-F238E27FC236}">
                <a16:creationId xmlns:a16="http://schemas.microsoft.com/office/drawing/2014/main" id="{31A8DE3F-0FEE-4AE8-9999-638ED9BB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1" name="case-row-status-1">
            <a:extLst xmlns:a="http://schemas.openxmlformats.org/drawingml/2006/main">
              <a:ext uri="{FF2B5EF4-FFF2-40B4-BE49-F238E27FC236}">
                <a16:creationId xmlns:a16="http://schemas.microsoft.com/office/drawing/2014/main" id="{4F732D8A-AD7D-4F4C-AC25-72576AC1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621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15B4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215B43"/>
                </a:solidFill>
                <a:latin typeface="Courier New"/>
                <a:ea typeface="Courier New"/>
                <a:cs typeface="Courier New"/>
              </a:rPr>
              <a:t>SUPPORTED</a:t>
            </a:r>
          </a:p>
        </p:txBody>
      </p:sp>
      <p:sp>
        <p:nvSpPr>
          <p:cNvPr id="12" name="case-row-label-1">
            <a:extLst xmlns:a="http://schemas.openxmlformats.org/drawingml/2006/main">
              <a:ext uri="{FF2B5EF4-FFF2-40B4-BE49-F238E27FC236}">
                <a16:creationId xmlns:a16="http://schemas.microsoft.com/office/drawing/2014/main" id="{B7FD92FB-2E0B-4927-94AC-894EE71A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669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Closing NAV</a:t>
            </a:r>
          </a:p>
        </p:txBody>
      </p:sp>
      <p:sp>
        <p:nvSpPr>
          <p:cNvPr id="13" name="case-row-copy-1">
            <a:extLst xmlns:a="http://schemas.openxmlformats.org/drawingml/2006/main">
              <a:ext uri="{FF2B5EF4-FFF2-40B4-BE49-F238E27FC236}">
                <a16:creationId xmlns:a16="http://schemas.microsoft.com/office/drawing/2014/main" id="{04998589-B4E5-4940-84BB-0C9BE9EC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240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USD 12.4M agrees across two sources</a:t>
            </a:r>
          </a:p>
        </p:txBody>
      </p:sp>
      <p:sp>
        <p:nvSpPr>
          <p:cNvPr id="14" name="case-row-rule-2">
            <a:extLst xmlns:a="http://schemas.openxmlformats.org/drawingml/2006/main">
              <a:ext uri="{FF2B5EF4-FFF2-40B4-BE49-F238E27FC236}">
                <a16:creationId xmlns:a16="http://schemas.microsoft.com/office/drawing/2014/main" id="{F26ABA6F-647B-482D-8C40-0D1C071C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3860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5" name="case-row-status-2">
            <a:extLst xmlns:a="http://schemas.openxmlformats.org/drawingml/2006/main">
              <a:ext uri="{FF2B5EF4-FFF2-40B4-BE49-F238E27FC236}">
                <a16:creationId xmlns:a16="http://schemas.microsoft.com/office/drawing/2014/main" id="{81AE5696-9298-47B1-A010-DCC15D40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14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rPr>
              <a:t>CONFLICTING</a:t>
            </a:r>
          </a:p>
        </p:txBody>
      </p:sp>
      <p:sp>
        <p:nvSpPr>
          <p:cNvPr id="16" name="case-row-label-2">
            <a:extLst xmlns:a="http://schemas.openxmlformats.org/drawingml/2006/main">
              <a:ext uri="{FF2B5EF4-FFF2-40B4-BE49-F238E27FC236}">
                <a16:creationId xmlns:a16="http://schemas.microsoft.com/office/drawing/2014/main" id="{50669B62-B55B-4546-8486-28E9BF12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Committed capital</a:t>
            </a:r>
          </a:p>
        </p:txBody>
      </p:sp>
      <p:sp>
        <p:nvSpPr>
          <p:cNvPr id="17" name="case-row-copy-2">
            <a:extLst xmlns:a="http://schemas.openxmlformats.org/drawingml/2006/main">
              <a:ext uri="{FF2B5EF4-FFF2-40B4-BE49-F238E27FC236}">
                <a16:creationId xmlns:a16="http://schemas.microsoft.com/office/drawing/2014/main" id="{49ADF299-454D-42A1-B495-FAB49B2E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766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USD 25M vs USD 24M</a:t>
            </a:r>
          </a:p>
        </p:txBody>
      </p:sp>
      <p:sp>
        <p:nvSpPr>
          <p:cNvPr id="18" name="case-row-rule-3">
            <a:extLst xmlns:a="http://schemas.openxmlformats.org/drawingml/2006/main">
              <a:ext uri="{FF2B5EF4-FFF2-40B4-BE49-F238E27FC236}">
                <a16:creationId xmlns:a16="http://schemas.microsoft.com/office/drawing/2014/main" id="{E42D067A-916D-4862-8ED1-5E80AF33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3911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9" name="case-row-status-3">
            <a:extLst xmlns:a="http://schemas.openxmlformats.org/drawingml/2006/main">
              <a:ext uri="{FF2B5EF4-FFF2-40B4-BE49-F238E27FC236}">
                <a16:creationId xmlns:a16="http://schemas.microsoft.com/office/drawing/2014/main" id="{C5712362-4E0E-465A-9307-D7229923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67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UNSUPPORTED</a:t>
            </a:r>
          </a:p>
        </p:txBody>
      </p:sp>
      <p:sp>
        <p:nvSpPr>
          <p:cNvPr id="20" name="case-row-label-3">
            <a:extLst xmlns:a="http://schemas.openxmlformats.org/drawingml/2006/main">
              <a:ext uri="{FF2B5EF4-FFF2-40B4-BE49-F238E27FC236}">
                <a16:creationId xmlns:a16="http://schemas.microsoft.com/office/drawing/2014/main" id="{E7430D88-D1AF-45A3-A08B-1CB03DC7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720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Complaints closed</a:t>
            </a:r>
          </a:p>
        </p:txBody>
      </p:sp>
      <p:sp>
        <p:nvSpPr>
          <p:cNvPr id="21" name="case-row-copy-3">
            <a:extLst xmlns:a="http://schemas.openxmlformats.org/drawingml/2006/main">
              <a:ext uri="{FF2B5EF4-FFF2-40B4-BE49-F238E27FC236}">
                <a16:creationId xmlns:a16="http://schemas.microsoft.com/office/drawing/2014/main" id="{497D4F46-866D-4C9F-BA83-7F68F6A7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291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no candidate evidence</a:t>
            </a:r>
          </a:p>
        </p:txBody>
      </p:sp>
    </p:spTree>
    <p:extLst>
      <p:ext uri="{BB962C8B-B14F-4D97-AF65-F5344CB8AC3E}">
        <p14:creationId xmlns:p14="http://schemas.microsoft.com/office/powerpoint/2010/main" val="1166752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rand-5">
            <a:extLst xmlns:a="http://schemas.openxmlformats.org/drawingml/2006/main">
              <a:ext uri="{FF2B5EF4-FFF2-40B4-BE49-F238E27FC236}">
                <a16:creationId xmlns:a16="http://schemas.microsoft.com/office/drawing/2014/main" id="{F4C04FC7-3236-4101-81B4-7A795F1D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E4064B66-FE7D-4307-A04B-C86E8D8F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Preserve the handoff, not just the answer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EC9DF677-AB81-4AFA-B731-E49C3FC8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E4E6C982-6911-4F06-9FC8-1E746EDE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E6A889B1-D051-4880-8DB6-38A7076F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sp>
        <p:nvSpPr>
          <p:cNvPr id="6" name="workflow-rail">
            <a:extLst xmlns:a="http://schemas.openxmlformats.org/drawingml/2006/main">
              <a:ext uri="{FF2B5EF4-FFF2-40B4-BE49-F238E27FC236}">
                <a16:creationId xmlns:a16="http://schemas.microsoft.com/office/drawing/2014/main" id="{E67E50EF-E8B4-499E-95AC-C673342A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7" name="workflow-tick-1">
            <a:extLst xmlns:a="http://schemas.openxmlformats.org/drawingml/2006/main">
              <a:ext uri="{FF2B5EF4-FFF2-40B4-BE49-F238E27FC236}">
                <a16:creationId xmlns:a16="http://schemas.microsoft.com/office/drawing/2014/main" id="{01E830B8-3C15-46D8-B6C8-BE5DC654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8" name="workflow-step-1">
            <a:extLst xmlns:a="http://schemas.openxmlformats.org/drawingml/2006/main">
              <a:ext uri="{FF2B5EF4-FFF2-40B4-BE49-F238E27FC236}">
                <a16:creationId xmlns:a16="http://schemas.microsoft.com/office/drawing/2014/main" id="{1EB1E598-701E-4AAA-9689-DD04D235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01 SOURCE · exact page, region or cell</a:t>
            </a:r>
          </a:p>
        </p:txBody>
      </p:sp>
      <p:sp>
        <p:nvSpPr>
          <p:cNvPr id="9" name="workflow-tick-2">
            <a:extLst xmlns:a="http://schemas.openxmlformats.org/drawingml/2006/main">
              <a:ext uri="{FF2B5EF4-FFF2-40B4-BE49-F238E27FC236}">
                <a16:creationId xmlns:a16="http://schemas.microsoft.com/office/drawing/2014/main" id="{515637E6-1B22-4AE1-A498-464C0D8B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0" name="workflow-step-2">
            <a:extLst xmlns:a="http://schemas.openxmlformats.org/drawingml/2006/main">
              <a:ext uri="{FF2B5EF4-FFF2-40B4-BE49-F238E27FC236}">
                <a16:creationId xmlns:a16="http://schemas.microsoft.com/office/drawing/2014/main" id="{504459A1-4654-4211-95DF-99F11DBF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14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02 COMPARE · preserve agreement and disagreement</a:t>
            </a:r>
          </a:p>
        </p:txBody>
      </p:sp>
      <p:sp>
        <p:nvSpPr>
          <p:cNvPr id="11" name="workflow-tick-3">
            <a:extLst xmlns:a="http://schemas.openxmlformats.org/drawingml/2006/main">
              <a:ext uri="{FF2B5EF4-FFF2-40B4-BE49-F238E27FC236}">
                <a16:creationId xmlns:a16="http://schemas.microsoft.com/office/drawing/2014/main" id="{6072EF5B-505B-463F-8960-6E6B1706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2" name="workflow-step-3">
            <a:extLst xmlns:a="http://schemas.openxmlformats.org/drawingml/2006/main">
              <a:ext uri="{FF2B5EF4-FFF2-40B4-BE49-F238E27FC236}">
                <a16:creationId xmlns:a16="http://schemas.microsoft.com/office/drawing/2014/main" id="{2FEA545D-3C27-447F-9B6D-DD241886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03 ESCALATE · no default winner</a:t>
            </a:r>
          </a:p>
        </p:txBody>
      </p:sp>
      <p:sp>
        <p:nvSpPr>
          <p:cNvPr id="13" name="workflow-tick-4">
            <a:extLst xmlns:a="http://schemas.openxmlformats.org/drawingml/2006/main">
              <a:ext uri="{FF2B5EF4-FFF2-40B4-BE49-F238E27FC236}">
                <a16:creationId xmlns:a16="http://schemas.microsoft.com/office/drawing/2014/main" id="{7AD01CFE-DD00-4C73-BD3F-F153F1E0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4" name="workflow-step-4">
            <a:extLst xmlns:a="http://schemas.openxmlformats.org/drawingml/2006/main">
              <a:ext uri="{FF2B5EF4-FFF2-40B4-BE49-F238E27FC236}">
                <a16:creationId xmlns:a16="http://schemas.microsoft.com/office/drawing/2014/main" id="{E9C4DBC2-6EC2-451D-8981-A215FA73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04 DECIDE · named reviewer and reason</a:t>
            </a:r>
          </a:p>
        </p:txBody>
      </p:sp>
      <p:sp>
        <p:nvSpPr>
          <p:cNvPr id="15" name="workflow-tick-5">
            <a:extLst xmlns:a="http://schemas.openxmlformats.org/drawingml/2006/main">
              <a:ext uri="{FF2B5EF4-FFF2-40B4-BE49-F238E27FC236}">
                <a16:creationId xmlns:a16="http://schemas.microsoft.com/office/drawing/2014/main" id="{716C6A7A-7C37-4928-941F-469293DC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6" name="workflow-step-5">
            <a:extLst xmlns:a="http://schemas.openxmlformats.org/drawingml/2006/main">
              <a:ext uri="{FF2B5EF4-FFF2-40B4-BE49-F238E27FC236}">
                <a16:creationId xmlns:a16="http://schemas.microsoft.com/office/drawing/2014/main" id="{ED9E3918-7224-4427-97F4-99420927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05 RETAIN · local JSON and printable HTML manifest</a:t>
            </a:r>
          </a:p>
        </p:txBody>
      </p:sp>
    </p:spTree>
    <p:extLst>
      <p:ext uri="{BB962C8B-B14F-4D97-AF65-F5344CB8AC3E}">
        <p14:creationId xmlns:p14="http://schemas.microsoft.com/office/powerpoint/2010/main" val="3301217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F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6">
            <a:extLst xmlns:a="http://schemas.openxmlformats.org/drawingml/2006/main">
              <a:ext uri="{FF2B5EF4-FFF2-40B4-BE49-F238E27FC236}">
                <a16:creationId xmlns:a16="http://schemas.microsoft.com/office/drawing/2014/main" id="{5E0796A0-716D-49DB-8FCC-8369ACA8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D91528ED-E2C7-4894-BD41-C7C97C04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The prototype knows when to stop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4415B55-DE70-4A8D-B5D9-C9A86AE1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3EDE0"/>
            </a:solidFill>
            <a:prstDash val="solid"/>
          </a:ln>
        </p:spPr>
      </p:sp>
      <p:sp>
        <p:nvSpPr>
          <p:cNvPr id="4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4C258916-745C-4124-9CBA-B9739E9E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7D80F287-0E43-47C6-97A1-A6384C84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6" name="agent-trace-label">
            <a:extLst xmlns:a="http://schemas.openxmlformats.org/drawingml/2006/main">
              <a:ext uri="{FF2B5EF4-FFF2-40B4-BE49-F238E27FC236}">
                <a16:creationId xmlns:a16="http://schemas.microsoft.com/office/drawing/2014/main" id="{FD63B491-CA54-4DE7-B586-5FBA70A7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DETERMINISTIC TRACE</a:t>
            </a:r>
          </a:p>
        </p:txBody>
      </p:sp>
      <p:sp>
        <p:nvSpPr>
          <p:cNvPr id="7" name="agent-trace-spine">
            <a:extLst xmlns:a="http://schemas.openxmlformats.org/drawingml/2006/main">
              <a:ext uri="{FF2B5EF4-FFF2-40B4-BE49-F238E27FC236}">
                <a16:creationId xmlns:a16="http://schemas.microsoft.com/office/drawing/2014/main" id="{E48825D8-BDAA-4CEE-82A3-292ABB78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621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8" name="agent-propose">
            <a:extLst xmlns:a="http://schemas.openxmlformats.org/drawingml/2006/main">
              <a:ext uri="{FF2B5EF4-FFF2-40B4-BE49-F238E27FC236}">
                <a16:creationId xmlns:a16="http://schemas.microsoft.com/office/drawing/2014/main" id="{E7A919F6-1C99-4830-A5E8-0BF34AC3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PROPOSE</a:t>
            </a:r>
          </a:p>
        </p:txBody>
      </p:sp>
      <p:sp>
        <p:nvSpPr>
          <p:cNvPr id="9" name="agent-propose-copy">
            <a:extLst xmlns:a="http://schemas.openxmlformats.org/drawingml/2006/main">
              <a:ext uri="{FF2B5EF4-FFF2-40B4-BE49-F238E27FC236}">
                <a16:creationId xmlns:a16="http://schemas.microsoft.com/office/drawing/2014/main" id="{8691C1C0-992E-42E9-A187-C3F92D8D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candidate evidence and exact references</a:t>
            </a:r>
          </a:p>
        </p:txBody>
      </p:sp>
      <p:sp>
        <p:nvSpPr>
          <p:cNvPr id="10" name="agent-abstain">
            <a:extLst xmlns:a="http://schemas.openxmlformats.org/drawingml/2006/main">
              <a:ext uri="{FF2B5EF4-FFF2-40B4-BE49-F238E27FC236}">
                <a16:creationId xmlns:a16="http://schemas.microsoft.com/office/drawing/2014/main" id="{17FE4DEE-576E-4EEA-B352-B038D53C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4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ABSTAIN</a:t>
            </a:r>
          </a:p>
        </p:txBody>
      </p:sp>
      <p:sp>
        <p:nvSpPr>
          <p:cNvPr id="11" name="agent-abstain-copy">
            <a:extLst xmlns:a="http://schemas.openxmlformats.org/drawingml/2006/main">
              <a:ext uri="{FF2B5EF4-FFF2-40B4-BE49-F238E27FC236}">
                <a16:creationId xmlns:a16="http://schemas.microsoft.com/office/drawing/2014/main" id="{FBB37F69-94E4-4C1B-A9FE-FF24736D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7660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no candidate evidence; request more</a:t>
            </a:r>
          </a:p>
        </p:txBody>
      </p:sp>
      <p:sp>
        <p:nvSpPr>
          <p:cNvPr id="12" name="agent-decide">
            <a:extLst xmlns:a="http://schemas.openxmlformats.org/drawingml/2006/main">
              <a:ext uri="{FF2B5EF4-FFF2-40B4-BE49-F238E27FC236}">
                <a16:creationId xmlns:a16="http://schemas.microsoft.com/office/drawing/2014/main" id="{DB47C65C-2A6D-486E-9A78-67F27E99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DECIDE</a:t>
            </a:r>
          </a:p>
        </p:txBody>
      </p:sp>
      <p:sp>
        <p:nvSpPr>
          <p:cNvPr id="13" name="agent-decide-copy">
            <a:extLst xmlns:a="http://schemas.openxmlformats.org/drawingml/2006/main">
              <a:ext uri="{FF2B5EF4-FFF2-40B4-BE49-F238E27FC236}">
                <a16:creationId xmlns:a16="http://schemas.microsoft.com/office/drawing/2014/main" id="{7710185D-99D4-4EF6-99C1-1A8FCDD0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4476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only a named human can accept, correct, reject or defer</a:t>
            </a:r>
          </a:p>
        </p:txBody>
      </p:sp>
      <p:sp>
        <p:nvSpPr>
          <p:cNvPr id="14" name="agent-boundary-rule">
            <a:extLst xmlns:a="http://schemas.openxmlformats.org/drawingml/2006/main">
              <a:ext uri="{FF2B5EF4-FFF2-40B4-BE49-F238E27FC236}">
                <a16:creationId xmlns:a16="http://schemas.microsoft.com/office/drawing/2014/main" id="{43638DDE-F8B3-414E-8883-9F447129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15" name="agent-boundary-copy">
            <a:extLst xmlns:a="http://schemas.openxmlformats.org/drawingml/2006/main">
              <a:ext uri="{FF2B5EF4-FFF2-40B4-BE49-F238E27FC236}">
                <a16:creationId xmlns:a16="http://schemas.microsoft.com/office/drawing/2014/main" id="{7DB312F8-09EB-4D3C-8CCB-6094CB64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85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195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No live model. No compliance conclusion. Harness built and tested before any model enters.</a:t>
            </a:r>
          </a:p>
        </p:txBody>
      </p:sp>
    </p:spTree>
    <p:extLst>
      <p:ext uri="{BB962C8B-B14F-4D97-AF65-F5344CB8AC3E}">
        <p14:creationId xmlns:p14="http://schemas.microsoft.com/office/powerpoint/2010/main" val="903369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brand-7">
            <a:extLst xmlns:a="http://schemas.openxmlformats.org/drawingml/2006/main">
              <a:ext uri="{FF2B5EF4-FFF2-40B4-BE49-F238E27FC236}">
                <a16:creationId xmlns:a16="http://schemas.microsoft.com/office/drawing/2014/main" id="{FA84ACA7-52B6-471D-B1DA-DDD36BCD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07CD6305-0F12-49A5-9E7D-CB2FD74F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The current build exposes the full evidence record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53C10EA6-309B-499A-A14F-45093D64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16B566EA-8151-44FE-B86D-4242B607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273F246-3118-4ED9-92F3-41C08BAE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sp>
        <p:nvSpPr>
          <p:cNvPr id="6" name="prototype-proof-label">
            <a:extLst xmlns:a="http://schemas.openxmlformats.org/drawingml/2006/main">
              <a:ext uri="{FF2B5EF4-FFF2-40B4-BE49-F238E27FC236}">
                <a16:creationId xmlns:a16="http://schemas.microsoft.com/office/drawing/2014/main" id="{FD075043-030C-41E0-8874-91663B17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CURRENT LOCAL BUILD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1eb1a70064336"/>
          <a:srcRect xmlns:a="http://schemas.openxmlformats.org/drawingml/2006/main" l="0" t="9" r="0" b="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1075" y="1619250"/>
            <a:ext cx="3600450" cy="3667125"/>
          </a:xfrm>
          <a:prstGeom xmlns:a="http://schemas.openxmlformats.org/drawingml/2006/main" prst="rect">
            <a:avLst/>
          </a:prstGeom>
        </p:spPr>
      </p:pic>
      <p:sp>
        <p:nvSpPr>
          <p:cNvPr id="8" name="prototype-conflict-border">
            <a:extLst xmlns:a="http://schemas.openxmlformats.org/drawingml/2006/main">
              <a:ext uri="{FF2B5EF4-FFF2-40B4-BE49-F238E27FC236}">
                <a16:creationId xmlns:a16="http://schemas.microsoft.com/office/drawing/2014/main" id="{59ED0209-495F-4F3A-8558-BEC16174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19250"/>
            <a:ext cx="36004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189f6ad9e47d2"/>
          <a:srcRect xmlns:a="http://schemas.openxmlformats.org/drawingml/2006/main" l="19" t="0" r="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2525" y="1619250"/>
            <a:ext cx="6248400" cy="3667125"/>
          </a:xfrm>
          <a:prstGeom xmlns:a="http://schemas.openxmlformats.org/drawingml/2006/main" prst="rect">
            <a:avLst/>
          </a:prstGeom>
        </p:spPr>
      </p:pic>
      <p:sp>
        <p:nvSpPr>
          <p:cNvPr id="10" name="prototype-receipt-border">
            <a:extLst xmlns:a="http://schemas.openxmlformats.org/drawingml/2006/main">
              <a:ext uri="{FF2B5EF4-FFF2-40B4-BE49-F238E27FC236}">
                <a16:creationId xmlns:a16="http://schemas.microsoft.com/office/drawing/2014/main" id="{9C08AD83-3F64-48EB-9244-F2DFDCAC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619250"/>
            <a:ext cx="62484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11" name="prototype-callout-1">
            <a:extLst xmlns:a="http://schemas.openxmlformats.org/drawingml/2006/main">
              <a:ext uri="{FF2B5EF4-FFF2-40B4-BE49-F238E27FC236}">
                <a16:creationId xmlns:a16="http://schemas.microsoft.com/office/drawing/2014/main" id="{CA324B51-B7ED-4C5A-B87D-16BC5770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Conflict stays side by side.</a:t>
            </a:r>
          </a:p>
        </p:txBody>
      </p:sp>
      <p:sp>
        <p:nvSpPr>
          <p:cNvPr id="12" name="prototype-callout-2">
            <a:extLst xmlns:a="http://schemas.openxmlformats.org/drawingml/2006/main">
              <a:ext uri="{FF2B5EF4-FFF2-40B4-BE49-F238E27FC236}">
                <a16:creationId xmlns:a16="http://schemas.microsoft.com/office/drawing/2014/main" id="{9FB3076E-B8F8-43CC-85E2-C1EDD1DA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429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Human reason is required.</a:t>
            </a:r>
          </a:p>
        </p:txBody>
      </p:sp>
      <p:sp>
        <p:nvSpPr>
          <p:cNvPr id="13" name="prototype-callout-3">
            <a:extLst xmlns:a="http://schemas.openxmlformats.org/drawingml/2006/main">
              <a:ext uri="{FF2B5EF4-FFF2-40B4-BE49-F238E27FC236}">
                <a16:creationId xmlns:a16="http://schemas.microsoft.com/office/drawing/2014/main" id="{04617FE5-19C1-4D75-8BA4-E1C05D3E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4292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Receipt retains fingerprints, both candidates and unresolved evidence.</a:t>
            </a:r>
          </a:p>
        </p:txBody>
      </p:sp>
      <p:sp>
        <p:nvSpPr>
          <p:cNvPr id="14" name="prototype-callout-4">
            <a:extLst xmlns:a="http://schemas.openxmlformats.org/drawingml/2006/main">
              <a:ext uri="{FF2B5EF4-FFF2-40B4-BE49-F238E27FC236}">
                <a16:creationId xmlns:a16="http://schemas.microsoft.com/office/drawing/2014/main" id="{95277337-348D-4E94-9EA1-52C5C257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292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6491A"/>
                </a:solidFill>
                <a:latin typeface="Arial"/>
                <a:ea typeface="Arial"/>
                <a:cs typeface="Arial"/>
              </a:rPr>
              <a:t>Synthetic data only · no filing · no regulator connection</a:t>
            </a:r>
          </a:p>
        </p:txBody>
      </p:sp>
    </p:spTree>
    <p:extLst>
      <p:ext uri="{BB962C8B-B14F-4D97-AF65-F5344CB8AC3E}">
        <p14:creationId xmlns:p14="http://schemas.microsoft.com/office/powerpoint/2010/main" val="14158488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D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rand-8">
            <a:extLst xmlns:a="http://schemas.openxmlformats.org/drawingml/2006/main">
              <a:ext uri="{FF2B5EF4-FFF2-40B4-BE49-F238E27FC236}">
                <a16:creationId xmlns:a16="http://schemas.microsoft.com/office/drawing/2014/main" id="{32FCC807-09E1-4450-AE93-E29331BA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18E0838-9203-461E-BDFE-1D8F6C49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Revenue here is a sensitivity test, not a forecast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25C671D0-FD32-43DF-93DD-E7E8116E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9E488A63-DA7B-4A28-83F1-93D80166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C234A498-E95A-481F-A8EA-C10F0A9A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6" name="sensitivity-label">
            <a:extLst xmlns:a="http://schemas.openxmlformats.org/drawingml/2006/main">
              <a:ext uri="{FF2B5EF4-FFF2-40B4-BE49-F238E27FC236}">
                <a16:creationId xmlns:a16="http://schemas.microsoft.com/office/drawing/2014/main" id="{C91DCF8D-84AE-4EA7-AB2B-634D0CAF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ILLUSTRATIVE ARR SENSITIVITY</a:t>
            </a:r>
          </a:p>
        </p:txBody>
      </p:sp>
      <p:sp>
        <p:nvSpPr>
          <p:cNvPr id="7" name="sensitivity-row-0">
            <a:extLst xmlns:a="http://schemas.openxmlformats.org/drawingml/2006/main">
              <a:ext uri="{FF2B5EF4-FFF2-40B4-BE49-F238E27FC236}">
                <a16:creationId xmlns:a16="http://schemas.microsoft.com/office/drawing/2014/main" id="{0AE7CCE4-0F1C-402A-95CC-B62CEE8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8" name="sensitivity-0-0">
            <a:extLst xmlns:a="http://schemas.openxmlformats.org/drawingml/2006/main">
              <a:ext uri="{FF2B5EF4-FFF2-40B4-BE49-F238E27FC236}">
                <a16:creationId xmlns:a16="http://schemas.microsoft.com/office/drawing/2014/main" id="{30CFA534-5FC5-432E-ADF1-AC077435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ENTITIES</a:t>
            </a:r>
          </a:p>
        </p:txBody>
      </p:sp>
      <p:sp>
        <p:nvSpPr>
          <p:cNvPr id="9" name="sensitivity-0-1">
            <a:extLst xmlns:a="http://schemas.openxmlformats.org/drawingml/2006/main">
              <a:ext uri="{FF2B5EF4-FFF2-40B4-BE49-F238E27FC236}">
                <a16:creationId xmlns:a16="http://schemas.microsoft.com/office/drawing/2014/main" id="{14ABF6F8-C2F1-4819-975B-1C398589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526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₹3L</a:t>
            </a:r>
          </a:p>
        </p:txBody>
      </p:sp>
      <p:sp>
        <p:nvSpPr>
          <p:cNvPr id="10" name="sensitivity-0-2">
            <a:extLst xmlns:a="http://schemas.openxmlformats.org/drawingml/2006/main">
              <a:ext uri="{FF2B5EF4-FFF2-40B4-BE49-F238E27FC236}">
                <a16:creationId xmlns:a16="http://schemas.microsoft.com/office/drawing/2014/main" id="{28764708-50F9-4F9E-BFBC-D84A8ECB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526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₹12L</a:t>
            </a:r>
          </a:p>
        </p:txBody>
      </p:sp>
      <p:sp>
        <p:nvSpPr>
          <p:cNvPr id="11" name="sensitivity-row-1">
            <a:extLst xmlns:a="http://schemas.openxmlformats.org/drawingml/2006/main">
              <a:ext uri="{FF2B5EF4-FFF2-40B4-BE49-F238E27FC236}">
                <a16:creationId xmlns:a16="http://schemas.microsoft.com/office/drawing/2014/main" id="{43E4CBE1-9EFA-48AF-BA5E-9B6F5BF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2" name="sensitivity-1-0">
            <a:extLst xmlns:a="http://schemas.openxmlformats.org/drawingml/2006/main">
              <a:ext uri="{FF2B5EF4-FFF2-40B4-BE49-F238E27FC236}">
                <a16:creationId xmlns:a16="http://schemas.microsoft.com/office/drawing/2014/main" id="{D7B6B4ED-095A-44AE-B6CB-FAA65909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13" name="sensitivity-1-1">
            <a:extLst xmlns:a="http://schemas.openxmlformats.org/drawingml/2006/main">
              <a:ext uri="{FF2B5EF4-FFF2-40B4-BE49-F238E27FC236}">
                <a16:creationId xmlns:a16="http://schemas.microsoft.com/office/drawing/2014/main" id="{FC303B40-A1F3-4AE4-B189-F1666A4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527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₹15L</a:t>
            </a:r>
          </a:p>
        </p:txBody>
      </p:sp>
      <p:sp>
        <p:nvSpPr>
          <p:cNvPr id="14" name="sensitivity-1-2">
            <a:extLst xmlns:a="http://schemas.openxmlformats.org/drawingml/2006/main">
              <a:ext uri="{FF2B5EF4-FFF2-40B4-BE49-F238E27FC236}">
                <a16:creationId xmlns:a16="http://schemas.microsoft.com/office/drawing/2014/main" id="{68ED996B-6024-49FC-8705-D76EBAAF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527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₹60L</a:t>
            </a:r>
          </a:p>
        </p:txBody>
      </p:sp>
      <p:sp>
        <p:nvSpPr>
          <p:cNvPr id="15" name="sensitivity-row-2">
            <a:extLst xmlns:a="http://schemas.openxmlformats.org/drawingml/2006/main">
              <a:ext uri="{FF2B5EF4-FFF2-40B4-BE49-F238E27FC236}">
                <a16:creationId xmlns:a16="http://schemas.microsoft.com/office/drawing/2014/main" id="{3331641A-4FD2-4B79-8634-1C58C8DA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6" name="sensitivity-2-0">
            <a:extLst xmlns:a="http://schemas.openxmlformats.org/drawingml/2006/main">
              <a:ext uri="{FF2B5EF4-FFF2-40B4-BE49-F238E27FC236}">
                <a16:creationId xmlns:a16="http://schemas.microsoft.com/office/drawing/2014/main" id="{2A2C698E-0404-4FA4-ACBD-A6C8E45F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50</a:t>
            </a:r>
          </a:p>
        </p:txBody>
      </p:sp>
      <p:sp>
        <p:nvSpPr>
          <p:cNvPr id="17" name="sensitivity-2-1">
            <a:extLst xmlns:a="http://schemas.openxmlformats.org/drawingml/2006/main">
              <a:ext uri="{FF2B5EF4-FFF2-40B4-BE49-F238E27FC236}">
                <a16:creationId xmlns:a16="http://schemas.microsoft.com/office/drawing/2014/main" id="{AA831E64-676F-48DC-9426-06906F46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528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₹1.5Cr</a:t>
            </a:r>
          </a:p>
        </p:txBody>
      </p:sp>
      <p:sp>
        <p:nvSpPr>
          <p:cNvPr id="18" name="sensitivity-2-2">
            <a:extLst xmlns:a="http://schemas.openxmlformats.org/drawingml/2006/main">
              <a:ext uri="{FF2B5EF4-FFF2-40B4-BE49-F238E27FC236}">
                <a16:creationId xmlns:a16="http://schemas.microsoft.com/office/drawing/2014/main" id="{035F0983-26BA-417E-99C7-FA0C26A6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528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₹6Cr</a:t>
            </a:r>
          </a:p>
        </p:txBody>
      </p:sp>
      <p:sp>
        <p:nvSpPr>
          <p:cNvPr id="19" name="sensitivity-divider">
            <a:extLst xmlns:a="http://schemas.openxmlformats.org/drawingml/2006/main">
              <a:ext uri="{FF2B5EF4-FFF2-40B4-BE49-F238E27FC236}">
                <a16:creationId xmlns:a16="http://schemas.microsoft.com/office/drawing/2014/main" id="{35CE4064-4D43-4368-A6C7-446496E4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240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20" name="sensitivity-gates">
            <a:extLst xmlns:a="http://schemas.openxmlformats.org/drawingml/2006/main">
              <a:ext uri="{FF2B5EF4-FFF2-40B4-BE49-F238E27FC236}">
                <a16:creationId xmlns:a16="http://schemas.microsoft.com/office/drawing/2014/main" id="{2E2391E1-7B75-4D79-81EC-9ACB7A52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4000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Unproven gates: buyer, bundling risk, legal perimeter, paid test, support economics</a:t>
            </a:r>
          </a:p>
        </p:txBody>
      </p:sp>
      <p:sp>
        <p:nvSpPr>
          <p:cNvPr id="21" name="footer-sensitivity-hypothesis-label">
            <a:extLst xmlns:a="http://schemas.openxmlformats.org/drawingml/2006/main">
              <a:ext uri="{FF2B5EF4-FFF2-40B4-BE49-F238E27FC236}">
                <a16:creationId xmlns:a16="http://schemas.microsoft.com/office/drawing/2014/main" id="{CEA9E006-B709-4640-99F4-DF859596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766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rPr>
              <a:t>HYPOTHESIS</a:t>
            </a:r>
          </a:p>
        </p:txBody>
      </p:sp>
      <p:sp>
        <p:nvSpPr>
          <p:cNvPr id="22" name="sensitivity-hypothesis">
            <a:extLst xmlns:a="http://schemas.openxmlformats.org/drawingml/2006/main">
              <a:ext uri="{FF2B5EF4-FFF2-40B4-BE49-F238E27FC236}">
                <a16:creationId xmlns:a16="http://schemas.microsoft.com/office/drawing/2014/main" id="{E5CF6E96-8196-49FF-ACC2-8916BE5F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0520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1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0" i="1">
                <a:solidFill>
                  <a:srgbClr val="96491A"/>
                </a:solidFill>
                <a:latin typeface="Arial"/>
                <a:ea typeface="Arial"/>
                <a:cs typeface="Arial"/>
              </a:rPr>
              <a:t>If the wedge locks: the same evidence substrate extends to adjacent regulated-reporting workflows (hypothesis)</a:t>
            </a:r>
          </a:p>
        </p:txBody>
      </p:sp>
      <p:sp>
        <p:nvSpPr>
          <p:cNvPr id="23" name="sensitivity-disclaimer">
            <a:extLst xmlns:a="http://schemas.openxmlformats.org/drawingml/2006/main">
              <a:ext uri="{FF2B5EF4-FFF2-40B4-BE49-F238E27FC236}">
                <a16:creationId xmlns:a16="http://schemas.microsoft.com/office/drawing/2014/main" id="{1FF650C8-3639-4051-BC35-BCCAC3AD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053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625B53"/>
                </a:solidFill>
                <a:latin typeface="Georgia"/>
                <a:ea typeface="Georgia"/>
                <a:cs typeface="Georgia"/>
              </a:rPr>
              <a:t>Not TAM/WTP.</a:t>
            </a:r>
          </a:p>
        </p:txBody>
      </p:sp>
    </p:spTree>
    <p:extLst>
      <p:ext uri="{BB962C8B-B14F-4D97-AF65-F5344CB8AC3E}">
        <p14:creationId xmlns:p14="http://schemas.microsoft.com/office/powerpoint/2010/main" val="16773750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9">
            <a:extLst xmlns:a="http://schemas.openxmlformats.org/drawingml/2006/main">
              <a:ext uri="{FF2B5EF4-FFF2-40B4-BE49-F238E27FC236}">
                <a16:creationId xmlns:a16="http://schemas.microsoft.com/office/drawing/2014/main" id="{C79BC4A6-B01C-466E-82E0-FE5661E3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91E5955-2DB0-4B5C-829B-CABA5837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One accountable founder. One defined finance lane.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A09B3B47-1A1D-4374-9129-E3A4D702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00F4602E-3D56-44B8-9E84-E2D87619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B3126B7C-34FD-45C6-AE26-F921BAAA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6" name="ownership-divider">
            <a:extLst xmlns:a="http://schemas.openxmlformats.org/drawingml/2006/main">
              <a:ext uri="{FF2B5EF4-FFF2-40B4-BE49-F238E27FC236}">
                <a16:creationId xmlns:a16="http://schemas.microsoft.com/office/drawing/2014/main" id="{81F2E6A7-C631-46DD-8CE7-D09A82A4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0" cy="3257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ownership-ayush-label">
            <a:extLst xmlns:a="http://schemas.openxmlformats.org/drawingml/2006/main">
              <a:ext uri="{FF2B5EF4-FFF2-40B4-BE49-F238E27FC236}">
                <a16:creationId xmlns:a16="http://schemas.microsoft.com/office/drawing/2014/main" id="{3453E2F5-8FF2-4B99-ADBE-5369F4BE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AYUSH TIWARY</a:t>
            </a:r>
          </a:p>
        </p:txBody>
      </p:sp>
      <p:sp>
        <p:nvSpPr>
          <p:cNvPr id="8" name="ownership-ayush-copy">
            <a:extLst xmlns:a="http://schemas.openxmlformats.org/drawingml/2006/main">
              <a:ext uri="{FF2B5EF4-FFF2-40B4-BE49-F238E27FC236}">
                <a16:creationId xmlns:a16="http://schemas.microsoft.com/office/drawing/2014/main" id="{9FC51FBC-CE49-4492-8606-82FC269C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Engineering, integration, test evidence, packaging. KRISEVA ships evidence-first, human-review procurement software in Indian defense today.</a:t>
            </a:r>
          </a:p>
        </p:txBody>
      </p:sp>
      <p:sp>
        <p:nvSpPr>
          <p:cNvPr id="9" name="ownership-finance-label">
            <a:extLst xmlns:a="http://schemas.openxmlformats.org/drawingml/2006/main">
              <a:ext uri="{FF2B5EF4-FFF2-40B4-BE49-F238E27FC236}">
                <a16:creationId xmlns:a16="http://schemas.microsoft.com/office/drawing/2014/main" id="{17C7E9AA-6474-4FE9-A900-EC904DBC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FINANCE &amp; BUSINESS ANALYSIS LANE</a:t>
            </a:r>
          </a:p>
        </p:txBody>
      </p:sp>
      <p:sp>
        <p:nvSpPr>
          <p:cNvPr id="10" name="ownership-finance-copy">
            <a:extLst xmlns:a="http://schemas.openxmlformats.org/drawingml/2006/main">
              <a:ext uri="{FF2B5EF4-FFF2-40B4-BE49-F238E27FC236}">
                <a16:creationId xmlns:a16="http://schemas.microsoft.com/office/drawing/2014/main" id="{070EDE1C-8BC2-47FC-9FA1-0D5E95B7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Case consistency, buyer hypotheses, pricing research, workflow QA.</a:t>
            </a:r>
          </a:p>
        </p:txBody>
      </p:sp>
      <p:sp>
        <p:nvSpPr>
          <p:cNvPr id="11" name="ownership-gate-band">
            <a:extLst xmlns:a="http://schemas.openxmlformats.org/drawingml/2006/main">
              <a:ext uri="{FF2B5EF4-FFF2-40B4-BE49-F238E27FC236}">
                <a16:creationId xmlns:a16="http://schemas.microsoft.com/office/drawing/2014/main" id="{B6BA8D10-053B-47CF-B58D-E43B9A02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1104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12" name="ownership-gate">
            <a:extLst xmlns:a="http://schemas.openxmlformats.org/drawingml/2006/main">
              <a:ext uri="{FF2B5EF4-FFF2-40B4-BE49-F238E27FC236}">
                <a16:creationId xmlns:a16="http://schemas.microsoft.com/office/drawing/2014/main" id="{BAB86EFC-21FB-46BE-A103-DF55E772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3EDE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3EDE0"/>
                </a:solidFill>
                <a:latin typeface="Arial"/>
                <a:ea typeface="Arial"/>
                <a:cs typeface="Arial"/>
              </a:rPr>
              <a:t>Proposed contributor · pending written acceptance and public attribution.</a:t>
            </a:r>
          </a:p>
        </p:txBody>
      </p:sp>
    </p:spTree>
    <p:extLst>
      <p:ext uri="{BB962C8B-B14F-4D97-AF65-F5344CB8AC3E}">
        <p14:creationId xmlns:p14="http://schemas.microsoft.com/office/powerpoint/2010/main" val="16645823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F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rand-10">
            <a:extLst xmlns:a="http://schemas.openxmlformats.org/drawingml/2006/main">
              <a:ext uri="{FF2B5EF4-FFF2-40B4-BE49-F238E27FC236}">
                <a16:creationId xmlns:a16="http://schemas.microsoft.com/office/drawing/2014/main" id="{12A899BB-C16C-4F4D-AEAD-C598348E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C7139B1B-AC24-4A76-A61D-928F2AF0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Use eight weeks to lock the wedge, or reject it</a:t>
            </a:r>
          </a:p>
        </p:txBody>
      </p:sp>
      <p:sp>
        <p:nvSpPr>
          <p:cNvPr id="3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C000A2BF-410E-4EB6-97B6-AA923C98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3EDE0"/>
            </a:solidFill>
            <a:prstDash val="solid"/>
          </a:ln>
        </p:spPr>
      </p:sp>
      <p:sp>
        <p:nvSpPr>
          <p:cNvPr id="4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AE55A568-5BDA-4305-8C9D-89C093D5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8ADAAA79-DB41-4C9E-94D7-C28C1196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ask-spine">
            <a:extLst xmlns:a="http://schemas.openxmlformats.org/drawingml/2006/main">
              <a:ext uri="{FF2B5EF4-FFF2-40B4-BE49-F238E27FC236}">
                <a16:creationId xmlns:a16="http://schemas.microsoft.com/office/drawing/2014/main" id="{350B07F6-3E66-43F4-8474-7EE95FBD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62100"/>
            <a:ext cx="0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ask-access-label">
            <a:extLst xmlns:a="http://schemas.openxmlformats.org/drawingml/2006/main">
              <a:ext uri="{FF2B5EF4-FFF2-40B4-BE49-F238E27FC236}">
                <a16:creationId xmlns:a16="http://schemas.microsoft.com/office/drawing/2014/main" id="{E11B24DB-BACF-497A-9462-FC8A15E5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ACCESS</a:t>
            </a:r>
          </a:p>
        </p:txBody>
      </p:sp>
      <p:sp>
        <p:nvSpPr>
          <p:cNvPr id="8" name="ask-access-copy">
            <a:extLst xmlns:a="http://schemas.openxmlformats.org/drawingml/2006/main">
              <a:ext uri="{FF2B5EF4-FFF2-40B4-BE49-F238E27FC236}">
                <a16:creationId xmlns:a16="http://schemas.microsoft.com/office/drawing/2014/main" id="{E3090557-2750-42AF-A013-698E62FC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400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2 FME (fund management entity) officers + 2 administrators + 1 independent compliance provider</a:t>
            </a:r>
          </a:p>
        </p:txBody>
      </p:sp>
      <p:sp>
        <p:nvSpPr>
          <p:cNvPr id="9" name="ask-falsify">
            <a:extLst xmlns:a="http://schemas.openxmlformats.org/drawingml/2006/main">
              <a:ext uri="{FF2B5EF4-FFF2-40B4-BE49-F238E27FC236}">
                <a16:creationId xmlns:a16="http://schemas.microsoft.com/office/drawing/2014/main" id="{3F677942-56EC-4B51-98CE-80137347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810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9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Help us falsify quickly.</a:t>
            </a:r>
          </a:p>
        </p:txBody>
      </p:sp>
      <p:sp>
        <p:nvSpPr>
          <p:cNvPr id="10" name="ask-challenge-label">
            <a:extLst xmlns:a="http://schemas.openxmlformats.org/drawingml/2006/main">
              <a:ext uri="{FF2B5EF4-FFF2-40B4-BE49-F238E27FC236}">
                <a16:creationId xmlns:a16="http://schemas.microsoft.com/office/drawing/2014/main" id="{221C2CD2-9612-464F-A646-05DDE2B1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6954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CHALLENGE</a:t>
            </a:r>
          </a:p>
        </p:txBody>
      </p:sp>
      <p:sp>
        <p:nvSpPr>
          <p:cNvPr id="11" name="ask-challenge-copy">
            <a:extLst xmlns:a="http://schemas.openxmlformats.org/drawingml/2006/main">
              <a:ext uri="{FF2B5EF4-FFF2-40B4-BE49-F238E27FC236}">
                <a16:creationId xmlns:a16="http://schemas.microsoft.com/office/drawing/2014/main" id="{BF5555E3-CDF2-4DC4-9140-81B133C5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14550"/>
            <a:ext cx="552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Is upstream evidence outside DRR/bundled services?</a:t>
            </a:r>
          </a:p>
        </p:txBody>
      </p:sp>
      <p:sp>
        <p:nvSpPr>
          <p:cNvPr id="12" name="ask-test-label">
            <a:extLst xmlns:a="http://schemas.openxmlformats.org/drawingml/2006/main">
              <a:ext uri="{FF2B5EF4-FFF2-40B4-BE49-F238E27FC236}">
                <a16:creationId xmlns:a16="http://schemas.microsoft.com/office/drawing/2014/main" id="{61FAF683-70CC-4724-BD48-F31096A3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24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TEST</a:t>
            </a:r>
          </a:p>
        </p:txBody>
      </p:sp>
      <p:sp>
        <p:nvSpPr>
          <p:cNvPr id="13" name="ask-test-copy">
            <a:extLst xmlns:a="http://schemas.openxmlformats.org/drawingml/2006/main">
              <a:ext uri="{FF2B5EF4-FFF2-40B4-BE49-F238E27FC236}">
                <a16:creationId xmlns:a16="http://schemas.microsoft.com/office/drawing/2014/main" id="{FCCC15E2-24EB-4C11-B45A-48E6C605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86200"/>
            <a:ext cx="533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F3EDE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F3EDE0"/>
                </a:solidFill>
                <a:latin typeface="Arial"/>
                <a:ea typeface="Arial"/>
                <a:cs typeface="Arial"/>
              </a:rPr>
              <a:t>One controlled synthetic workflow only if discovery survives</a:t>
            </a:r>
          </a:p>
        </p:txBody>
      </p:sp>
      <p:sp>
        <p:nvSpPr>
          <p:cNvPr id="14" name="ask-decide-label">
            <a:extLst xmlns:a="http://schemas.openxmlformats.org/drawingml/2006/main">
              <a:ext uri="{FF2B5EF4-FFF2-40B4-BE49-F238E27FC236}">
                <a16:creationId xmlns:a16="http://schemas.microsoft.com/office/drawing/2014/main" id="{C6152312-28D6-4AB9-93AD-F4A4ECD2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53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DECIDE</a:t>
            </a:r>
          </a:p>
        </p:txBody>
      </p:sp>
      <p:sp>
        <p:nvSpPr>
          <p:cNvPr id="15" name="ask-decide-copy">
            <a:extLst xmlns:a="http://schemas.openxmlformats.org/drawingml/2006/main">
              <a:ext uri="{FF2B5EF4-FFF2-40B4-BE49-F238E27FC236}">
                <a16:creationId xmlns:a16="http://schemas.microsoft.com/office/drawing/2014/main" id="{7CAA2700-3A99-4437-AD3B-A694A0AB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958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Lock or reject by week 8</a:t>
            </a:r>
          </a:p>
        </p:txBody>
      </p:sp>
      <p:sp>
        <p:nvSpPr>
          <p:cNvPr id="16" name="footer-ask-links">
            <a:extLst xmlns:a="http://schemas.openxmlformats.org/drawingml/2006/main">
              <a:ext uri="{FF2B5EF4-FFF2-40B4-BE49-F238E27FC236}">
                <a16:creationId xmlns:a16="http://schemas.microsoft.com/office/drawing/2014/main" id="{1E62F9C7-FC5F-4C8A-8671-81D13736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Live: ayushtiwary-ops.github.io/kriseva-attest  ·  Code: github.com/ayushtiwary-ops/kriseva-attest</a:t>
            </a:r>
          </a:p>
        </p:txBody>
      </p:sp>
    </p:spTree>
    <p:extLst>
      <p:ext uri="{BB962C8B-B14F-4D97-AF65-F5344CB8AC3E}">
        <p14:creationId xmlns:p14="http://schemas.microsoft.com/office/powerpoint/2010/main" val="193132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2026-08-13T17:25:34.0270000Z</dcterms:created>
  <dcterms:modified xsi:type="dcterms:W3CDTF">2026-08-13T17:25:34.0280000Z</dcterms:modified>
</coreProperties>
</file>