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c2639a951c4784" /><Relationship Type="http://schemas.openxmlformats.org/officeDocument/2006/relationships/extended-properties" Target="/docProps/app.xml" Id="R158333e3f28444f2" /><Relationship Type="http://schemas.openxmlformats.org/officeDocument/2006/relationships/officeDocument" Target="/ppt/presentation.xml" Id="R43cf4490327443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227bbac48c4fc8"/>
  </p:sldMasterIdLst>
  <p:notesMasterIdLst>
    <p:notesMasterId xmlns:r="http://schemas.openxmlformats.org/officeDocument/2006/relationships" r:id="Rb6fbf07064cb4d22"/>
  </p:notesMasterIdLst>
  <p:sldIdLst>
    <p:sldId xmlns:r="http://schemas.openxmlformats.org/officeDocument/2006/relationships" id="256" r:id="R96266747072f41e6"/>
    <p:sldId xmlns:r="http://schemas.openxmlformats.org/officeDocument/2006/relationships" id="257" r:id="R158506ae99c8497e"/>
    <p:sldId xmlns:r="http://schemas.openxmlformats.org/officeDocument/2006/relationships" id="258" r:id="Re9a0b82851bf4788"/>
    <p:sldId xmlns:r="http://schemas.openxmlformats.org/officeDocument/2006/relationships" id="259" r:id="Rcf72f3a179fb49a5"/>
    <p:sldId xmlns:r="http://schemas.openxmlformats.org/officeDocument/2006/relationships" id="260" r:id="R4dde3d9cfa5d4745"/>
    <p:sldId xmlns:r="http://schemas.openxmlformats.org/officeDocument/2006/relationships" id="261" r:id="Rb7963c4aed304f86"/>
    <p:sldId xmlns:r="http://schemas.openxmlformats.org/officeDocument/2006/relationships" id="262" r:id="R5338240f51d04577"/>
    <p:sldId xmlns:r="http://schemas.openxmlformats.org/officeDocument/2006/relationships" id="263" r:id="R98aec4958a1e4252"/>
    <p:sldId xmlns:r="http://schemas.openxmlformats.org/officeDocument/2006/relationships" id="264" r:id="R302ad8efb92540ab"/>
    <p:sldId xmlns:r="http://schemas.openxmlformats.org/officeDocument/2006/relationships" id="265" r:id="Rb83628f4ef794bb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97ec51a5734c59" /><Relationship Type="http://schemas.openxmlformats.org/officeDocument/2006/relationships/slideMaster" Target="/ppt/slideMasters/slideMaster1.xml" Id="Rf3227bbac48c4fc8" /><Relationship Type="http://schemas.openxmlformats.org/officeDocument/2006/relationships/notesMaster" Target="/ppt/notesMasters/notesMaster1.xml" Id="Rb6fbf07064cb4d22" /><Relationship Type="http://schemas.openxmlformats.org/officeDocument/2006/relationships/presProps" Target="/ppt/presProps.xml" Id="R3562e78b2b9c4018" /><Relationship Type="http://schemas.openxmlformats.org/officeDocument/2006/relationships/tableStyles" Target="/ppt/tableStyles.xml" Id="R75ca35e463874481" /><Relationship Type="http://schemas.openxmlformats.org/officeDocument/2006/relationships/slide" Target="/ppt/slides/slide1.xml" Id="R96266747072f41e6" /><Relationship Type="http://schemas.openxmlformats.org/officeDocument/2006/relationships/slide" Target="/ppt/slides/slide2.xml" Id="R158506ae99c8497e" /><Relationship Type="http://schemas.openxmlformats.org/officeDocument/2006/relationships/slide" Target="/ppt/slides/slide3.xml" Id="Re9a0b82851bf4788" /><Relationship Type="http://schemas.openxmlformats.org/officeDocument/2006/relationships/slide" Target="/ppt/slides/slide4.xml" Id="Rcf72f3a179fb49a5" /><Relationship Type="http://schemas.openxmlformats.org/officeDocument/2006/relationships/slide" Target="/ppt/slides/slide5.xml" Id="R4dde3d9cfa5d4745" /><Relationship Type="http://schemas.openxmlformats.org/officeDocument/2006/relationships/slide" Target="/ppt/slides/slide6.xml" Id="Rb7963c4aed304f86" /><Relationship Type="http://schemas.openxmlformats.org/officeDocument/2006/relationships/slide" Target="/ppt/slides/slide7.xml" Id="R5338240f51d04577" /><Relationship Type="http://schemas.openxmlformats.org/officeDocument/2006/relationships/slide" Target="/ppt/slides/slide8.xml" Id="R98aec4958a1e4252" /><Relationship Type="http://schemas.openxmlformats.org/officeDocument/2006/relationships/slide" Target="/ppt/slides/slide9.xml" Id="R302ad8efb92540ab" /><Relationship Type="http://schemas.openxmlformats.org/officeDocument/2006/relationships/slide" Target="/ppt/slides/slide10.xml" Id="Rb83628f4ef794b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17fcddee5544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3dbb0591d24f1d" /><Relationship Type="http://schemas.openxmlformats.org/officeDocument/2006/relationships/notesMaster" Target="/ppt/notesMasters/notesMaster1.xml" Id="Rdd16cec5df6f4f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eb35ffdfae4198" /><Relationship Type="http://schemas.openxmlformats.org/officeDocument/2006/relationships/notesMaster" Target="/ppt/notesMasters/notesMaster1.xml" Id="R9b0c6e5f9c3e4e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98ca01474c44ba" /><Relationship Type="http://schemas.openxmlformats.org/officeDocument/2006/relationships/notesMaster" Target="/ppt/notesMasters/notesMaster1.xml" Id="Ra0b4d970888348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350843f51d4380" /><Relationship Type="http://schemas.openxmlformats.org/officeDocument/2006/relationships/notesMaster" Target="/ppt/notesMasters/notesMaster1.xml" Id="R9fdcac9ddc1843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a04b84f0cc4bce" /><Relationship Type="http://schemas.openxmlformats.org/officeDocument/2006/relationships/notesMaster" Target="/ppt/notesMasters/notesMaster1.xml" Id="R25fad06f110946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390c5c657e4a77" /><Relationship Type="http://schemas.openxmlformats.org/officeDocument/2006/relationships/notesMaster" Target="/ppt/notesMasters/notesMaster1.xml" Id="Rf249bf03c1c84c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24b54cdace47e9" /><Relationship Type="http://schemas.openxmlformats.org/officeDocument/2006/relationships/notesMaster" Target="/ppt/notesMasters/notesMaster1.xml" Id="R9c3c2faa2d804f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4196fbf2914a68" /><Relationship Type="http://schemas.openxmlformats.org/officeDocument/2006/relationships/notesMaster" Target="/ppt/notesMasters/notesMaster1.xml" Id="Re08562a907a347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8c42cb7dd3467d" /><Relationship Type="http://schemas.openxmlformats.org/officeDocument/2006/relationships/notesMaster" Target="/ppt/notesMasters/notesMaster1.xml" Id="Rd4d946ee5b554a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eb2245eb3d4419" /><Relationship Type="http://schemas.openxmlformats.org/officeDocument/2006/relationships/notesMaster" Target="/ppt/notesMasters/notesMaster1.xml" Id="Rd6798fa863614d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Superseded cover framing, retained for audit only (replaced 2026-08-13):</a:t>
            </a:r>
          </a:p>
          <a:p xmlns:a="http://schemas.openxmlformats.org/drawingml/2006/main">
            <a:r>
              <a:t>"Application product lock. Company wedge not locked."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- repo:docs/PRODUCT_DECISION.md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workspace:10_GIFT_CITY/00_CONTROL/STATUS.md</a:t>
            </a:r>
          </a:p>
          <a:p xmlns:a="http://schemas.openxmlformats.org/drawingml/2006/main">
            <a:r>
              <a:t>- workspace:10_GIFT_CITY/00_CONTROL/DECISION_LOG.md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https://www.ifsca.gov.in/Document/Tender/concept-note_drr-consultation_2003202520032025073433.pdf</a:t>
            </a:r>
          </a:p>
          <a:p xmlns:a="http://schemas.openxmlformats.org/drawingml/2006/main">
            <a:r>
              <a:t>- https://www.ifsca.gov.in/CommonDirect/ViewFile?fileName=Award_of_Contract_under_RFPs_for_DRR_Solution_and_ERP_System_20260309_0153.pdf&amp;id=d575554ec59b09e7fde503d3a82787c7</a:t>
            </a:r>
          </a:p>
          <a:p xmlns:a="http://schemas.openxmlformats.org/drawingml/2006/main">
            <a:r>
              <a:t>- https://bsmedia.business-standard.com/_media/bs/data/announcements/bse/29012026/13c21166-8138-4630-a8b3-4f6b2202472e.pdf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repo:data/synthetic-case.json</a:t>
            </a:r>
          </a:p>
          <a:p xmlns:a="http://schemas.openxmlformats.org/drawingml/2006/main">
            <a:r>
              <a:t>- repo:src/case-engine.js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- repo:src/case-engine.js</a:t>
            </a:r>
          </a:p>
          <a:p xmlns:a="http://schemas.openxmlformats.org/drawingml/2006/main">
            <a:r>
              <a:t>- repo:src/manifest.js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repo:prototype/app.js</a:t>
            </a:r>
          </a:p>
          <a:p xmlns:a="http://schemas.openxmlformats.org/drawingml/2006/main">
            <a:r>
              <a:t>- repo:artifacts/prototype-trace-1440.png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repo:artifacts/prototype-conflict-1440.png</a:t>
            </a:r>
          </a:p>
          <a:p xmlns:a="http://schemas.openxmlformats.org/drawingml/2006/main">
            <a:r>
              <a:t>- repo:artifacts/prototype-receipt-1440.png</a:t>
            </a:r>
          </a:p>
          <a:p xmlns:a="http://schemas.openxmlformats.org/drawingml/2006/main">
            <a:r>
              <a:t>- repo:.superpowers/sdd/2026-08-12-attest-submission-system/task-5-report.md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repo:docs/BUSINESS_VIABILITY.md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repo:docs/CONTRIBUTOR_SCOPE.md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https://www.giftifih.in/young-builders-program</a:t>
            </a:r>
          </a:p>
          <a:p xmlns:a="http://schemas.openxmlformats.org/drawingml/2006/main">
            <a:r>
              <a:t>- repo:docs/MEETING_BRIEF_2026-08-12.md</a:t>
            </a:r>
          </a:p>
          <a:p xmlns:a="http://schemas.openxmlformats.org/drawingml/2006/main">
            <a:r>
              <a:t>- repo:docs/PRODUCT_DECISION.md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d4a181ab284e6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edabf071a34653" /><Relationship Type="http://schemas.openxmlformats.org/officeDocument/2006/relationships/slideLayout" Target="/ppt/slideLayouts/slideLayout1.xml" Id="Rc2fa58d1cd0a40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fa58d1cd0a40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8d25516fe94907" /><Relationship Type="http://schemas.openxmlformats.org/officeDocument/2006/relationships/notesSlide" Target="/ppt/notesSlides/notesSlide1.xml" Id="Red4fc6e09c3446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7a43163a04731" /><Relationship Type="http://schemas.openxmlformats.org/officeDocument/2006/relationships/notesSlide" Target="/ppt/notesSlides/notesSlide2.xml" Id="R50d6397130e245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7c69ea46a4007" /><Relationship Type="http://schemas.openxmlformats.org/officeDocument/2006/relationships/notesSlide" Target="/ppt/notesSlides/notesSlide3.xml" Id="R402dc15b3d2f49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26b255a4cb4d39" /><Relationship Type="http://schemas.openxmlformats.org/officeDocument/2006/relationships/notesSlide" Target="/ppt/notesSlides/notesSlide4.xml" Id="Rbf36855c663e4a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c739ee74b4562" /><Relationship Type="http://schemas.openxmlformats.org/officeDocument/2006/relationships/notesSlide" Target="/ppt/notesSlides/notesSlide5.xml" Id="Reea8b6c3d3734c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4a8ba39d9443e9" /><Relationship Type="http://schemas.openxmlformats.org/officeDocument/2006/relationships/notesSlide" Target="/ppt/notesSlides/notesSlide6.xml" Id="R5e6cd911cbdd4a1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a3fd93ffd43ca" /><Relationship Type="http://schemas.openxmlformats.org/officeDocument/2006/relationships/image" Target="/ppt/media/image.png" Id="R5af87368242f4434" /><Relationship Type="http://schemas.openxmlformats.org/officeDocument/2006/relationships/image" Target="/ppt/media/image2.png" Id="R5991bfc67f8d40e2" /><Relationship Type="http://schemas.openxmlformats.org/officeDocument/2006/relationships/notesSlide" Target="/ppt/notesSlides/notesSlide7.xml" Id="R35d7023508674d4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5de5738e2d4c2a" /><Relationship Type="http://schemas.openxmlformats.org/officeDocument/2006/relationships/notesSlide" Target="/ppt/notesSlides/notesSlide8.xml" Id="R4169c1c4e94e43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c0a4c3f4014e8e" /><Relationship Type="http://schemas.openxmlformats.org/officeDocument/2006/relationships/notesSlide" Target="/ppt/notesSlides/notesSlide9.xml" Id="Ra78d414cfa9342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81407198841f7" /><Relationship Type="http://schemas.openxmlformats.org/officeDocument/2006/relationships/notesSlide" Target="/ppt/notesSlides/notesSlide10.xml" Id="R5657d605e3cf41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ver-navy-field">
            <a:extLst xmlns:a="http://schemas.openxmlformats.org/drawingml/2006/main">
              <a:ext uri="{FF2B5EF4-FFF2-40B4-BE49-F238E27FC236}">
                <a16:creationId xmlns:a16="http://schemas.microsoft.com/office/drawing/2014/main" id="{ECAE0C58-9A95-4EB7-B6E3-A66CC1B9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0"/>
            <a:ext cx="2590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4"/>
          </a:solidFill>
          <a:ln xmlns:a="http://schemas.openxmlformats.org/drawingml/2006/main" w="0">
            <a:solidFill>
              <a:srgbClr val="0A1F44"/>
            </a:solidFill>
            <a:prstDash val="solid"/>
          </a:ln>
        </p:spPr>
      </p:sp>
      <p:sp>
        <p:nvSpPr>
          <p:cNvPr id="2" name="cover-brass-spine">
            <a:extLst xmlns:a="http://schemas.openxmlformats.org/drawingml/2006/main">
              <a:ext uri="{FF2B5EF4-FFF2-40B4-BE49-F238E27FC236}">
                <a16:creationId xmlns:a16="http://schemas.microsoft.com/office/drawing/2014/main" id="{E66CE90F-0747-4694-9429-06737F47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3" name="brand-1">
            <a:extLst xmlns:a="http://schemas.openxmlformats.org/drawingml/2006/main">
              <a:ext uri="{FF2B5EF4-FFF2-40B4-BE49-F238E27FC236}">
                <a16:creationId xmlns:a16="http://schemas.microsoft.com/office/drawing/2014/main" id="{9A15F9E1-8C37-42B8-9728-A7784F51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7EEC7EA-4F5C-4813-988B-9D497B22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809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57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KRISEVA ATTEST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40A6919-D0B0-484A-BADA-2FE33436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695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0F0E0B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F0E0B"/>
                </a:solidFill>
                <a:latin typeface="Georgia"/>
                <a:ea typeface="Georgia"/>
                <a:cs typeface="Georgia"/>
              </a:rPr>
              <a:t>An entity-side evidence-integrity and human-accountability layer for AI-assisted regulatory reporting in GIFT IFSC.</a:t>
            </a:r>
          </a:p>
        </p:txBody>
      </p:sp>
      <p:sp>
        <p:nvSpPr>
          <p:cNvPr id="6" name="cover-rule">
            <a:extLst xmlns:a="http://schemas.openxmlformats.org/drawingml/2006/main">
              <a:ext uri="{FF2B5EF4-FFF2-40B4-BE49-F238E27FC236}">
                <a16:creationId xmlns:a16="http://schemas.microsoft.com/office/drawing/2014/main" id="{FE1C2740-C63A-4AE6-9BFD-61A97DF3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24300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cover-lock">
            <a:extLst xmlns:a="http://schemas.openxmlformats.org/drawingml/2006/main">
              <a:ext uri="{FF2B5EF4-FFF2-40B4-BE49-F238E27FC236}">
                <a16:creationId xmlns:a16="http://schemas.microsoft.com/office/drawing/2014/main" id="{851A4A76-B55D-4814-86B6-007D7D79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619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This prototype is final for this application. Whether it becomes the company's product is deliberately still open.</a:t>
            </a:r>
          </a:p>
        </p:txBody>
      </p:sp>
      <p:sp>
        <p:nvSpPr>
          <p:cNvPr id="8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D7C227E2-EFCF-4EC6-A9D0-99445C32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Research-stage prototype · synthetic data · no filing · no regulator connection</a:t>
            </a:r>
          </a:p>
        </p:txBody>
      </p:sp>
      <p:sp>
        <p:nvSpPr>
          <p:cNvPr id="9" name="cover-number">
            <a:extLst xmlns:a="http://schemas.openxmlformats.org/drawingml/2006/main">
              <a:ext uri="{FF2B5EF4-FFF2-40B4-BE49-F238E27FC236}">
                <a16:creationId xmlns:a16="http://schemas.microsoft.com/office/drawing/2014/main" id="{F86FF196-F22A-414C-8671-1DA18B5D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562100"/>
            <a:ext cx="1809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 i="0">
                <a:solidFill>
                  <a:srgbClr val="A87229"/>
                </a:solidFill>
                <a:latin typeface="Georgia"/>
                <a:ea typeface="Georgia"/>
                <a:cs typeface="Georgia"/>
              </a:defRPr>
            </a:pPr>
            <a:r>
              <a:rPr sz="8100" b="0" i="0">
                <a:solidFill>
                  <a:srgbClr val="A87229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cover-classification">
            <a:extLst xmlns:a="http://schemas.openxmlformats.org/drawingml/2006/main">
              <a:ext uri="{FF2B5EF4-FFF2-40B4-BE49-F238E27FC236}">
                <a16:creationId xmlns:a16="http://schemas.microsoft.com/office/drawing/2014/main" id="{2B4B381D-AD8B-42FD-89E0-0C619081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43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GIFT IFIH</a:t>
            </a:r>
          </a:p>
          <a:p xmlns:a="http://schemas.openxmlformats.org/drawingml/2006/main">
            <a:pPr algn="l">
              <a:def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YOUNG BUILDERS</a:t>
            </a:r>
          </a:p>
          <a:p xmlns:a="http://schemas.openxmlformats.org/drawingml/2006/main">
            <a:pPr algn="l">
              <a:def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2026</a:t>
            </a:r>
          </a:p>
        </p:txBody>
      </p:sp>
      <p:sp>
        <p:nvSpPr>
          <p:cNvPr id="11" name="cover-page">
            <a:extLst xmlns:a="http://schemas.openxmlformats.org/drawingml/2006/main">
              <a:ext uri="{FF2B5EF4-FFF2-40B4-BE49-F238E27FC236}">
                <a16:creationId xmlns:a16="http://schemas.microsoft.com/office/drawing/2014/main" id="{EFE5A2BA-C557-46E1-847A-D15A205E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905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APPLICATION EVIDENCE</a:t>
            </a:r>
          </a:p>
        </p:txBody>
      </p:sp>
      <p:sp>
        <p:nvSpPr>
          <p:cNvPr id="12" name="footer-cover-url">
            <a:extLst xmlns:a="http://schemas.openxmlformats.org/drawingml/2006/main">
              <a:ext uri="{FF2B5EF4-FFF2-40B4-BE49-F238E27FC236}">
                <a16:creationId xmlns:a16="http://schemas.microsoft.com/office/drawing/2014/main" id="{80AD3597-C50B-43DA-9319-82D23385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62865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ayushtiwary-ops.github.io</a:t>
            </a:r>
          </a:p>
          <a:p xmlns:a="http://schemas.openxmlformats.org/drawingml/2006/main">
            <a:pPr algn="l">
              <a:def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/kriseva-attest</a:t>
            </a:r>
          </a:p>
        </p:txBody>
      </p:sp>
    </p:spTree>
    <p:extLst>
      <p:ext uri="{BB962C8B-B14F-4D97-AF65-F5344CB8AC3E}">
        <p14:creationId xmlns:p14="http://schemas.microsoft.com/office/powerpoint/2010/main" val="18207028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-2">
            <a:extLst xmlns:a="http://schemas.openxmlformats.org/drawingml/2006/main">
              <a:ext uri="{FF2B5EF4-FFF2-40B4-BE49-F238E27FC236}">
                <a16:creationId xmlns:a16="http://schemas.microsoft.com/office/drawing/2014/main" id="{483AD6F6-7ABF-4DAE-9973-FE574A3C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F9D8DE36-8DA2-409E-A218-65AAD20C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A human still owns the source question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2535721F-A868-449C-9649-290DE64C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731B2884-1F18-484B-B508-BB6CE270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FD982E19-D6DB-49B8-851B-620A4E58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02 / 10</a:t>
            </a:r>
          </a:p>
        </p:txBody>
      </p:sp>
      <p:sp>
        <p:nvSpPr>
          <p:cNvPr id="6" name="accountability-divider">
            <a:extLst xmlns:a="http://schemas.openxmlformats.org/drawingml/2006/main">
              <a:ext uri="{FF2B5EF4-FFF2-40B4-BE49-F238E27FC236}">
                <a16:creationId xmlns:a16="http://schemas.microsoft.com/office/drawing/2014/main" id="{DB296407-80E9-4F9E-A0E0-FE1E032F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28750"/>
            <a:ext cx="0" cy="409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accountability-label">
            <a:extLst xmlns:a="http://schemas.openxmlformats.org/drawingml/2006/main">
              <a:ext uri="{FF2B5EF4-FFF2-40B4-BE49-F238E27FC236}">
                <a16:creationId xmlns:a16="http://schemas.microsoft.com/office/drawing/2014/main" id="{5567905A-60F0-402A-99F6-807456B9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ACCOUNTABILITY QUESTION</a:t>
            </a:r>
          </a:p>
        </p:txBody>
      </p:sp>
      <p:sp>
        <p:nvSpPr>
          <p:cNvPr id="8" name="accountability-structured">
            <a:extLst xmlns:a="http://schemas.openxmlformats.org/drawingml/2006/main">
              <a:ext uri="{FF2B5EF4-FFF2-40B4-BE49-F238E27FC236}">
                <a16:creationId xmlns:a16="http://schemas.microsoft.com/office/drawing/2014/main" id="{854AD8B5-DDFE-4CD5-8097-ABAFD96C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Structured returns do not remove the source question.</a:t>
            </a:r>
          </a:p>
        </p:txBody>
      </p:sp>
      <p:sp>
        <p:nvSpPr>
          <p:cNvPr id="9" name="accountability-question">
            <a:extLst xmlns:a="http://schemas.openxmlformats.org/drawingml/2006/main">
              <a:ext uri="{FF2B5EF4-FFF2-40B4-BE49-F238E27FC236}">
                <a16:creationId xmlns:a16="http://schemas.microsoft.com/office/drawing/2014/main" id="{7FD5189C-0482-47C9-900A-52171AB6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5524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F0E0B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F0E0B"/>
                </a:solidFill>
                <a:latin typeface="Georgia"/>
                <a:ea typeface="Georgia"/>
                <a:cs typeface="Georgia"/>
              </a:rPr>
              <a:t>Which source supports this reported field?</a:t>
            </a:r>
          </a:p>
        </p:txBody>
      </p:sp>
      <p:sp>
        <p:nvSpPr>
          <p:cNvPr id="10" name="footer-accountability-caption-1">
            <a:extLst xmlns:a="http://schemas.openxmlformats.org/drawingml/2006/main">
              <a:ext uri="{FF2B5EF4-FFF2-40B4-BE49-F238E27FC236}">
                <a16:creationId xmlns:a16="http://schemas.microsoft.com/office/drawing/2014/main" id="{0A73404A-3F72-4D4E-938B-77DB6542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3830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STATEMENT</a:t>
            </a:r>
          </a:p>
        </p:txBody>
      </p:sp>
      <p:sp>
        <p:nvSpPr>
          <p:cNvPr id="11" name="accountability-source-rule-1">
            <a:extLst xmlns:a="http://schemas.openxmlformats.org/drawingml/2006/main">
              <a:ext uri="{FF2B5EF4-FFF2-40B4-BE49-F238E27FC236}">
                <a16:creationId xmlns:a16="http://schemas.microsoft.com/office/drawing/2014/main" id="{47D9072E-75BA-4451-AA6B-9059EF94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2" name="footer-accountability-caption-2">
            <a:extLst xmlns:a="http://schemas.openxmlformats.org/drawingml/2006/main">
              <a:ext uri="{FF2B5EF4-FFF2-40B4-BE49-F238E27FC236}">
                <a16:creationId xmlns:a16="http://schemas.microsoft.com/office/drawing/2014/main" id="{AB17C0A6-1326-42D0-8D49-A1EBF7D4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LEDGER</a:t>
            </a:r>
          </a:p>
        </p:txBody>
      </p:sp>
      <p:sp>
        <p:nvSpPr>
          <p:cNvPr id="13" name="accountability-source-rule-2">
            <a:extLst xmlns:a="http://schemas.openxmlformats.org/drawingml/2006/main">
              <a:ext uri="{FF2B5EF4-FFF2-40B4-BE49-F238E27FC236}">
                <a16:creationId xmlns:a16="http://schemas.microsoft.com/office/drawing/2014/main" id="{7E627656-2C74-41B5-9226-36DC001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765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4" name="footer-accountability-caption-3">
            <a:extLst xmlns:a="http://schemas.openxmlformats.org/drawingml/2006/main">
              <a:ext uri="{FF2B5EF4-FFF2-40B4-BE49-F238E27FC236}">
                <a16:creationId xmlns:a16="http://schemas.microsoft.com/office/drawing/2014/main" id="{0531EEE4-FC26-41BE-94F6-95D71D2E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9560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SCHEDULE</a:t>
            </a:r>
          </a:p>
        </p:txBody>
      </p:sp>
      <p:sp>
        <p:nvSpPr>
          <p:cNvPr id="15" name="accountability-source-rule-3">
            <a:extLst xmlns:a="http://schemas.openxmlformats.org/drawingml/2006/main">
              <a:ext uri="{FF2B5EF4-FFF2-40B4-BE49-F238E27FC236}">
                <a16:creationId xmlns:a16="http://schemas.microsoft.com/office/drawing/2014/main" id="{E163EFE4-5767-417E-B904-88265B8C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051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6" name="accountability-evidence">
            <a:extLst xmlns:a="http://schemas.openxmlformats.org/drawingml/2006/main">
              <a:ext uri="{FF2B5EF4-FFF2-40B4-BE49-F238E27FC236}">
                <a16:creationId xmlns:a16="http://schemas.microsoft.com/office/drawing/2014/main" id="{3A730EEA-2817-4D78-A86A-39F4D8B1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29000"/>
            <a:ext cx="3905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Statements, ledgers and schedules can disagree or leave evidence missing.</a:t>
            </a:r>
          </a:p>
        </p:txBody>
      </p:sp>
      <p:sp>
        <p:nvSpPr>
          <p:cNvPr id="17" name="accountability-unknowns">
            <a:extLst xmlns:a="http://schemas.openxmlformats.org/drawingml/2006/main">
              <a:ext uri="{FF2B5EF4-FFF2-40B4-BE49-F238E27FC236}">
                <a16:creationId xmlns:a16="http://schemas.microsoft.com/office/drawing/2014/main" id="{1FA6EF2D-4007-44BE-AAEC-80951585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25B53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625B53"/>
                </a:solidFill>
                <a:latin typeface="Arial"/>
                <a:ea typeface="Arial"/>
                <a:cs typeface="Arial"/>
              </a:rPr>
              <a:t>The operator, buyer, frequency, pain and willingness to pay remain unvalidated.</a:t>
            </a:r>
          </a:p>
        </p:txBody>
      </p:sp>
    </p:spTree>
    <p:extLst>
      <p:ext uri="{BB962C8B-B14F-4D97-AF65-F5344CB8AC3E}">
        <p14:creationId xmlns:p14="http://schemas.microsoft.com/office/powerpoint/2010/main" val="10755785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rand-3">
            <a:extLst xmlns:a="http://schemas.openxmlformats.org/drawingml/2006/main">
              <a:ext uri="{FF2B5EF4-FFF2-40B4-BE49-F238E27FC236}">
                <a16:creationId xmlns:a16="http://schemas.microsoft.com/office/drawing/2014/main" id="{BAE23166-96F8-4234-BAA0-E59BD452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0486F919-0B1F-40AA-BC22-1BD8009A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DRR targets submission; evidence starts upstream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2793382D-949E-4D90-BAE5-F5E546B6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1C89E6DA-E3A1-4D2C-A32B-7F304E02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D62B68B1-3EBC-4065-95EC-220A77B2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03 / 10</a:t>
            </a:r>
          </a:p>
        </p:txBody>
      </p:sp>
      <p:sp>
        <p:nvSpPr>
          <p:cNvPr id="6" name="boundary-left">
            <a:extLst xmlns:a="http://schemas.openxmlformats.org/drawingml/2006/main">
              <a:ext uri="{FF2B5EF4-FFF2-40B4-BE49-F238E27FC236}">
                <a16:creationId xmlns:a16="http://schemas.microsoft.com/office/drawing/2014/main" id="{F88BF26A-E80D-4CB4-8F00-B08D75DF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33500"/>
            <a:ext cx="6096000" cy="501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4"/>
          </a:solidFill>
          <a:ln xmlns:a="http://schemas.openxmlformats.org/drawingml/2006/main" w="0">
            <a:solidFill>
              <a:srgbClr val="0A1F44"/>
            </a:solidFill>
            <a:prstDash val="solid"/>
          </a:ln>
        </p:spPr>
      </p:sp>
      <p:sp>
        <p:nvSpPr>
          <p:cNvPr id="7" name="boundary-spine">
            <a:extLst xmlns:a="http://schemas.openxmlformats.org/drawingml/2006/main">
              <a:ext uri="{FF2B5EF4-FFF2-40B4-BE49-F238E27FC236}">
                <a16:creationId xmlns:a16="http://schemas.microsoft.com/office/drawing/2014/main" id="{BB5EF693-22EE-4943-88FA-432639F6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33500"/>
            <a:ext cx="0" cy="501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8" name="boundary-drr">
            <a:extLst xmlns:a="http://schemas.openxmlformats.org/drawingml/2006/main">
              <a:ext uri="{FF2B5EF4-FFF2-40B4-BE49-F238E27FC236}">
                <a16:creationId xmlns:a16="http://schemas.microsoft.com/office/drawing/2014/main" id="{22752193-F23B-483A-A92C-3BE88B97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48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DRR</a:t>
            </a:r>
          </a:p>
        </p:txBody>
      </p:sp>
      <p:sp>
        <p:nvSpPr>
          <p:cNvPr id="9" name="boundary-drr-copy">
            <a:extLst xmlns:a="http://schemas.openxmlformats.org/drawingml/2006/main">
              <a:ext uri="{FF2B5EF4-FFF2-40B4-BE49-F238E27FC236}">
                <a16:creationId xmlns:a16="http://schemas.microsoft.com/office/drawing/2014/main" id="{9AFBDE2F-3A9C-445D-9949-4A3904E4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DRR (IFSCA's Digital Regulatory Reporting platform, procured 2026): structured reporting channels, validation and submission infrastructure.</a:t>
            </a:r>
          </a:p>
        </p:txBody>
      </p:sp>
      <p:sp>
        <p:nvSpPr>
          <p:cNvPr id="10" name="boundary-attest">
            <a:extLst xmlns:a="http://schemas.openxmlformats.org/drawingml/2006/main">
              <a:ext uri="{FF2B5EF4-FFF2-40B4-BE49-F238E27FC236}">
                <a16:creationId xmlns:a16="http://schemas.microsoft.com/office/drawing/2014/main" id="{44DD6B83-209E-43F0-81D0-700BEFBF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526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48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ATTEST</a:t>
            </a:r>
          </a:p>
        </p:txBody>
      </p:sp>
      <p:sp>
        <p:nvSpPr>
          <p:cNvPr id="11" name="boundary-attest-copy">
            <a:extLst xmlns:a="http://schemas.openxmlformats.org/drawingml/2006/main">
              <a:ext uri="{FF2B5EF4-FFF2-40B4-BE49-F238E27FC236}">
                <a16:creationId xmlns:a16="http://schemas.microsoft.com/office/drawing/2014/main" id="{F7C76B3C-24A0-427C-B690-5F376FBC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8130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0F0E0B"/>
                </a:solidFill>
                <a:latin typeface="Georgia"/>
                <a:ea typeface="Georgia"/>
                <a:cs typeface="Georgia"/>
              </a:defRPr>
            </a:pPr>
            <a:r>
              <a:rPr sz="2025" b="0" i="0">
                <a:solidFill>
                  <a:srgbClr val="0F0E0B"/>
                </a:solidFill>
                <a:latin typeface="Georgia"/>
                <a:ea typeface="Georgia"/>
                <a:cs typeface="Georgia"/>
              </a:rPr>
              <a:t>Provider-neutral source references, disagreement and human review</a:t>
            </a:r>
          </a:p>
        </p:txBody>
      </p:sp>
      <p:sp>
        <p:nvSpPr>
          <p:cNvPr id="12" name="boundary-limit">
            <a:extLst xmlns:a="http://schemas.openxmlformats.org/drawingml/2006/main">
              <a:ext uri="{FF2B5EF4-FFF2-40B4-BE49-F238E27FC236}">
                <a16:creationId xmlns:a16="http://schemas.microsoft.com/office/drawing/2014/main" id="{B53B91C6-DA77-482D-81A4-E5718307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96491A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96491A"/>
                </a:solidFill>
                <a:latin typeface="Arial"/>
                <a:ea typeface="Arial"/>
                <a:cs typeface="Arial"/>
              </a:rPr>
              <a:t>No filing. No DRR connection. No claimed gap.</a:t>
            </a:r>
          </a:p>
        </p:txBody>
      </p:sp>
      <p:sp>
        <p:nvSpPr>
          <p:cNvPr id="13" name="boundary-absence">
            <a:extLst xmlns:a="http://schemas.openxmlformats.org/drawingml/2006/main">
              <a:ext uri="{FF2B5EF4-FFF2-40B4-BE49-F238E27FC236}">
                <a16:creationId xmlns:a16="http://schemas.microsoft.com/office/drawing/2014/main" id="{A96A5B6F-E37F-4DDF-884C-2D9F02BF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391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A87229"/>
                </a:solidFill>
                <a:latin typeface="Arial"/>
                <a:ea typeface="Arial"/>
                <a:cs typeface="Arial"/>
              </a:rPr>
              <a:t>Public absence is not proof.</a:t>
            </a:r>
          </a:p>
        </p:txBody>
      </p:sp>
    </p:spTree>
    <p:extLst>
      <p:ext uri="{BB962C8B-B14F-4D97-AF65-F5344CB8AC3E}">
        <p14:creationId xmlns:p14="http://schemas.microsoft.com/office/powerpoint/2010/main" val="4932478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ED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brand-4">
            <a:extLst xmlns:a="http://schemas.openxmlformats.org/drawingml/2006/main">
              <a:ext uri="{FF2B5EF4-FFF2-40B4-BE49-F238E27FC236}">
                <a16:creationId xmlns:a16="http://schemas.microsoft.com/office/drawing/2014/main" id="{6CECD602-4F9E-402D-8756-82ED046D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2FA0F33B-C122-42A5-A536-2B45CE2F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One fictional case makes three evidence states visible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BA5397BF-3D91-4059-ABB9-4B817561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1D655F3A-CAD6-48E1-9969-CF8BF9F2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C1AC1C35-36CF-4373-9A01-55AC40A3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04 / 10</a:t>
            </a:r>
          </a:p>
        </p:txBody>
      </p:sp>
      <p:sp>
        <p:nvSpPr>
          <p:cNvPr id="6" name="case-entity">
            <a:extLst xmlns:a="http://schemas.openxmlformats.org/drawingml/2006/main">
              <a:ext uri="{FF2B5EF4-FFF2-40B4-BE49-F238E27FC236}">
                <a16:creationId xmlns:a16="http://schemas.microsoft.com/office/drawing/2014/main" id="{35D1B3B9-6D89-41B2-A783-D1C7D0D6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38300"/>
            <a:ext cx="3238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Meridian Horizon Fund I (Meridian Horizon Fund Management IFSC Pvt Ltd)</a:t>
            </a:r>
          </a:p>
        </p:txBody>
      </p:sp>
      <p:sp>
        <p:nvSpPr>
          <p:cNvPr id="7" name="case-period">
            <a:extLst xmlns:a="http://schemas.openxmlformats.org/drawingml/2006/main">
              <a:ext uri="{FF2B5EF4-FFF2-40B4-BE49-F238E27FC236}">
                <a16:creationId xmlns:a16="http://schemas.microsoft.com/office/drawing/2014/main" id="{FA4B7DEF-7EF4-4FE3-ADB2-9EF603A8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F0E0B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0F0E0B"/>
                </a:solidFill>
                <a:latin typeface="Courier New"/>
                <a:ea typeface="Courier New"/>
                <a:cs typeface="Courier New"/>
              </a:rPr>
              <a:t>QE 30 Jun 2026</a:t>
            </a:r>
          </a:p>
        </p:txBody>
      </p:sp>
      <p:sp>
        <p:nvSpPr>
          <p:cNvPr id="8" name="case-marker">
            <a:extLst xmlns:a="http://schemas.openxmlformats.org/drawingml/2006/main">
              <a:ext uri="{FF2B5EF4-FFF2-40B4-BE49-F238E27FC236}">
                <a16:creationId xmlns:a16="http://schemas.microsoft.com/office/drawing/2014/main" id="{87ECAA54-D382-493C-A5FF-641B84F7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FICTIONAL</a:t>
            </a:r>
          </a:p>
        </p:txBody>
      </p:sp>
      <p:sp>
        <p:nvSpPr>
          <p:cNvPr id="9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85379972-0F5E-4B29-8B89-051167E6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47800"/>
            <a:ext cx="0" cy="430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10" name="case-row-rule-1">
            <a:extLst xmlns:a="http://schemas.openxmlformats.org/drawingml/2006/main">
              <a:ext uri="{FF2B5EF4-FFF2-40B4-BE49-F238E27FC236}">
                <a16:creationId xmlns:a16="http://schemas.microsoft.com/office/drawing/2014/main" id="{A6E27DEE-0C21-4C75-A160-16EF949B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1" name="case-row-status-1">
            <a:extLst xmlns:a="http://schemas.openxmlformats.org/drawingml/2006/main">
              <a:ext uri="{FF2B5EF4-FFF2-40B4-BE49-F238E27FC236}">
                <a16:creationId xmlns:a16="http://schemas.microsoft.com/office/drawing/2014/main" id="{67D93016-6F00-4809-BF8A-F1CF84CB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5621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15B4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215B43"/>
                </a:solidFill>
                <a:latin typeface="Courier New"/>
                <a:ea typeface="Courier New"/>
                <a:cs typeface="Courier New"/>
              </a:rPr>
              <a:t>SUPPORTED</a:t>
            </a:r>
          </a:p>
        </p:txBody>
      </p:sp>
      <p:sp>
        <p:nvSpPr>
          <p:cNvPr id="12" name="case-row-label-1">
            <a:extLst xmlns:a="http://schemas.openxmlformats.org/drawingml/2006/main">
              <a:ext uri="{FF2B5EF4-FFF2-40B4-BE49-F238E27FC236}">
                <a16:creationId xmlns:a16="http://schemas.microsoft.com/office/drawing/2014/main" id="{1B8AA4E8-4832-42BE-B175-8B06C550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669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Closing NAV</a:t>
            </a:r>
          </a:p>
        </p:txBody>
      </p:sp>
      <p:sp>
        <p:nvSpPr>
          <p:cNvPr id="13" name="case-row-copy-1">
            <a:extLst xmlns:a="http://schemas.openxmlformats.org/drawingml/2006/main">
              <a:ext uri="{FF2B5EF4-FFF2-40B4-BE49-F238E27FC236}">
                <a16:creationId xmlns:a16="http://schemas.microsoft.com/office/drawing/2014/main" id="{C7356FAB-C612-4B0A-8069-B0BC8D4C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9240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F0E0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F0E0B"/>
                </a:solidFill>
                <a:latin typeface="Arial"/>
                <a:ea typeface="Arial"/>
                <a:cs typeface="Arial"/>
              </a:rPr>
              <a:t>USD 12.4M agrees across two sources</a:t>
            </a:r>
          </a:p>
        </p:txBody>
      </p:sp>
      <p:sp>
        <p:nvSpPr>
          <p:cNvPr id="14" name="case-row-rule-2">
            <a:extLst xmlns:a="http://schemas.openxmlformats.org/drawingml/2006/main">
              <a:ext uri="{FF2B5EF4-FFF2-40B4-BE49-F238E27FC236}">
                <a16:creationId xmlns:a16="http://schemas.microsoft.com/office/drawing/2014/main" id="{B3AB5365-1B3E-4330-96C8-72B4BD1F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3860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5" name="case-row-status-2">
            <a:extLst xmlns:a="http://schemas.openxmlformats.org/drawingml/2006/main">
              <a:ext uri="{FF2B5EF4-FFF2-40B4-BE49-F238E27FC236}">
                <a16:creationId xmlns:a16="http://schemas.microsoft.com/office/drawing/2014/main" id="{9BC9C06D-9AC5-447E-AA04-C473CEAD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14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rPr>
              <a:t>CONFLICTING</a:t>
            </a:r>
          </a:p>
        </p:txBody>
      </p:sp>
      <p:sp>
        <p:nvSpPr>
          <p:cNvPr id="16" name="case-row-label-2">
            <a:extLst xmlns:a="http://schemas.openxmlformats.org/drawingml/2006/main">
              <a:ext uri="{FF2B5EF4-FFF2-40B4-BE49-F238E27FC236}">
                <a16:creationId xmlns:a16="http://schemas.microsoft.com/office/drawing/2014/main" id="{B80D2B04-E8CE-452C-B00D-91AB33F3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Committed capital</a:t>
            </a:r>
          </a:p>
        </p:txBody>
      </p:sp>
      <p:sp>
        <p:nvSpPr>
          <p:cNvPr id="17" name="case-row-copy-2">
            <a:extLst xmlns:a="http://schemas.openxmlformats.org/drawingml/2006/main">
              <a:ext uri="{FF2B5EF4-FFF2-40B4-BE49-F238E27FC236}">
                <a16:creationId xmlns:a16="http://schemas.microsoft.com/office/drawing/2014/main" id="{25C4AC7A-7986-409E-86AD-EA43B0B1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766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F0E0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F0E0B"/>
                </a:solidFill>
                <a:latin typeface="Arial"/>
                <a:ea typeface="Arial"/>
                <a:cs typeface="Arial"/>
              </a:rPr>
              <a:t>USD 25M vs USD 24M</a:t>
            </a:r>
          </a:p>
        </p:txBody>
      </p:sp>
      <p:sp>
        <p:nvSpPr>
          <p:cNvPr id="18" name="case-row-rule-3">
            <a:extLst xmlns:a="http://schemas.openxmlformats.org/drawingml/2006/main">
              <a:ext uri="{FF2B5EF4-FFF2-40B4-BE49-F238E27FC236}">
                <a16:creationId xmlns:a16="http://schemas.microsoft.com/office/drawing/2014/main" id="{918B263F-2E7F-4EA2-A82F-EE4ED733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3911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9" name="case-row-status-3">
            <a:extLst xmlns:a="http://schemas.openxmlformats.org/drawingml/2006/main">
              <a:ext uri="{FF2B5EF4-FFF2-40B4-BE49-F238E27FC236}">
                <a16:creationId xmlns:a16="http://schemas.microsoft.com/office/drawing/2014/main" id="{B14B8BEF-A1D7-4FF3-86F4-F90B2F8B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672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UNSUPPORTED</a:t>
            </a:r>
          </a:p>
        </p:txBody>
      </p:sp>
      <p:sp>
        <p:nvSpPr>
          <p:cNvPr id="20" name="case-row-label-3">
            <a:extLst xmlns:a="http://schemas.openxmlformats.org/drawingml/2006/main">
              <a:ext uri="{FF2B5EF4-FFF2-40B4-BE49-F238E27FC236}">
                <a16:creationId xmlns:a16="http://schemas.microsoft.com/office/drawing/2014/main" id="{82552732-0A6D-4B67-9EAE-7ACEB413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5720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Complaints closed</a:t>
            </a:r>
          </a:p>
        </p:txBody>
      </p:sp>
      <p:sp>
        <p:nvSpPr>
          <p:cNvPr id="21" name="case-row-copy-3">
            <a:extLst xmlns:a="http://schemas.openxmlformats.org/drawingml/2006/main">
              <a:ext uri="{FF2B5EF4-FFF2-40B4-BE49-F238E27FC236}">
                <a16:creationId xmlns:a16="http://schemas.microsoft.com/office/drawing/2014/main" id="{8433842B-C615-4D0A-87B8-D554DF38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291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F0E0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F0E0B"/>
                </a:solidFill>
                <a:latin typeface="Arial"/>
                <a:ea typeface="Arial"/>
                <a:cs typeface="Arial"/>
              </a:rPr>
              <a:t>no candidate evidence</a:t>
            </a:r>
          </a:p>
        </p:txBody>
      </p:sp>
    </p:spTree>
    <p:extLst>
      <p:ext uri="{BB962C8B-B14F-4D97-AF65-F5344CB8AC3E}">
        <p14:creationId xmlns:p14="http://schemas.microsoft.com/office/powerpoint/2010/main" val="15233474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rand-5">
            <a:extLst xmlns:a="http://schemas.openxmlformats.org/drawingml/2006/main">
              <a:ext uri="{FF2B5EF4-FFF2-40B4-BE49-F238E27FC236}">
                <a16:creationId xmlns:a16="http://schemas.microsoft.com/office/drawing/2014/main" id="{F2EF9ADF-E62E-4F89-8B07-A07E8524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37166FED-DE7E-458C-9220-DC40BFD8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Preserve the handoff, not just the answer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F9EE294D-37F3-4C0F-BDFA-F4CD2335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26774910-91B4-43AE-B923-5F3F99DA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98A160C-8730-435B-9007-7066BCC1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05 / 10</a:t>
            </a:r>
          </a:p>
        </p:txBody>
      </p:sp>
      <p:sp>
        <p:nvSpPr>
          <p:cNvPr id="6" name="workflow-rail">
            <a:extLst xmlns:a="http://schemas.openxmlformats.org/drawingml/2006/main">
              <a:ext uri="{FF2B5EF4-FFF2-40B4-BE49-F238E27FC236}">
                <a16:creationId xmlns:a16="http://schemas.microsoft.com/office/drawing/2014/main" id="{B8628C73-6E47-4AB2-B848-25A70B4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7" name="workflow-tick-1">
            <a:extLst xmlns:a="http://schemas.openxmlformats.org/drawingml/2006/main">
              <a:ext uri="{FF2B5EF4-FFF2-40B4-BE49-F238E27FC236}">
                <a16:creationId xmlns:a16="http://schemas.microsoft.com/office/drawing/2014/main" id="{9EAC902D-EFAC-4B39-A1AD-18BD825E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8" name="workflow-step-1">
            <a:extLst xmlns:a="http://schemas.openxmlformats.org/drawingml/2006/main">
              <a:ext uri="{FF2B5EF4-FFF2-40B4-BE49-F238E27FC236}">
                <a16:creationId xmlns:a16="http://schemas.microsoft.com/office/drawing/2014/main" id="{81B5573F-6685-4D0E-8E7E-68C9576E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01 SOURCE · exact page, region or cell</a:t>
            </a:r>
          </a:p>
        </p:txBody>
      </p:sp>
      <p:sp>
        <p:nvSpPr>
          <p:cNvPr id="9" name="workflow-tick-2">
            <a:extLst xmlns:a="http://schemas.openxmlformats.org/drawingml/2006/main">
              <a:ext uri="{FF2B5EF4-FFF2-40B4-BE49-F238E27FC236}">
                <a16:creationId xmlns:a16="http://schemas.microsoft.com/office/drawing/2014/main" id="{E5679DDF-F8F7-4438-8E71-85D57E49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0" name="workflow-step-2">
            <a:extLst xmlns:a="http://schemas.openxmlformats.org/drawingml/2006/main">
              <a:ext uri="{FF2B5EF4-FFF2-40B4-BE49-F238E27FC236}">
                <a16:creationId xmlns:a16="http://schemas.microsoft.com/office/drawing/2014/main" id="{EC48741A-B1CB-45BB-A3F6-7E327984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714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02 COMPARE · preserve agreement and disagreement</a:t>
            </a:r>
          </a:p>
        </p:txBody>
      </p:sp>
      <p:sp>
        <p:nvSpPr>
          <p:cNvPr id="11" name="workflow-tick-3">
            <a:extLst xmlns:a="http://schemas.openxmlformats.org/drawingml/2006/main">
              <a:ext uri="{FF2B5EF4-FFF2-40B4-BE49-F238E27FC236}">
                <a16:creationId xmlns:a16="http://schemas.microsoft.com/office/drawing/2014/main" id="{80BAE232-41F0-4015-916D-B2ECC9A7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2" name="workflow-step-3">
            <a:extLst xmlns:a="http://schemas.openxmlformats.org/drawingml/2006/main">
              <a:ext uri="{FF2B5EF4-FFF2-40B4-BE49-F238E27FC236}">
                <a16:creationId xmlns:a16="http://schemas.microsoft.com/office/drawing/2014/main" id="{5EDE5F60-ACDD-472B-AA18-3496FC18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09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03 ESCALATE · no default winner</a:t>
            </a:r>
          </a:p>
        </p:txBody>
      </p:sp>
      <p:sp>
        <p:nvSpPr>
          <p:cNvPr id="13" name="workflow-tick-4">
            <a:extLst xmlns:a="http://schemas.openxmlformats.org/drawingml/2006/main">
              <a:ext uri="{FF2B5EF4-FFF2-40B4-BE49-F238E27FC236}">
                <a16:creationId xmlns:a16="http://schemas.microsoft.com/office/drawing/2014/main" id="{D4F9CCC4-29E1-4BAF-9A30-9A59781F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4" name="workflow-step-4">
            <a:extLst xmlns:a="http://schemas.openxmlformats.org/drawingml/2006/main">
              <a:ext uri="{FF2B5EF4-FFF2-40B4-BE49-F238E27FC236}">
                <a16:creationId xmlns:a16="http://schemas.microsoft.com/office/drawing/2014/main" id="{7B6A2C6D-3897-4C6A-AFC5-FDF8EAE7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14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04 DECIDE · named reviewer and reason</a:t>
            </a:r>
          </a:p>
        </p:txBody>
      </p:sp>
      <p:sp>
        <p:nvSpPr>
          <p:cNvPr id="15" name="workflow-tick-5">
            <a:extLst xmlns:a="http://schemas.openxmlformats.org/drawingml/2006/main">
              <a:ext uri="{FF2B5EF4-FFF2-40B4-BE49-F238E27FC236}">
                <a16:creationId xmlns:a16="http://schemas.microsoft.com/office/drawing/2014/main" id="{AB62E838-9CA2-41C9-9833-6E8DFFA3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6" name="workflow-step-5">
            <a:extLst xmlns:a="http://schemas.openxmlformats.org/drawingml/2006/main">
              <a:ext uri="{FF2B5EF4-FFF2-40B4-BE49-F238E27FC236}">
                <a16:creationId xmlns:a16="http://schemas.microsoft.com/office/drawing/2014/main" id="{CEF3956A-9AA5-4607-A7AF-B5A7C578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809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05 RETAIN · local JSON and printable HTML manifest</a:t>
            </a:r>
          </a:p>
        </p:txBody>
      </p:sp>
    </p:spTree>
    <p:extLst>
      <p:ext uri="{BB962C8B-B14F-4D97-AF65-F5344CB8AC3E}">
        <p14:creationId xmlns:p14="http://schemas.microsoft.com/office/powerpoint/2010/main" val="1176288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1F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-6">
            <a:extLst xmlns:a="http://schemas.openxmlformats.org/drawingml/2006/main">
              <a:ext uri="{FF2B5EF4-FFF2-40B4-BE49-F238E27FC236}">
                <a16:creationId xmlns:a16="http://schemas.microsoft.com/office/drawing/2014/main" id="{1D16B1B1-2FB8-4E41-ADF3-3A0721C1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D6B0749F-B29D-458F-9D0D-224B9DA6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The prototype knows when to stop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0A8D0246-45A9-4B91-A3C5-8A460700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3EDE0"/>
            </a:solidFill>
            <a:prstDash val="solid"/>
          </a:ln>
        </p:spPr>
      </p:sp>
      <p:sp>
        <p:nvSpPr>
          <p:cNvPr id="4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464F718D-1242-43E0-8CA3-55EB5534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E15AFA2E-99B6-45C9-9A8C-51C086D8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06 / 10</a:t>
            </a:r>
          </a:p>
        </p:txBody>
      </p:sp>
      <p:sp>
        <p:nvSpPr>
          <p:cNvPr id="6" name="agent-trace-label">
            <a:extLst xmlns:a="http://schemas.openxmlformats.org/drawingml/2006/main">
              <a:ext uri="{FF2B5EF4-FFF2-40B4-BE49-F238E27FC236}">
                <a16:creationId xmlns:a16="http://schemas.microsoft.com/office/drawing/2014/main" id="{AF88FC5B-3297-4E0F-AFE0-FF2C31F3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DETERMINISTIC TRACE</a:t>
            </a:r>
          </a:p>
        </p:txBody>
      </p:sp>
      <p:sp>
        <p:nvSpPr>
          <p:cNvPr id="7" name="agent-trace-spine">
            <a:extLst xmlns:a="http://schemas.openxmlformats.org/drawingml/2006/main">
              <a:ext uri="{FF2B5EF4-FFF2-40B4-BE49-F238E27FC236}">
                <a16:creationId xmlns:a16="http://schemas.microsoft.com/office/drawing/2014/main" id="{F24CA72F-AE1F-4238-8017-FBE89FB5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621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8" name="agent-propose">
            <a:extLst xmlns:a="http://schemas.openxmlformats.org/drawingml/2006/main">
              <a:ext uri="{FF2B5EF4-FFF2-40B4-BE49-F238E27FC236}">
                <a16:creationId xmlns:a16="http://schemas.microsoft.com/office/drawing/2014/main" id="{744BA642-E9AB-464C-8B25-2962C307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PROPOSE</a:t>
            </a:r>
          </a:p>
        </p:txBody>
      </p:sp>
      <p:sp>
        <p:nvSpPr>
          <p:cNvPr id="9" name="agent-propose-copy">
            <a:extLst xmlns:a="http://schemas.openxmlformats.org/drawingml/2006/main">
              <a:ext uri="{FF2B5EF4-FFF2-40B4-BE49-F238E27FC236}">
                <a16:creationId xmlns:a16="http://schemas.microsoft.com/office/drawing/2014/main" id="{6465D55D-E20D-4B79-BC46-3D93279F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383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candidate evidence and exact references</a:t>
            </a:r>
          </a:p>
        </p:txBody>
      </p:sp>
      <p:sp>
        <p:nvSpPr>
          <p:cNvPr id="10" name="agent-abstain">
            <a:extLst xmlns:a="http://schemas.openxmlformats.org/drawingml/2006/main">
              <a:ext uri="{FF2B5EF4-FFF2-40B4-BE49-F238E27FC236}">
                <a16:creationId xmlns:a16="http://schemas.microsoft.com/office/drawing/2014/main" id="{36FB67B7-7E14-4685-984B-D1AD7628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90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345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ABSTAIN</a:t>
            </a:r>
          </a:p>
        </p:txBody>
      </p:sp>
      <p:sp>
        <p:nvSpPr>
          <p:cNvPr id="11" name="agent-abstain-copy">
            <a:extLst xmlns:a="http://schemas.openxmlformats.org/drawingml/2006/main">
              <a:ext uri="{FF2B5EF4-FFF2-40B4-BE49-F238E27FC236}">
                <a16:creationId xmlns:a16="http://schemas.microsoft.com/office/drawing/2014/main" id="{9F593706-ED12-4B5C-A40B-5DC57796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7660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no candidate evidence; request more</a:t>
            </a:r>
          </a:p>
        </p:txBody>
      </p:sp>
      <p:sp>
        <p:nvSpPr>
          <p:cNvPr id="12" name="agent-decide">
            <a:extLst xmlns:a="http://schemas.openxmlformats.org/drawingml/2006/main">
              <a:ext uri="{FF2B5EF4-FFF2-40B4-BE49-F238E27FC236}">
                <a16:creationId xmlns:a16="http://schemas.microsoft.com/office/drawing/2014/main" id="{5A353405-019C-4C9F-8506-998C79C8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DECIDE</a:t>
            </a:r>
          </a:p>
        </p:txBody>
      </p:sp>
      <p:sp>
        <p:nvSpPr>
          <p:cNvPr id="13" name="agent-decide-copy">
            <a:extLst xmlns:a="http://schemas.openxmlformats.org/drawingml/2006/main">
              <a:ext uri="{FF2B5EF4-FFF2-40B4-BE49-F238E27FC236}">
                <a16:creationId xmlns:a16="http://schemas.microsoft.com/office/drawing/2014/main" id="{E6BA24BF-81D0-4251-98B6-A84E6012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05350"/>
            <a:ext cx="4476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only a named human can accept, correct, reject or defer</a:t>
            </a:r>
          </a:p>
        </p:txBody>
      </p:sp>
      <p:sp>
        <p:nvSpPr>
          <p:cNvPr id="14" name="agent-boundary-rule">
            <a:extLst xmlns:a="http://schemas.openxmlformats.org/drawingml/2006/main">
              <a:ext uri="{FF2B5EF4-FFF2-40B4-BE49-F238E27FC236}">
                <a16:creationId xmlns:a16="http://schemas.microsoft.com/office/drawing/2014/main" id="{98F06A96-6944-4338-AA42-9811BA9A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38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15" name="agent-boundary-copy">
            <a:extLst xmlns:a="http://schemas.openxmlformats.org/drawingml/2006/main">
              <a:ext uri="{FF2B5EF4-FFF2-40B4-BE49-F238E27FC236}">
                <a16:creationId xmlns:a16="http://schemas.microsoft.com/office/drawing/2014/main" id="{A15D304F-82E4-44FE-BBB3-43CF3159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2857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A87229"/>
                </a:solidFill>
                <a:latin typeface="Georgia"/>
                <a:ea typeface="Georgia"/>
                <a:cs typeface="Georgia"/>
              </a:defRPr>
            </a:pPr>
            <a:r>
              <a:rPr sz="1950" b="0" i="0">
                <a:solidFill>
                  <a:srgbClr val="A87229"/>
                </a:solidFill>
                <a:latin typeface="Georgia"/>
                <a:ea typeface="Georgia"/>
                <a:cs typeface="Georgia"/>
              </a:rPr>
              <a:t>No live model. No compliance conclusion. Harness built and tested before any model enters.</a:t>
            </a:r>
          </a:p>
        </p:txBody>
      </p:sp>
    </p:spTree>
    <p:extLst>
      <p:ext uri="{BB962C8B-B14F-4D97-AF65-F5344CB8AC3E}">
        <p14:creationId xmlns:p14="http://schemas.microsoft.com/office/powerpoint/2010/main" val="11523603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brand-7">
            <a:extLst xmlns:a="http://schemas.openxmlformats.org/drawingml/2006/main">
              <a:ext uri="{FF2B5EF4-FFF2-40B4-BE49-F238E27FC236}">
                <a16:creationId xmlns:a16="http://schemas.microsoft.com/office/drawing/2014/main" id="{E2BCE0D4-44A8-4C15-A986-336DB30E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BDEADBE9-F76B-46B0-969B-79E69B85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The current build exposes the full evidence record</a:t>
            </a:r>
          </a:p>
        </p:txBody>
      </p:sp>
      <p:sp>
        <p:nvSpPr>
          <p:cNvPr id="3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8055BC13-BCEB-4087-8B7A-C64E6659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C67693F0-3BB6-440A-BA5C-54FBACCA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7F950B24-5174-4589-9B90-9506047A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07 / 10</a:t>
            </a:r>
          </a:p>
        </p:txBody>
      </p:sp>
      <p:sp>
        <p:nvSpPr>
          <p:cNvPr id="6" name="prototype-proof-label">
            <a:extLst xmlns:a="http://schemas.openxmlformats.org/drawingml/2006/main">
              <a:ext uri="{FF2B5EF4-FFF2-40B4-BE49-F238E27FC236}">
                <a16:creationId xmlns:a16="http://schemas.microsoft.com/office/drawing/2014/main" id="{3FCD8AC6-592D-4242-AAEA-6BBB4009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CURRENT LOCAL BUILD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87368242f4434"/>
          <a:srcRect xmlns:a="http://schemas.openxmlformats.org/drawingml/2006/main" l="0" t="9" r="0" b="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1075" y="1619250"/>
            <a:ext cx="3600450" cy="3667125"/>
          </a:xfrm>
          <a:prstGeom xmlns:a="http://schemas.openxmlformats.org/drawingml/2006/main" prst="rect">
            <a:avLst/>
          </a:prstGeom>
        </p:spPr>
      </p:pic>
      <p:sp>
        <p:nvSpPr>
          <p:cNvPr id="8" name="prototype-conflict-border">
            <a:extLst xmlns:a="http://schemas.openxmlformats.org/drawingml/2006/main">
              <a:ext uri="{FF2B5EF4-FFF2-40B4-BE49-F238E27FC236}">
                <a16:creationId xmlns:a16="http://schemas.microsoft.com/office/drawing/2014/main" id="{52982A98-C98E-425A-8680-C7D20CB5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619250"/>
            <a:ext cx="36004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91bfc67f8d40e2"/>
          <a:srcRect xmlns:a="http://schemas.openxmlformats.org/drawingml/2006/main" l="19" t="0" r="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2525" y="1619250"/>
            <a:ext cx="6248400" cy="3667125"/>
          </a:xfrm>
          <a:prstGeom xmlns:a="http://schemas.openxmlformats.org/drawingml/2006/main" prst="rect">
            <a:avLst/>
          </a:prstGeom>
        </p:spPr>
      </p:pic>
      <p:sp>
        <p:nvSpPr>
          <p:cNvPr id="10" name="prototype-receipt-border">
            <a:extLst xmlns:a="http://schemas.openxmlformats.org/drawingml/2006/main">
              <a:ext uri="{FF2B5EF4-FFF2-40B4-BE49-F238E27FC236}">
                <a16:creationId xmlns:a16="http://schemas.microsoft.com/office/drawing/2014/main" id="{8FC7D5D9-8FF8-47C5-9C5C-177AC283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1619250"/>
            <a:ext cx="624840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11" name="prototype-callout-1">
            <a:extLst xmlns:a="http://schemas.openxmlformats.org/drawingml/2006/main">
              <a:ext uri="{FF2B5EF4-FFF2-40B4-BE49-F238E27FC236}">
                <a16:creationId xmlns:a16="http://schemas.microsoft.com/office/drawing/2014/main" id="{ADD48A61-FFEA-484C-BF42-A23C03E8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Conflict stays side by side.</a:t>
            </a:r>
          </a:p>
        </p:txBody>
      </p:sp>
      <p:sp>
        <p:nvSpPr>
          <p:cNvPr id="12" name="prototype-callout-2">
            <a:extLst xmlns:a="http://schemas.openxmlformats.org/drawingml/2006/main">
              <a:ext uri="{FF2B5EF4-FFF2-40B4-BE49-F238E27FC236}">
                <a16:creationId xmlns:a16="http://schemas.microsoft.com/office/drawing/2014/main" id="{2690611F-7F7D-4B62-BAA6-A7BD41FD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4292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Human reason is required.</a:t>
            </a:r>
          </a:p>
        </p:txBody>
      </p:sp>
      <p:sp>
        <p:nvSpPr>
          <p:cNvPr id="13" name="prototype-callout-3">
            <a:extLst xmlns:a="http://schemas.openxmlformats.org/drawingml/2006/main">
              <a:ext uri="{FF2B5EF4-FFF2-40B4-BE49-F238E27FC236}">
                <a16:creationId xmlns:a16="http://schemas.microsoft.com/office/drawing/2014/main" id="{283AB623-BF26-48C2-9291-ED8B02F0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4292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Receipt retains fingerprints, both candidates and unresolved evidence.</a:t>
            </a:r>
          </a:p>
        </p:txBody>
      </p:sp>
      <p:sp>
        <p:nvSpPr>
          <p:cNvPr id="14" name="prototype-callout-4">
            <a:extLst xmlns:a="http://schemas.openxmlformats.org/drawingml/2006/main">
              <a:ext uri="{FF2B5EF4-FFF2-40B4-BE49-F238E27FC236}">
                <a16:creationId xmlns:a16="http://schemas.microsoft.com/office/drawing/2014/main" id="{83565B9E-4FB2-4242-A174-6FBBC1C8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429250"/>
            <a:ext cx="276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96491A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96491A"/>
                </a:solidFill>
                <a:latin typeface="Arial"/>
                <a:ea typeface="Arial"/>
                <a:cs typeface="Arial"/>
              </a:rPr>
              <a:t>Synthetic data only · no filing · no regulator connection</a:t>
            </a:r>
          </a:p>
        </p:txBody>
      </p:sp>
    </p:spTree>
    <p:extLst>
      <p:ext uri="{BB962C8B-B14F-4D97-AF65-F5344CB8AC3E}">
        <p14:creationId xmlns:p14="http://schemas.microsoft.com/office/powerpoint/2010/main" val="14403112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ED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brand-8">
            <a:extLst xmlns:a="http://schemas.openxmlformats.org/drawingml/2006/main">
              <a:ext uri="{FF2B5EF4-FFF2-40B4-BE49-F238E27FC236}">
                <a16:creationId xmlns:a16="http://schemas.microsoft.com/office/drawing/2014/main" id="{C393EB5C-76F7-4FB3-B1F9-9BEDD84C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056EE1AA-4225-4C0B-8B2D-E94299C0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Revenue here is a sensitivity test, not a forecast</a:t>
            </a:r>
          </a:p>
        </p:txBody>
      </p:sp>
      <p:sp>
        <p:nvSpPr>
          <p:cNvPr id="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244245E5-A828-4D7C-99D9-BA8765CD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6A3EA32E-5350-4A41-9E38-5A35F059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C11D7712-0085-4FF1-9881-D8B32B96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08 / 10</a:t>
            </a:r>
          </a:p>
        </p:txBody>
      </p:sp>
      <p:sp>
        <p:nvSpPr>
          <p:cNvPr id="6" name="sensitivity-label">
            <a:extLst xmlns:a="http://schemas.openxmlformats.org/drawingml/2006/main">
              <a:ext uri="{FF2B5EF4-FFF2-40B4-BE49-F238E27FC236}">
                <a16:creationId xmlns:a16="http://schemas.microsoft.com/office/drawing/2014/main" id="{E58C721B-1F66-4218-8B26-A62F2371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ILLUSTRATIVE ARR SENSITIVITY</a:t>
            </a:r>
          </a:p>
        </p:txBody>
      </p:sp>
      <p:sp>
        <p:nvSpPr>
          <p:cNvPr id="7" name="sensitivity-row-0">
            <a:extLst xmlns:a="http://schemas.openxmlformats.org/drawingml/2006/main">
              <a:ext uri="{FF2B5EF4-FFF2-40B4-BE49-F238E27FC236}">
                <a16:creationId xmlns:a16="http://schemas.microsoft.com/office/drawing/2014/main" id="{9A68329D-752D-40D7-8657-152C8ADC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270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8" name="sensitivity-0-0">
            <a:extLst xmlns:a="http://schemas.openxmlformats.org/drawingml/2006/main">
              <a:ext uri="{FF2B5EF4-FFF2-40B4-BE49-F238E27FC236}">
                <a16:creationId xmlns:a16="http://schemas.microsoft.com/office/drawing/2014/main" id="{BF239B8A-DB38-4178-99B3-1FA94544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ENTITIES</a:t>
            </a:r>
          </a:p>
        </p:txBody>
      </p:sp>
      <p:sp>
        <p:nvSpPr>
          <p:cNvPr id="9" name="sensitivity-0-1">
            <a:extLst xmlns:a="http://schemas.openxmlformats.org/drawingml/2006/main">
              <a:ext uri="{FF2B5EF4-FFF2-40B4-BE49-F238E27FC236}">
                <a16:creationId xmlns:a16="http://schemas.microsoft.com/office/drawing/2014/main" id="{D7EB377B-A100-4975-83BA-AD4C8803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7526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₹3L</a:t>
            </a:r>
          </a:p>
        </p:txBody>
      </p:sp>
      <p:sp>
        <p:nvSpPr>
          <p:cNvPr id="10" name="sensitivity-0-2">
            <a:extLst xmlns:a="http://schemas.openxmlformats.org/drawingml/2006/main">
              <a:ext uri="{FF2B5EF4-FFF2-40B4-BE49-F238E27FC236}">
                <a16:creationId xmlns:a16="http://schemas.microsoft.com/office/drawing/2014/main" id="{1DB424AF-5968-43DA-8185-A0600F6E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526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₹12L</a:t>
            </a:r>
          </a:p>
        </p:txBody>
      </p:sp>
      <p:sp>
        <p:nvSpPr>
          <p:cNvPr id="11" name="sensitivity-row-1">
            <a:extLst xmlns:a="http://schemas.openxmlformats.org/drawingml/2006/main">
              <a:ext uri="{FF2B5EF4-FFF2-40B4-BE49-F238E27FC236}">
                <a16:creationId xmlns:a16="http://schemas.microsoft.com/office/drawing/2014/main" id="{396D2DCA-D27A-410D-8503-6D5DD988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2" name="sensitivity-1-0">
            <a:extLst xmlns:a="http://schemas.openxmlformats.org/drawingml/2006/main">
              <a:ext uri="{FF2B5EF4-FFF2-40B4-BE49-F238E27FC236}">
                <a16:creationId xmlns:a16="http://schemas.microsoft.com/office/drawing/2014/main" id="{51F65D88-A456-4409-A904-5DA168DB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27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13" name="sensitivity-1-1">
            <a:extLst xmlns:a="http://schemas.openxmlformats.org/drawingml/2006/main">
              <a:ext uri="{FF2B5EF4-FFF2-40B4-BE49-F238E27FC236}">
                <a16:creationId xmlns:a16="http://schemas.microsoft.com/office/drawing/2014/main" id="{F1D95808-0229-4603-84C6-F02DD582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527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₹15L</a:t>
            </a:r>
          </a:p>
        </p:txBody>
      </p:sp>
      <p:sp>
        <p:nvSpPr>
          <p:cNvPr id="14" name="sensitivity-1-2">
            <a:extLst xmlns:a="http://schemas.openxmlformats.org/drawingml/2006/main">
              <a:ext uri="{FF2B5EF4-FFF2-40B4-BE49-F238E27FC236}">
                <a16:creationId xmlns:a16="http://schemas.microsoft.com/office/drawing/2014/main" id="{E4C0A8E2-3D48-463D-9B7B-6B39DFF2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527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₹60L</a:t>
            </a:r>
          </a:p>
        </p:txBody>
      </p:sp>
      <p:sp>
        <p:nvSpPr>
          <p:cNvPr id="15" name="sensitivity-row-2">
            <a:extLst xmlns:a="http://schemas.openxmlformats.org/drawingml/2006/main">
              <a:ext uri="{FF2B5EF4-FFF2-40B4-BE49-F238E27FC236}">
                <a16:creationId xmlns:a16="http://schemas.microsoft.com/office/drawing/2014/main" id="{1D7C3EDB-81BC-4310-AB03-18C09ED7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5290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6" name="sensitivity-2-0">
            <a:extLst xmlns:a="http://schemas.openxmlformats.org/drawingml/2006/main">
              <a:ext uri="{FF2B5EF4-FFF2-40B4-BE49-F238E27FC236}">
                <a16:creationId xmlns:a16="http://schemas.microsoft.com/office/drawing/2014/main" id="{DAB92C71-95CF-4872-A6C0-B992C7B5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50</a:t>
            </a:r>
          </a:p>
        </p:txBody>
      </p:sp>
      <p:sp>
        <p:nvSpPr>
          <p:cNvPr id="17" name="sensitivity-2-1">
            <a:extLst xmlns:a="http://schemas.openxmlformats.org/drawingml/2006/main">
              <a:ext uri="{FF2B5EF4-FFF2-40B4-BE49-F238E27FC236}">
                <a16:creationId xmlns:a16="http://schemas.microsoft.com/office/drawing/2014/main" id="{E87B8FB9-49C2-41A7-939A-55C9BBCC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528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₹1.5Cr</a:t>
            </a:r>
          </a:p>
        </p:txBody>
      </p:sp>
      <p:sp>
        <p:nvSpPr>
          <p:cNvPr id="18" name="sensitivity-2-2">
            <a:extLst xmlns:a="http://schemas.openxmlformats.org/drawingml/2006/main">
              <a:ext uri="{FF2B5EF4-FFF2-40B4-BE49-F238E27FC236}">
                <a16:creationId xmlns:a16="http://schemas.microsoft.com/office/drawing/2014/main" id="{48CCD3C7-2E44-4F90-9698-CF7857E3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528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₹6Cr</a:t>
            </a:r>
          </a:p>
        </p:txBody>
      </p:sp>
      <p:sp>
        <p:nvSpPr>
          <p:cNvPr id="19" name="sensitivity-divider">
            <a:extLst xmlns:a="http://schemas.openxmlformats.org/drawingml/2006/main">
              <a:ext uri="{FF2B5EF4-FFF2-40B4-BE49-F238E27FC236}">
                <a16:creationId xmlns:a16="http://schemas.microsoft.com/office/drawing/2014/main" id="{D0CFAFDA-4F62-49D0-BEC4-34A60A1A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24000"/>
            <a:ext cx="0" cy="390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20" name="sensitivity-gates">
            <a:extLst xmlns:a="http://schemas.openxmlformats.org/drawingml/2006/main">
              <a:ext uri="{FF2B5EF4-FFF2-40B4-BE49-F238E27FC236}">
                <a16:creationId xmlns:a16="http://schemas.microsoft.com/office/drawing/2014/main" id="{40F9F9F8-E982-4C4D-B4D6-2003E8A7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09750"/>
            <a:ext cx="4000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Unproven gates: buyer, bundling risk, legal perimeter, paid test, support economics</a:t>
            </a:r>
          </a:p>
        </p:txBody>
      </p:sp>
      <p:sp>
        <p:nvSpPr>
          <p:cNvPr id="21" name="footer-sensitivity-hypothesis-label">
            <a:extLst xmlns:a="http://schemas.openxmlformats.org/drawingml/2006/main">
              <a:ext uri="{FF2B5EF4-FFF2-40B4-BE49-F238E27FC236}">
                <a16:creationId xmlns:a16="http://schemas.microsoft.com/office/drawing/2014/main" id="{975121EB-8515-4224-89B9-FC72CAAA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766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rPr>
              <a:t>HYPOTHESIS</a:t>
            </a:r>
          </a:p>
        </p:txBody>
      </p:sp>
      <p:sp>
        <p:nvSpPr>
          <p:cNvPr id="22" name="sensitivity-hypothesis">
            <a:extLst xmlns:a="http://schemas.openxmlformats.org/drawingml/2006/main">
              <a:ext uri="{FF2B5EF4-FFF2-40B4-BE49-F238E27FC236}">
                <a16:creationId xmlns:a16="http://schemas.microsoft.com/office/drawing/2014/main" id="{D3A2EEC9-8916-4EFE-8757-2D986585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05200"/>
            <a:ext cx="4000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1">
                <a:solidFill>
                  <a:srgbClr val="96491A"/>
                </a:solidFill>
                <a:latin typeface="Arial"/>
                <a:ea typeface="Arial"/>
                <a:cs typeface="Arial"/>
              </a:defRPr>
            </a:pPr>
            <a:r>
              <a:rPr sz="1650" b="0" i="1">
                <a:solidFill>
                  <a:srgbClr val="96491A"/>
                </a:solidFill>
                <a:latin typeface="Arial"/>
                <a:ea typeface="Arial"/>
                <a:cs typeface="Arial"/>
              </a:rPr>
              <a:t>If the wedge locks: the same evidence substrate extends to adjacent regulated-reporting workflows (hypothesis)</a:t>
            </a:r>
          </a:p>
        </p:txBody>
      </p:sp>
      <p:sp>
        <p:nvSpPr>
          <p:cNvPr id="23" name="sensitivity-disclaimer">
            <a:extLst xmlns:a="http://schemas.openxmlformats.org/drawingml/2006/main">
              <a:ext uri="{FF2B5EF4-FFF2-40B4-BE49-F238E27FC236}">
                <a16:creationId xmlns:a16="http://schemas.microsoft.com/office/drawing/2014/main" id="{12BAC862-31CA-442E-B9AC-17759796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053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25B53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625B53"/>
                </a:solidFill>
                <a:latin typeface="Georgia"/>
                <a:ea typeface="Georgia"/>
                <a:cs typeface="Georgia"/>
              </a:rPr>
              <a:t>Not TAM/WTP.</a:t>
            </a:r>
          </a:p>
        </p:txBody>
      </p:sp>
    </p:spTree>
    <p:extLst>
      <p:ext uri="{BB962C8B-B14F-4D97-AF65-F5344CB8AC3E}">
        <p14:creationId xmlns:p14="http://schemas.microsoft.com/office/powerpoint/2010/main" val="21389416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-9">
            <a:extLst xmlns:a="http://schemas.openxmlformats.org/drawingml/2006/main">
              <a:ext uri="{FF2B5EF4-FFF2-40B4-BE49-F238E27FC236}">
                <a16:creationId xmlns:a16="http://schemas.microsoft.com/office/drawing/2014/main" id="{5E3FCE95-F6B0-4C3D-87E8-212ACF88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5F5F0988-BBF1-4587-B214-2EB37E7A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One accountable founder. One defined finance lane.</a:t>
            </a:r>
          </a:p>
        </p:txBody>
      </p:sp>
      <p:sp>
        <p:nvSpPr>
          <p:cNvPr id="3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4D275454-BC12-4803-A876-ECFDB5F3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9">
            <a:extLst xmlns:a="http://schemas.openxmlformats.org/drawingml/2006/main">
              <a:ext uri="{FF2B5EF4-FFF2-40B4-BE49-F238E27FC236}">
                <a16:creationId xmlns:a16="http://schemas.microsoft.com/office/drawing/2014/main" id="{29D24269-69B0-4931-966B-EB5B8575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5689CE29-1D90-4B60-B12D-BE2D6712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09 / 10</a:t>
            </a:r>
          </a:p>
        </p:txBody>
      </p:sp>
      <p:sp>
        <p:nvSpPr>
          <p:cNvPr id="6" name="ownership-divider">
            <a:extLst xmlns:a="http://schemas.openxmlformats.org/drawingml/2006/main">
              <a:ext uri="{FF2B5EF4-FFF2-40B4-BE49-F238E27FC236}">
                <a16:creationId xmlns:a16="http://schemas.microsoft.com/office/drawing/2014/main" id="{69F3A8AE-CA80-4EA6-B781-667BB141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0" cy="3257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ownership-ayush-label">
            <a:extLst xmlns:a="http://schemas.openxmlformats.org/drawingml/2006/main">
              <a:ext uri="{FF2B5EF4-FFF2-40B4-BE49-F238E27FC236}">
                <a16:creationId xmlns:a16="http://schemas.microsoft.com/office/drawing/2014/main" id="{B7492922-6295-49BD-A8A5-5E034DE3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AYUSH TIWARY</a:t>
            </a:r>
          </a:p>
        </p:txBody>
      </p:sp>
      <p:sp>
        <p:nvSpPr>
          <p:cNvPr id="8" name="ownership-ayush-copy">
            <a:extLst xmlns:a="http://schemas.openxmlformats.org/drawingml/2006/main">
              <a:ext uri="{FF2B5EF4-FFF2-40B4-BE49-F238E27FC236}">
                <a16:creationId xmlns:a16="http://schemas.microsoft.com/office/drawing/2014/main" id="{62C6EF1D-78F9-442B-BEFF-DAA3658F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476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Engineering, integration, test evidence, packaging. KRISEVA ships evidence-first, human-review procurement software in Indian defense today.</a:t>
            </a:r>
          </a:p>
        </p:txBody>
      </p:sp>
      <p:sp>
        <p:nvSpPr>
          <p:cNvPr id="9" name="ownership-finance-label">
            <a:extLst xmlns:a="http://schemas.openxmlformats.org/drawingml/2006/main">
              <a:ext uri="{FF2B5EF4-FFF2-40B4-BE49-F238E27FC236}">
                <a16:creationId xmlns:a16="http://schemas.microsoft.com/office/drawing/2014/main" id="{08ECCB14-61B2-4254-9232-2CD07240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335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FINANCE &amp; BUSINESS ANALYSIS LANE</a:t>
            </a:r>
          </a:p>
        </p:txBody>
      </p:sp>
      <p:sp>
        <p:nvSpPr>
          <p:cNvPr id="10" name="ownership-finance-copy">
            <a:extLst xmlns:a="http://schemas.openxmlformats.org/drawingml/2006/main">
              <a:ext uri="{FF2B5EF4-FFF2-40B4-BE49-F238E27FC236}">
                <a16:creationId xmlns:a16="http://schemas.microsoft.com/office/drawing/2014/main" id="{632FA287-4005-4C75-BAF4-80A6B6DC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762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Case consistency, buyer hypotheses, pricing research, workflow QA.</a:t>
            </a:r>
          </a:p>
        </p:txBody>
      </p:sp>
      <p:sp>
        <p:nvSpPr>
          <p:cNvPr id="11" name="ownership-gate-band">
            <a:extLst xmlns:a="http://schemas.openxmlformats.org/drawingml/2006/main">
              <a:ext uri="{FF2B5EF4-FFF2-40B4-BE49-F238E27FC236}">
                <a16:creationId xmlns:a16="http://schemas.microsoft.com/office/drawing/2014/main" id="{B9667BE7-CB82-48BA-8634-6B69C191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1104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4"/>
          </a:solidFill>
          <a:ln xmlns:a="http://schemas.openxmlformats.org/drawingml/2006/main" w="0">
            <a:solidFill>
              <a:srgbClr val="0A1F44"/>
            </a:solidFill>
            <a:prstDash val="solid"/>
          </a:ln>
        </p:spPr>
      </p:sp>
      <p:sp>
        <p:nvSpPr>
          <p:cNvPr id="12" name="ownership-gate">
            <a:extLst xmlns:a="http://schemas.openxmlformats.org/drawingml/2006/main">
              <a:ext uri="{FF2B5EF4-FFF2-40B4-BE49-F238E27FC236}">
                <a16:creationId xmlns:a16="http://schemas.microsoft.com/office/drawing/2014/main" id="{E79403AA-6A34-44DB-BF09-27F0347C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5780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3EDE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3EDE0"/>
                </a:solidFill>
                <a:latin typeface="Arial"/>
                <a:ea typeface="Arial"/>
                <a:cs typeface="Arial"/>
              </a:rPr>
              <a:t>Proposed contributor · pending written acceptance and public attribution.</a:t>
            </a:r>
          </a:p>
        </p:txBody>
      </p:sp>
    </p:spTree>
    <p:extLst>
      <p:ext uri="{BB962C8B-B14F-4D97-AF65-F5344CB8AC3E}">
        <p14:creationId xmlns:p14="http://schemas.microsoft.com/office/powerpoint/2010/main" val="12449123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1F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rand-10">
            <a:extLst xmlns:a="http://schemas.openxmlformats.org/drawingml/2006/main">
              <a:ext uri="{FF2B5EF4-FFF2-40B4-BE49-F238E27FC236}">
                <a16:creationId xmlns:a16="http://schemas.microsoft.com/office/drawing/2014/main" id="{75C87787-6BFC-4044-AEF7-911F4561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7FE1D891-C371-4152-BCFF-D57FD026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Use eight weeks to lock the wedge, or reject it</a:t>
            </a:r>
          </a:p>
        </p:txBody>
      </p:sp>
      <p:sp>
        <p:nvSpPr>
          <p:cNvPr id="3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B4F6C2AC-13D9-4B82-B744-8ED03548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3EDE0"/>
            </a:solidFill>
            <a:prstDash val="solid"/>
          </a:ln>
        </p:spPr>
      </p:sp>
      <p:sp>
        <p:nvSpPr>
          <p:cNvPr id="4" name="footer-source-10">
            <a:extLst xmlns:a="http://schemas.openxmlformats.org/drawingml/2006/main">
              <a:ext uri="{FF2B5EF4-FFF2-40B4-BE49-F238E27FC236}">
                <a16:creationId xmlns:a16="http://schemas.microsoft.com/office/drawing/2014/main" id="{918458B9-CFC0-4AE2-AD85-E15AC8E6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6EC571A5-91C1-4FE8-B18D-CDD64C07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10 / 10</a:t>
            </a:r>
          </a:p>
        </p:txBody>
      </p:sp>
      <p:sp>
        <p:nvSpPr>
          <p:cNvPr id="6" name="ask-spine">
            <a:extLst xmlns:a="http://schemas.openxmlformats.org/drawingml/2006/main">
              <a:ext uri="{FF2B5EF4-FFF2-40B4-BE49-F238E27FC236}">
                <a16:creationId xmlns:a16="http://schemas.microsoft.com/office/drawing/2014/main" id="{37791D56-050D-4A78-B0C1-EFBCDFD4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62100"/>
            <a:ext cx="0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ask-access-label">
            <a:extLst xmlns:a="http://schemas.openxmlformats.org/drawingml/2006/main">
              <a:ext uri="{FF2B5EF4-FFF2-40B4-BE49-F238E27FC236}">
                <a16:creationId xmlns:a16="http://schemas.microsoft.com/office/drawing/2014/main" id="{D86F18A2-56E1-47A2-9E5C-B26DD524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ACCESS</a:t>
            </a:r>
          </a:p>
        </p:txBody>
      </p:sp>
      <p:sp>
        <p:nvSpPr>
          <p:cNvPr id="8" name="ask-access-copy">
            <a:extLst xmlns:a="http://schemas.openxmlformats.org/drawingml/2006/main">
              <a:ext uri="{FF2B5EF4-FFF2-40B4-BE49-F238E27FC236}">
                <a16:creationId xmlns:a16="http://schemas.microsoft.com/office/drawing/2014/main" id="{AAC6FC8B-75A6-454A-AF69-068FA62D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4000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2 FME (fund management entity) officers + 2 administrators + 1 independent compliance provider</a:t>
            </a:r>
          </a:p>
        </p:txBody>
      </p:sp>
      <p:sp>
        <p:nvSpPr>
          <p:cNvPr id="9" name="ask-falsify">
            <a:extLst xmlns:a="http://schemas.openxmlformats.org/drawingml/2006/main">
              <a:ext uri="{FF2B5EF4-FFF2-40B4-BE49-F238E27FC236}">
                <a16:creationId xmlns:a16="http://schemas.microsoft.com/office/drawing/2014/main" id="{53A0BCF6-E748-41C6-9A8D-EF52053B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3810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95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Help us falsify quickly.</a:t>
            </a:r>
          </a:p>
        </p:txBody>
      </p:sp>
      <p:sp>
        <p:nvSpPr>
          <p:cNvPr id="10" name="ask-challenge-label">
            <a:extLst xmlns:a="http://schemas.openxmlformats.org/drawingml/2006/main">
              <a:ext uri="{FF2B5EF4-FFF2-40B4-BE49-F238E27FC236}">
                <a16:creationId xmlns:a16="http://schemas.microsoft.com/office/drawing/2014/main" id="{180F8B98-31AC-4E21-BA99-E41878A1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6954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CHALLENGE</a:t>
            </a:r>
          </a:p>
        </p:txBody>
      </p:sp>
      <p:sp>
        <p:nvSpPr>
          <p:cNvPr id="11" name="ask-challenge-copy">
            <a:extLst xmlns:a="http://schemas.openxmlformats.org/drawingml/2006/main">
              <a:ext uri="{FF2B5EF4-FFF2-40B4-BE49-F238E27FC236}">
                <a16:creationId xmlns:a16="http://schemas.microsoft.com/office/drawing/2014/main" id="{C49BA21A-ADD4-4C45-8B3A-C6629D34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14550"/>
            <a:ext cx="5524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21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Is upstream evidence outside DRR/bundled services?</a:t>
            </a:r>
          </a:p>
        </p:txBody>
      </p:sp>
      <p:sp>
        <p:nvSpPr>
          <p:cNvPr id="12" name="ask-test-label">
            <a:extLst xmlns:a="http://schemas.openxmlformats.org/drawingml/2006/main">
              <a:ext uri="{FF2B5EF4-FFF2-40B4-BE49-F238E27FC236}">
                <a16:creationId xmlns:a16="http://schemas.microsoft.com/office/drawing/2014/main" id="{280C98E4-6110-483B-AE43-33278D92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524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TEST</a:t>
            </a:r>
          </a:p>
        </p:txBody>
      </p:sp>
      <p:sp>
        <p:nvSpPr>
          <p:cNvPr id="13" name="ask-test-copy">
            <a:extLst xmlns:a="http://schemas.openxmlformats.org/drawingml/2006/main">
              <a:ext uri="{FF2B5EF4-FFF2-40B4-BE49-F238E27FC236}">
                <a16:creationId xmlns:a16="http://schemas.microsoft.com/office/drawing/2014/main" id="{781EAB79-6BB6-4172-B1EA-67621254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86200"/>
            <a:ext cx="533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F3EDE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F3EDE0"/>
                </a:solidFill>
                <a:latin typeface="Arial"/>
                <a:ea typeface="Arial"/>
                <a:cs typeface="Arial"/>
              </a:rPr>
              <a:t>One controlled synthetic workflow only if discovery survives</a:t>
            </a:r>
          </a:p>
        </p:txBody>
      </p:sp>
      <p:sp>
        <p:nvSpPr>
          <p:cNvPr id="14" name="ask-decide-label">
            <a:extLst xmlns:a="http://schemas.openxmlformats.org/drawingml/2006/main">
              <a:ext uri="{FF2B5EF4-FFF2-40B4-BE49-F238E27FC236}">
                <a16:creationId xmlns:a16="http://schemas.microsoft.com/office/drawing/2014/main" id="{7BFC0B19-6C69-4F0C-B80B-531A1037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9530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DECIDE</a:t>
            </a:r>
          </a:p>
        </p:txBody>
      </p:sp>
      <p:sp>
        <p:nvSpPr>
          <p:cNvPr id="15" name="ask-decide-copy">
            <a:extLst xmlns:a="http://schemas.openxmlformats.org/drawingml/2006/main">
              <a:ext uri="{FF2B5EF4-FFF2-40B4-BE49-F238E27FC236}">
                <a16:creationId xmlns:a16="http://schemas.microsoft.com/office/drawing/2014/main" id="{D6584F64-58E5-492B-B147-BE42E04C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9585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A87229"/>
                </a:solidFill>
                <a:latin typeface="Georgia"/>
                <a:ea typeface="Georgia"/>
                <a:cs typeface="Georgia"/>
              </a:defRPr>
            </a:pPr>
            <a:r>
              <a:rPr sz="2100" b="0" i="0">
                <a:solidFill>
                  <a:srgbClr val="A87229"/>
                </a:solidFill>
                <a:latin typeface="Georgia"/>
                <a:ea typeface="Georgia"/>
                <a:cs typeface="Georgia"/>
              </a:rPr>
              <a:t>Lock or reject by week 8</a:t>
            </a:r>
          </a:p>
        </p:txBody>
      </p:sp>
      <p:sp>
        <p:nvSpPr>
          <p:cNvPr id="16" name="footer-ask-links">
            <a:extLst xmlns:a="http://schemas.openxmlformats.org/drawingml/2006/main">
              <a:ext uri="{FF2B5EF4-FFF2-40B4-BE49-F238E27FC236}">
                <a16:creationId xmlns:a16="http://schemas.microsoft.com/office/drawing/2014/main" id="{1B15656D-B57F-49E5-8E19-3381C09B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Live: ayushtiwary-ops.github.io/kriseva-attest  ·  Code: github.com/ayushtiwary-ops/kriseva-attest</a:t>
            </a:r>
          </a:p>
        </p:txBody>
      </p:sp>
    </p:spTree>
    <p:extLst>
      <p:ext uri="{BB962C8B-B14F-4D97-AF65-F5344CB8AC3E}">
        <p14:creationId xmlns:p14="http://schemas.microsoft.com/office/powerpoint/2010/main" val="3381988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2026-08-13T13:45:06.5710000Z</dcterms:created>
  <dcterms:modified xsi:type="dcterms:W3CDTF">2026-08-13T13:45:06.5710000Z</dcterms:modified>
</coreProperties>
</file>