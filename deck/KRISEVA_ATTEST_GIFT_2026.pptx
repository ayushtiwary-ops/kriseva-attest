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8b85a0ac1e34351" /><Relationship Type="http://schemas.openxmlformats.org/officeDocument/2006/relationships/extended-properties" Target="/docProps/app.xml" Id="Rba642b7a4f1b4d7a" /><Relationship Type="http://schemas.openxmlformats.org/officeDocument/2006/relationships/officeDocument" Target="/ppt/presentation.xml" Id="R338ae5f33dc8462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40dc96fb1974dca"/>
  </p:sldMasterIdLst>
  <p:notesMasterIdLst>
    <p:notesMasterId xmlns:r="http://schemas.openxmlformats.org/officeDocument/2006/relationships" r:id="R63d7dc1d31234603"/>
  </p:notesMasterIdLst>
  <p:sldIdLst>
    <p:sldId xmlns:r="http://schemas.openxmlformats.org/officeDocument/2006/relationships" id="256" r:id="Rb7046164e1314215"/>
    <p:sldId xmlns:r="http://schemas.openxmlformats.org/officeDocument/2006/relationships" id="257" r:id="R9af5731eb2fa45ae"/>
    <p:sldId xmlns:r="http://schemas.openxmlformats.org/officeDocument/2006/relationships" id="258" r:id="R3c44464c7ad44e10"/>
    <p:sldId xmlns:r="http://schemas.openxmlformats.org/officeDocument/2006/relationships" id="259" r:id="R7d2cede707694b53"/>
    <p:sldId xmlns:r="http://schemas.openxmlformats.org/officeDocument/2006/relationships" id="260" r:id="R06f661682921437c"/>
    <p:sldId xmlns:r="http://schemas.openxmlformats.org/officeDocument/2006/relationships" id="261" r:id="R3862e6feb7d24ef6"/>
    <p:sldId xmlns:r="http://schemas.openxmlformats.org/officeDocument/2006/relationships" id="262" r:id="R3fda92ac727a4ad8"/>
    <p:sldId xmlns:r="http://schemas.openxmlformats.org/officeDocument/2006/relationships" id="263" r:id="Rf2eef61a22394ab3"/>
    <p:sldId xmlns:r="http://schemas.openxmlformats.org/officeDocument/2006/relationships" id="264" r:id="R91033edbf0f449f4"/>
    <p:sldId xmlns:r="http://schemas.openxmlformats.org/officeDocument/2006/relationships" id="265" r:id="Rf5a73399916f406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591e572c4304c35" /><Relationship Type="http://schemas.openxmlformats.org/officeDocument/2006/relationships/slideMaster" Target="/ppt/slideMasters/slideMaster1.xml" Id="Rf40dc96fb1974dca" /><Relationship Type="http://schemas.openxmlformats.org/officeDocument/2006/relationships/notesMaster" Target="/ppt/notesMasters/notesMaster1.xml" Id="R63d7dc1d31234603" /><Relationship Type="http://schemas.openxmlformats.org/officeDocument/2006/relationships/presProps" Target="/ppt/presProps.xml" Id="R4ce6c352cd5344cf" /><Relationship Type="http://schemas.openxmlformats.org/officeDocument/2006/relationships/tableStyles" Target="/ppt/tableStyles.xml" Id="Rf355d57c7817402a" /><Relationship Type="http://schemas.openxmlformats.org/officeDocument/2006/relationships/slide" Target="/ppt/slides/slide1.xml" Id="Rb7046164e1314215" /><Relationship Type="http://schemas.openxmlformats.org/officeDocument/2006/relationships/slide" Target="/ppt/slides/slide2.xml" Id="R9af5731eb2fa45ae" /><Relationship Type="http://schemas.openxmlformats.org/officeDocument/2006/relationships/slide" Target="/ppt/slides/slide3.xml" Id="R3c44464c7ad44e10" /><Relationship Type="http://schemas.openxmlformats.org/officeDocument/2006/relationships/slide" Target="/ppt/slides/slide4.xml" Id="R7d2cede707694b53" /><Relationship Type="http://schemas.openxmlformats.org/officeDocument/2006/relationships/slide" Target="/ppt/slides/slide5.xml" Id="R06f661682921437c" /><Relationship Type="http://schemas.openxmlformats.org/officeDocument/2006/relationships/slide" Target="/ppt/slides/slide6.xml" Id="R3862e6feb7d24ef6" /><Relationship Type="http://schemas.openxmlformats.org/officeDocument/2006/relationships/slide" Target="/ppt/slides/slide7.xml" Id="R3fda92ac727a4ad8" /><Relationship Type="http://schemas.openxmlformats.org/officeDocument/2006/relationships/slide" Target="/ppt/slides/slide8.xml" Id="Rf2eef61a22394ab3" /><Relationship Type="http://schemas.openxmlformats.org/officeDocument/2006/relationships/slide" Target="/ppt/slides/slide9.xml" Id="R91033edbf0f449f4" /><Relationship Type="http://schemas.openxmlformats.org/officeDocument/2006/relationships/slide" Target="/ppt/slides/slide10.xml" Id="Rf5a73399916f406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f2fc59da92e494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6b0451bcff84eef" /><Relationship Type="http://schemas.openxmlformats.org/officeDocument/2006/relationships/notesMaster" Target="/ppt/notesMasters/notesMaster1.xml" Id="Rb4409798fb09417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7b41c24444b4b1b" /><Relationship Type="http://schemas.openxmlformats.org/officeDocument/2006/relationships/notesMaster" Target="/ppt/notesMasters/notesMaster1.xml" Id="Rc202ad58d86849c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565fa3ca5264164" /><Relationship Type="http://schemas.openxmlformats.org/officeDocument/2006/relationships/notesMaster" Target="/ppt/notesMasters/notesMaster1.xml" Id="R85e583834e61423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6124262b0634108" /><Relationship Type="http://schemas.openxmlformats.org/officeDocument/2006/relationships/notesMaster" Target="/ppt/notesMasters/notesMaster1.xml" Id="R40baf8d595174bd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7f7fe28fbd445cd" /><Relationship Type="http://schemas.openxmlformats.org/officeDocument/2006/relationships/notesMaster" Target="/ppt/notesMasters/notesMaster1.xml" Id="R6f625ed9c5534bd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9098af4c6cc4370" /><Relationship Type="http://schemas.openxmlformats.org/officeDocument/2006/relationships/notesMaster" Target="/ppt/notesMasters/notesMaster1.xml" Id="Rcecc93a8e3aa40d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a20d83d4ba64bf4" /><Relationship Type="http://schemas.openxmlformats.org/officeDocument/2006/relationships/notesMaster" Target="/ppt/notesMasters/notesMaster1.xml" Id="R6aa6a24dd6d4418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33cd840943942fd" /><Relationship Type="http://schemas.openxmlformats.org/officeDocument/2006/relationships/notesMaster" Target="/ppt/notesMasters/notesMaster1.xml" Id="Rca761d25d443401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b21642c4b8e4ed8" /><Relationship Type="http://schemas.openxmlformats.org/officeDocument/2006/relationships/notesMaster" Target="/ppt/notesMasters/notesMaster1.xml" Id="R4c8095b0f16c4c0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37fd210debb41e5" /><Relationship Type="http://schemas.openxmlformats.org/officeDocument/2006/relationships/notesMaster" Target="/ppt/notesMasters/notesMaster1.xml" Id="Rf8b848519e4e43b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Superseded cover framing, retained for audit only (replaced 2026-08-13):</a:t>
            </a:r>
          </a:p>
          <a:p xmlns:a="http://schemas.openxmlformats.org/drawingml/2006/main">
            <a:r>
              <a:t>"Application product lock. Company wedge not locked."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repo:docs/superpowers/specs/2026-08-12-attest-submission-system-design.md</a:t>
            </a:r>
          </a:p>
          <a:p xmlns:a="http://schemas.openxmlformats.org/drawingml/2006/main">
            <a:r>
              <a:t>- repo:docs/PRODUCT_DECISION.md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workspace:10_GIFT_CITY/00_CONTROL/STATUS.md</a:t>
            </a:r>
          </a:p>
          <a:p xmlns:a="http://schemas.openxmlformats.org/drawingml/2006/main">
            <a:r>
              <a:t>- workspace:10_GIFT_CITY/00_CONTROL/DECISION_LOG.md</a:t>
            </a:r>
          </a:p>
          <a:p xmlns:a="http://schemas.openxmlformats.org/drawingml/2006/main">
            <a:r>
              <a:t>- repo:docs/superpowers/specs/2026-08-12-attest-submission-system-design.md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https://www.ifsca.gov.in/Document/Tender/concept-note_drr-consultation_2003202520032025073433.pdf</a:t>
            </a:r>
          </a:p>
          <a:p xmlns:a="http://schemas.openxmlformats.org/drawingml/2006/main">
            <a:r>
              <a:t>- https://www.ifsca.gov.in/CommonDirect/ViewFile?fileName=Award_of_Contract_under_RFPs_for_DRR_Solution_and_ERP_System_20260309_0153.pdf&amp;id=d575554ec59b09e7fde503d3a82787c7</a:t>
            </a:r>
          </a:p>
          <a:p xmlns:a="http://schemas.openxmlformats.org/drawingml/2006/main">
            <a:r>
              <a:t>- https://bsmedia.business-standard.com/_media/bs/data/announcements/bse/29012026/13c21166-8138-4630-a8b3-4f6b2202472e.pdf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repo:data/synthetic-case.json</a:t>
            </a:r>
          </a:p>
          <a:p xmlns:a="http://schemas.openxmlformats.org/drawingml/2006/main">
            <a:r>
              <a:t>- repo:src/case-engine.js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repo:docs/superpowers/specs/2026-08-12-attest-submission-system-design.md</a:t>
            </a:r>
          </a:p>
          <a:p xmlns:a="http://schemas.openxmlformats.org/drawingml/2006/main">
            <a:r>
              <a:t>- repo:src/case-engine.js</a:t>
            </a:r>
          </a:p>
          <a:p xmlns:a="http://schemas.openxmlformats.org/drawingml/2006/main">
            <a:r>
              <a:t>- repo:src/manifest.js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repo:prototype/app.js</a:t>
            </a:r>
          </a:p>
          <a:p xmlns:a="http://schemas.openxmlformats.org/drawingml/2006/main">
            <a:r>
              <a:t>- repo:artifacts/prototype-trace-1440.png</a:t>
            </a:r>
          </a:p>
          <a:p xmlns:a="http://schemas.openxmlformats.org/drawingml/2006/main">
            <a:r>
              <a:t>- repo:docs/superpowers/specs/2026-08-12-attest-submission-system-design.md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repo:artifacts/prototype-conflict-1440.png</a:t>
            </a:r>
          </a:p>
          <a:p xmlns:a="http://schemas.openxmlformats.org/drawingml/2006/main">
            <a:r>
              <a:t>- repo:artifacts/prototype-receipt-1440.png</a:t>
            </a:r>
          </a:p>
          <a:p xmlns:a="http://schemas.openxmlformats.org/drawingml/2006/main">
            <a:r>
              <a:t>- repo:.superpowers/sdd/2026-08-12-attest-submission-system/task-5-report.md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repo:docs/BUSINESS_VIABILITY.md</a:t>
            </a:r>
          </a:p>
          <a:p xmlns:a="http://schemas.openxmlformats.org/drawingml/2006/main">
            <a:r>
              <a:t>- repo:docs/superpowers/specs/2026-08-12-attest-submission-system-design.md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repo:docs/CONTRIBUTOR_SCOPE.md</a:t>
            </a:r>
          </a:p>
          <a:p xmlns:a="http://schemas.openxmlformats.org/drawingml/2006/main">
            <a:r>
              <a:t>- repo:docs/superpowers/specs/2026-08-12-attest-submission-system-design.md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https://www.giftifih.in/young-builders-program</a:t>
            </a:r>
          </a:p>
          <a:p xmlns:a="http://schemas.openxmlformats.org/drawingml/2006/main">
            <a:r>
              <a:t>- repo:docs/MEETING_BRIEF_2026-08-12.md</a:t>
            </a:r>
          </a:p>
          <a:p xmlns:a="http://schemas.openxmlformats.org/drawingml/2006/main">
            <a:r>
              <a:t>- repo:docs/PRODUCT_DECISION.md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3f4a07fffa6450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104b5840f6247e1" /><Relationship Type="http://schemas.openxmlformats.org/officeDocument/2006/relationships/slideLayout" Target="/ppt/slideLayouts/slideLayout1.xml" Id="R630a6026818646a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30a6026818646a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1a8b92f0bf4625" /><Relationship Type="http://schemas.openxmlformats.org/officeDocument/2006/relationships/notesSlide" Target="/ppt/notesSlides/notesSlide1.xml" Id="Rf632bc2bc6c64f1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a3ec5b3a2647ab" /><Relationship Type="http://schemas.openxmlformats.org/officeDocument/2006/relationships/notesSlide" Target="/ppt/notesSlides/notesSlide2.xml" Id="R9fb47e837ea3421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a658cd78bf4756" /><Relationship Type="http://schemas.openxmlformats.org/officeDocument/2006/relationships/notesSlide" Target="/ppt/notesSlides/notesSlide3.xml" Id="R2881e3b8ae204ca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c67109fd0d4a9c" /><Relationship Type="http://schemas.openxmlformats.org/officeDocument/2006/relationships/notesSlide" Target="/ppt/notesSlides/notesSlide4.xml" Id="R7cdd4da7ab4949d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25078b11d348fe" /><Relationship Type="http://schemas.openxmlformats.org/officeDocument/2006/relationships/notesSlide" Target="/ppt/notesSlides/notesSlide5.xml" Id="R616f3bbe029f43d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a7ed2431b94d07" /><Relationship Type="http://schemas.openxmlformats.org/officeDocument/2006/relationships/notesSlide" Target="/ppt/notesSlides/notesSlide6.xml" Id="R9f85ede1db854ee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42f491fb7b429b" /><Relationship Type="http://schemas.openxmlformats.org/officeDocument/2006/relationships/image" Target="/ppt/media/image.png" Id="R686740e650fc4f7c" /><Relationship Type="http://schemas.openxmlformats.org/officeDocument/2006/relationships/image" Target="/ppt/media/image2.png" Id="R717042d5d0204ad4" /><Relationship Type="http://schemas.openxmlformats.org/officeDocument/2006/relationships/notesSlide" Target="/ppt/notesSlides/notesSlide7.xml" Id="R0c475dfedf7f4e6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519f730afb4759" /><Relationship Type="http://schemas.openxmlformats.org/officeDocument/2006/relationships/notesSlide" Target="/ppt/notesSlides/notesSlide8.xml" Id="R12d10f72db34441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784171ae504940" /><Relationship Type="http://schemas.openxmlformats.org/officeDocument/2006/relationships/notesSlide" Target="/ppt/notesSlides/notesSlide9.xml" Id="R6f6988765d1947c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c67c5479984080" /><Relationship Type="http://schemas.openxmlformats.org/officeDocument/2006/relationships/notesSlide" Target="/ppt/notesSlides/notesSlide10.xml" Id="R5d1ace79f1d545f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DED6C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cover-navy-field">
            <a:extLst xmlns:a="http://schemas.openxmlformats.org/drawingml/2006/main">
              <a:ext uri="{FF2B5EF4-FFF2-40B4-BE49-F238E27FC236}">
                <a16:creationId xmlns:a16="http://schemas.microsoft.com/office/drawing/2014/main" id="{3DFFFE68-60BB-41B9-BE64-960898E67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0"/>
            <a:ext cx="25908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F44"/>
          </a:solidFill>
          <a:ln xmlns:a="http://schemas.openxmlformats.org/drawingml/2006/main" w="0">
            <a:solidFill>
              <a:srgbClr val="0A1F44"/>
            </a:solidFill>
            <a:prstDash val="solid"/>
          </a:ln>
        </p:spPr>
      </p:sp>
      <p:sp>
        <p:nvSpPr>
          <p:cNvPr id="2" name="cover-brass-spine">
            <a:extLst xmlns:a="http://schemas.openxmlformats.org/drawingml/2006/main">
              <a:ext uri="{FF2B5EF4-FFF2-40B4-BE49-F238E27FC236}">
                <a16:creationId xmlns:a16="http://schemas.microsoft.com/office/drawing/2014/main" id="{E55130A6-3BB6-4D46-84FB-30861AF90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0"/>
            <a:ext cx="0" cy="6858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87229"/>
            </a:solidFill>
            <a:prstDash val="solid"/>
          </a:ln>
        </p:spPr>
      </p:sp>
      <p:sp>
        <p:nvSpPr>
          <p:cNvPr id="3" name="brand-1">
            <a:extLst xmlns:a="http://schemas.openxmlformats.org/drawingml/2006/main">
              <a:ext uri="{FF2B5EF4-FFF2-40B4-BE49-F238E27FC236}">
                <a16:creationId xmlns:a16="http://schemas.microsoft.com/office/drawing/2014/main" id="{96B3175D-F454-4824-9823-C95B4857A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defRPr>
            </a:pPr>
            <a:r>
              <a:rPr sz="112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rPr>
              <a:t>KRISEVA  /  ATTEST</a:t>
            </a:r>
          </a:p>
        </p:txBody>
      </p:sp>
      <p:sp>
        <p:nvSpPr>
          <p:cNvPr id="4" name="cover-title">
            <a:extLst xmlns:a="http://schemas.openxmlformats.org/drawingml/2006/main">
              <a:ext uri="{FF2B5EF4-FFF2-40B4-BE49-F238E27FC236}">
                <a16:creationId xmlns:a16="http://schemas.microsoft.com/office/drawing/2014/main" id="{629F1F21-57FE-4C4B-BFFC-90607D40B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8096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700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5700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KRISEVA ATTEST</a:t>
            </a:r>
          </a:p>
        </p:txBody>
      </p:sp>
      <p:sp>
        <p:nvSpPr>
          <p:cNvPr id="5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B75C82B7-83E0-4006-9ABB-6B7CF9BB6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6953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 i="0">
                <a:solidFill>
                  <a:srgbClr val="0F0E0B"/>
                </a:solidFill>
                <a:latin typeface="Georgia"/>
                <a:ea typeface="Georgia"/>
                <a:cs typeface="Georgia"/>
              </a:defRPr>
            </a:pPr>
            <a:r>
              <a:rPr sz="2250" b="0" i="0">
                <a:solidFill>
                  <a:srgbClr val="0F0E0B"/>
                </a:solidFill>
                <a:latin typeface="Georgia"/>
                <a:ea typeface="Georgia"/>
                <a:cs typeface="Georgia"/>
              </a:rPr>
              <a:t>A bounded source-to-field evidence workbench for human review.</a:t>
            </a:r>
          </a:p>
        </p:txBody>
      </p:sp>
      <p:sp>
        <p:nvSpPr>
          <p:cNvPr id="6" name="cover-rule">
            <a:extLst xmlns:a="http://schemas.openxmlformats.org/drawingml/2006/main">
              <a:ext uri="{FF2B5EF4-FFF2-40B4-BE49-F238E27FC236}">
                <a16:creationId xmlns:a16="http://schemas.microsoft.com/office/drawing/2014/main" id="{C5A9E9F7-4908-4691-964B-DB1166ED0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924300"/>
            <a:ext cx="5334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87229"/>
            </a:solidFill>
            <a:prstDash val="solid"/>
          </a:ln>
        </p:spPr>
      </p:sp>
      <p:sp>
        <p:nvSpPr>
          <p:cNvPr id="7" name="cover-lock">
            <a:extLst xmlns:a="http://schemas.openxmlformats.org/drawingml/2006/main">
              <a:ext uri="{FF2B5EF4-FFF2-40B4-BE49-F238E27FC236}">
                <a16:creationId xmlns:a16="http://schemas.microsoft.com/office/drawing/2014/main" id="{D5003CB8-9377-4033-86B7-AEDBE42E2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71950"/>
            <a:ext cx="6191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A1F44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A1F44"/>
                </a:solidFill>
                <a:latin typeface="Arial"/>
                <a:ea typeface="Arial"/>
                <a:cs typeface="Arial"/>
              </a:rPr>
              <a:t>This prototype is final for this application. Whether it becomes the company's product is deliberately still open.</a:t>
            </a:r>
          </a:p>
        </p:txBody>
      </p:sp>
      <p:sp>
        <p:nvSpPr>
          <p:cNvPr id="8" name="cover-boundary">
            <a:extLst xmlns:a="http://schemas.openxmlformats.org/drawingml/2006/main">
              <a:ext uri="{FF2B5EF4-FFF2-40B4-BE49-F238E27FC236}">
                <a16:creationId xmlns:a16="http://schemas.microsoft.com/office/drawing/2014/main" id="{2FCC3A0E-8F1E-46D5-8CE1-53E4ED040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00650"/>
            <a:ext cx="7810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625B53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 i="0">
                <a:solidFill>
                  <a:srgbClr val="625B53"/>
                </a:solidFill>
                <a:latin typeface="Courier New"/>
                <a:ea typeface="Courier New"/>
                <a:cs typeface="Courier New"/>
              </a:rPr>
              <a:t>Research-stage prototype · synthetic data · no filing · no regulator connection</a:t>
            </a:r>
          </a:p>
        </p:txBody>
      </p:sp>
      <p:sp>
        <p:nvSpPr>
          <p:cNvPr id="9" name="cover-number">
            <a:extLst xmlns:a="http://schemas.openxmlformats.org/drawingml/2006/main">
              <a:ext uri="{FF2B5EF4-FFF2-40B4-BE49-F238E27FC236}">
                <a16:creationId xmlns:a16="http://schemas.microsoft.com/office/drawing/2014/main" id="{A408687B-7836-4BCE-90BF-19981DCBF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1562100"/>
            <a:ext cx="1809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100" b="0" i="0">
                <a:solidFill>
                  <a:srgbClr val="A87229"/>
                </a:solidFill>
                <a:latin typeface="Georgia"/>
                <a:ea typeface="Georgia"/>
                <a:cs typeface="Georgia"/>
              </a:defRPr>
            </a:pPr>
            <a:r>
              <a:rPr sz="8100" b="0" i="0">
                <a:solidFill>
                  <a:srgbClr val="A87229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10" name="cover-classification">
            <a:extLst xmlns:a="http://schemas.openxmlformats.org/drawingml/2006/main">
              <a:ext uri="{FF2B5EF4-FFF2-40B4-BE49-F238E27FC236}">
                <a16:creationId xmlns:a16="http://schemas.microsoft.com/office/drawing/2014/main" id="{26A6CB2C-7CDD-4FDF-A736-B0F5F4571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143250"/>
            <a:ext cx="1809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3EDE0"/>
                </a:solidFill>
                <a:latin typeface="Courier New"/>
                <a:ea typeface="Courier New"/>
                <a:cs typeface="Courier New"/>
              </a:defRPr>
            </a:pPr>
            <a:r>
              <a:rPr sz="1350" b="1" i="0">
                <a:solidFill>
                  <a:srgbClr val="F3EDE0"/>
                </a:solidFill>
                <a:latin typeface="Courier New"/>
                <a:ea typeface="Courier New"/>
                <a:cs typeface="Courier New"/>
              </a:rPr>
              <a:t>GIFT IFIH</a:t>
            </a:r>
          </a:p>
          <a:p xmlns:a="http://schemas.openxmlformats.org/drawingml/2006/main">
            <a:pPr algn="l">
              <a:defRPr sz="1350" b="1" i="0">
                <a:solidFill>
                  <a:srgbClr val="F3EDE0"/>
                </a:solidFill>
                <a:latin typeface="Courier New"/>
                <a:ea typeface="Courier New"/>
                <a:cs typeface="Courier New"/>
              </a:defRPr>
            </a:pPr>
            <a:r>
              <a:rPr sz="1350" b="1" i="0">
                <a:solidFill>
                  <a:srgbClr val="F3EDE0"/>
                </a:solidFill>
                <a:latin typeface="Courier New"/>
                <a:ea typeface="Courier New"/>
                <a:cs typeface="Courier New"/>
              </a:rPr>
              <a:t>YOUNG BUILDERS</a:t>
            </a:r>
          </a:p>
          <a:p xmlns:a="http://schemas.openxmlformats.org/drawingml/2006/main">
            <a:pPr algn="l">
              <a:defRPr sz="1350" b="1" i="0">
                <a:solidFill>
                  <a:srgbClr val="F3EDE0"/>
                </a:solidFill>
                <a:latin typeface="Courier New"/>
                <a:ea typeface="Courier New"/>
                <a:cs typeface="Courier New"/>
              </a:defRPr>
            </a:pPr>
            <a:r>
              <a:rPr sz="1350" b="1" i="0">
                <a:solidFill>
                  <a:srgbClr val="F3EDE0"/>
                </a:solidFill>
                <a:latin typeface="Courier New"/>
                <a:ea typeface="Courier New"/>
                <a:cs typeface="Courier New"/>
              </a:rPr>
              <a:t>2026</a:t>
            </a:r>
          </a:p>
        </p:txBody>
      </p:sp>
      <p:sp>
        <p:nvSpPr>
          <p:cNvPr id="11" name="cover-page">
            <a:extLst xmlns:a="http://schemas.openxmlformats.org/drawingml/2006/main">
              <a:ext uri="{FF2B5EF4-FFF2-40B4-BE49-F238E27FC236}">
                <a16:creationId xmlns:a16="http://schemas.microsoft.com/office/drawing/2014/main" id="{B28B17C7-8F83-4DB6-93EC-DF0BD38D0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59055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F3EDE0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 i="0">
                <a:solidFill>
                  <a:srgbClr val="F3EDE0"/>
                </a:solidFill>
                <a:latin typeface="Courier New"/>
                <a:ea typeface="Courier New"/>
                <a:cs typeface="Courier New"/>
              </a:rPr>
              <a:t>APPLICATION EVIDENCE</a:t>
            </a:r>
          </a:p>
        </p:txBody>
      </p:sp>
      <p:sp>
        <p:nvSpPr>
          <p:cNvPr id="12" name="footer-cover-url">
            <a:extLst xmlns:a="http://schemas.openxmlformats.org/drawingml/2006/main">
              <a:ext uri="{FF2B5EF4-FFF2-40B4-BE49-F238E27FC236}">
                <a16:creationId xmlns:a16="http://schemas.microsoft.com/office/drawing/2014/main" id="{32BA6995-55CA-4794-B654-19B0035C0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6286500"/>
            <a:ext cx="190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F3EDE0"/>
                </a:solidFill>
                <a:latin typeface="Courier New"/>
                <a:ea typeface="Courier New"/>
                <a:cs typeface="Courier New"/>
              </a:defRPr>
            </a:pPr>
            <a:r>
              <a:rPr sz="900" b="0" i="0">
                <a:solidFill>
                  <a:srgbClr val="F3EDE0"/>
                </a:solidFill>
                <a:latin typeface="Courier New"/>
                <a:ea typeface="Courier New"/>
                <a:cs typeface="Courier New"/>
              </a:rPr>
              <a:t>ayushtiwary-ops.github.io</a:t>
            </a:r>
          </a:p>
          <a:p xmlns:a="http://schemas.openxmlformats.org/drawingml/2006/main">
            <a:pPr algn="l">
              <a:defRPr sz="900" b="0" i="0">
                <a:solidFill>
                  <a:srgbClr val="F3EDE0"/>
                </a:solidFill>
                <a:latin typeface="Courier New"/>
                <a:ea typeface="Courier New"/>
                <a:cs typeface="Courier New"/>
              </a:defRPr>
            </a:pPr>
            <a:r>
              <a:rPr sz="900" b="0" i="0">
                <a:solidFill>
                  <a:srgbClr val="F3EDE0"/>
                </a:solidFill>
                <a:latin typeface="Courier New"/>
                <a:ea typeface="Courier New"/>
                <a:cs typeface="Courier New"/>
              </a:rPr>
              <a:t>/kriseva-attest</a:t>
            </a:r>
          </a:p>
        </p:txBody>
      </p:sp>
    </p:spTree>
    <p:extLst>
      <p:ext uri="{BB962C8B-B14F-4D97-AF65-F5344CB8AC3E}">
        <p14:creationId xmlns:p14="http://schemas.microsoft.com/office/powerpoint/2010/main" val="105346007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DED6C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brand-2">
            <a:extLst xmlns:a="http://schemas.openxmlformats.org/drawingml/2006/main">
              <a:ext uri="{FF2B5EF4-FFF2-40B4-BE49-F238E27FC236}">
                <a16:creationId xmlns:a16="http://schemas.microsoft.com/office/drawing/2014/main" id="{C6759A71-4779-43EF-AB43-6356C191A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defRPr>
            </a:pPr>
            <a:r>
              <a:rPr sz="112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rPr>
              <a:t>KRISEVA  /  ATTEST</a:t>
            </a:r>
          </a:p>
        </p:txBody>
      </p:sp>
      <p:sp>
        <p:nvSpPr>
          <p:cNvPr id="2" name="title-2">
            <a:extLst xmlns:a="http://schemas.openxmlformats.org/drawingml/2006/main">
              <a:ext uri="{FF2B5EF4-FFF2-40B4-BE49-F238E27FC236}">
                <a16:creationId xmlns:a16="http://schemas.microsoft.com/office/drawing/2014/main" id="{53DF900D-A260-4F54-83D0-527893B8B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1500"/>
            <a:ext cx="11125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3600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A human still owns the source question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1BB957D9-EDB4-41FC-8269-00E902FB9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4365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A1F44"/>
            </a:solidFill>
            <a:prstDash val="solid"/>
          </a:ln>
        </p:spPr>
      </p:sp>
      <p:sp>
        <p:nvSpPr>
          <p:cNvPr id="4" name="footer-source-2">
            <a:extLst xmlns:a="http://schemas.openxmlformats.org/drawingml/2006/main">
              <a:ext uri="{FF2B5EF4-FFF2-40B4-BE49-F238E27FC236}">
                <a16:creationId xmlns:a16="http://schemas.microsoft.com/office/drawing/2014/main" id="{19DF77C4-0EA4-44AE-90F8-9784F2341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25B53"/>
                </a:solidFill>
                <a:latin typeface="Courier New"/>
                <a:ea typeface="Courier New"/>
                <a:cs typeface="Courier New"/>
              </a:defRPr>
            </a:pPr>
            <a:r>
              <a:rPr sz="975" b="0" i="0">
                <a:solidFill>
                  <a:srgbClr val="625B53"/>
                </a:solidFill>
                <a:latin typeface="Courier New"/>
                <a:ea typeface="Courier New"/>
                <a:cs typeface="Courier New"/>
              </a:rPr>
              <a:t>SOURCES IN SPEAKER NOTES · RESEARCH-STAGE PROTOTYPE</a:t>
            </a:r>
          </a:p>
        </p:txBody>
      </p:sp>
      <p:sp>
        <p:nvSpPr>
          <p:cNvPr id="5" name="footer-page-2">
            <a:extLst xmlns:a="http://schemas.openxmlformats.org/drawingml/2006/main">
              <a:ext uri="{FF2B5EF4-FFF2-40B4-BE49-F238E27FC236}">
                <a16:creationId xmlns:a16="http://schemas.microsoft.com/office/drawing/2014/main" id="{EB8E1AF8-94DD-45D9-8FCF-D90C2CFE5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57950"/>
            <a:ext cx="990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defRPr>
            </a:pPr>
            <a:r>
              <a:rPr sz="97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rPr>
              <a:t>02 / 10</a:t>
            </a:r>
          </a:p>
        </p:txBody>
      </p:sp>
      <p:sp>
        <p:nvSpPr>
          <p:cNvPr id="6" name="accountability-divider">
            <a:extLst xmlns:a="http://schemas.openxmlformats.org/drawingml/2006/main">
              <a:ext uri="{FF2B5EF4-FFF2-40B4-BE49-F238E27FC236}">
                <a16:creationId xmlns:a16="http://schemas.microsoft.com/office/drawing/2014/main" id="{0254F7FF-A64F-45EF-917D-1334E810F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428750"/>
            <a:ext cx="0" cy="4095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87229"/>
            </a:solidFill>
            <a:prstDash val="solid"/>
          </a:ln>
        </p:spPr>
      </p:sp>
      <p:sp>
        <p:nvSpPr>
          <p:cNvPr id="7" name="accountability-label">
            <a:extLst xmlns:a="http://schemas.openxmlformats.org/drawingml/2006/main">
              <a:ext uri="{FF2B5EF4-FFF2-40B4-BE49-F238E27FC236}">
                <a16:creationId xmlns:a16="http://schemas.microsoft.com/office/drawing/2014/main" id="{F2F65F0D-5D35-417B-AA5A-4C5C59B40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defRPr>
            </a:pPr>
            <a:r>
              <a: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rPr>
              <a:t>ACCOUNTABILITY QUESTION</a:t>
            </a:r>
          </a:p>
        </p:txBody>
      </p:sp>
      <p:sp>
        <p:nvSpPr>
          <p:cNvPr id="8" name="accountability-structured">
            <a:extLst xmlns:a="http://schemas.openxmlformats.org/drawingml/2006/main">
              <a:ext uri="{FF2B5EF4-FFF2-40B4-BE49-F238E27FC236}">
                <a16:creationId xmlns:a16="http://schemas.microsoft.com/office/drawing/2014/main" id="{CAA74730-000E-45E9-9A38-9231F2854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5334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0A1F44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A1F44"/>
                </a:solidFill>
                <a:latin typeface="Arial"/>
                <a:ea typeface="Arial"/>
                <a:cs typeface="Arial"/>
              </a:rPr>
              <a:t>Structured returns do not remove the source question.</a:t>
            </a:r>
          </a:p>
        </p:txBody>
      </p:sp>
      <p:sp>
        <p:nvSpPr>
          <p:cNvPr id="9" name="accountability-question">
            <a:extLst xmlns:a="http://schemas.openxmlformats.org/drawingml/2006/main">
              <a:ext uri="{FF2B5EF4-FFF2-40B4-BE49-F238E27FC236}">
                <a16:creationId xmlns:a16="http://schemas.microsoft.com/office/drawing/2014/main" id="{B20340B7-9E79-4277-95F2-D8EE3284C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5524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0" i="0">
                <a:solidFill>
                  <a:srgbClr val="0F0E0B"/>
                </a:solidFill>
                <a:latin typeface="Georgia"/>
                <a:ea typeface="Georgia"/>
                <a:cs typeface="Georgia"/>
              </a:defRPr>
            </a:pPr>
            <a:r>
              <a:rPr sz="3600" b="0" i="0">
                <a:solidFill>
                  <a:srgbClr val="0F0E0B"/>
                </a:solidFill>
                <a:latin typeface="Georgia"/>
                <a:ea typeface="Georgia"/>
                <a:cs typeface="Georgia"/>
              </a:rPr>
              <a:t>Which source supports this reported field?</a:t>
            </a:r>
          </a:p>
        </p:txBody>
      </p:sp>
      <p:sp>
        <p:nvSpPr>
          <p:cNvPr id="10" name="footer-accountability-caption-1">
            <a:extLst xmlns:a="http://schemas.openxmlformats.org/drawingml/2006/main">
              <a:ext uri="{FF2B5EF4-FFF2-40B4-BE49-F238E27FC236}">
                <a16:creationId xmlns:a16="http://schemas.microsoft.com/office/drawing/2014/main" id="{9B51D584-0C98-4F3D-A2AD-270B10F84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38300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defRPr>
            </a:pPr>
            <a:r>
              <a:rPr sz="975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rPr>
              <a:t>STATEMENT</a:t>
            </a:r>
          </a:p>
        </p:txBody>
      </p:sp>
      <p:sp>
        <p:nvSpPr>
          <p:cNvPr id="11" name="accountability-source-rule-1">
            <a:extLst xmlns:a="http://schemas.openxmlformats.org/drawingml/2006/main">
              <a:ext uri="{FF2B5EF4-FFF2-40B4-BE49-F238E27FC236}">
                <a16:creationId xmlns:a16="http://schemas.microsoft.com/office/drawing/2014/main" id="{3A227878-5620-4FD7-B819-A10D4F9D0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847850"/>
            <a:ext cx="381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E786E"/>
            </a:solidFill>
            <a:prstDash val="solid"/>
          </a:ln>
        </p:spPr>
      </p:sp>
      <p:sp>
        <p:nvSpPr>
          <p:cNvPr id="12" name="footer-accountability-caption-2">
            <a:extLst xmlns:a="http://schemas.openxmlformats.org/drawingml/2006/main">
              <a:ext uri="{FF2B5EF4-FFF2-40B4-BE49-F238E27FC236}">
                <a16:creationId xmlns:a16="http://schemas.microsoft.com/office/drawing/2014/main" id="{E7E8C79D-2824-4574-85C7-F02020BC9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266950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defRPr>
            </a:pPr>
            <a:r>
              <a:rPr sz="975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rPr>
              <a:t>LEDGER</a:t>
            </a:r>
          </a:p>
        </p:txBody>
      </p:sp>
      <p:sp>
        <p:nvSpPr>
          <p:cNvPr id="13" name="accountability-source-rule-2">
            <a:extLst xmlns:a="http://schemas.openxmlformats.org/drawingml/2006/main">
              <a:ext uri="{FF2B5EF4-FFF2-40B4-BE49-F238E27FC236}">
                <a16:creationId xmlns:a16="http://schemas.microsoft.com/office/drawing/2014/main" id="{661F3BF3-F55D-4A6A-BFCB-2A01D845F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476500"/>
            <a:ext cx="381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E786E"/>
            </a:solidFill>
            <a:prstDash val="solid"/>
          </a:ln>
        </p:spPr>
      </p:sp>
      <p:sp>
        <p:nvSpPr>
          <p:cNvPr id="14" name="footer-accountability-caption-3">
            <a:extLst xmlns:a="http://schemas.openxmlformats.org/drawingml/2006/main">
              <a:ext uri="{FF2B5EF4-FFF2-40B4-BE49-F238E27FC236}">
                <a16:creationId xmlns:a16="http://schemas.microsoft.com/office/drawing/2014/main" id="{F21C67DB-C8B4-447F-B1F1-CC95C2D72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895600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defRPr>
            </a:pPr>
            <a:r>
              <a:rPr sz="975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rPr>
              <a:t>SCHEDULE</a:t>
            </a:r>
          </a:p>
        </p:txBody>
      </p:sp>
      <p:sp>
        <p:nvSpPr>
          <p:cNvPr id="15" name="accountability-source-rule-3">
            <a:extLst xmlns:a="http://schemas.openxmlformats.org/drawingml/2006/main">
              <a:ext uri="{FF2B5EF4-FFF2-40B4-BE49-F238E27FC236}">
                <a16:creationId xmlns:a16="http://schemas.microsoft.com/office/drawing/2014/main" id="{B18DEAAC-8315-4C48-B77B-6315F75A8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05150"/>
            <a:ext cx="381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E786E"/>
            </a:solidFill>
            <a:prstDash val="solid"/>
          </a:ln>
        </p:spPr>
      </p:sp>
      <p:sp>
        <p:nvSpPr>
          <p:cNvPr id="16" name="accountability-evidence">
            <a:extLst xmlns:a="http://schemas.openxmlformats.org/drawingml/2006/main">
              <a:ext uri="{FF2B5EF4-FFF2-40B4-BE49-F238E27FC236}">
                <a16:creationId xmlns:a16="http://schemas.microsoft.com/office/drawing/2014/main" id="{D8956D23-9DAC-4E9C-AF16-61CEC653F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429000"/>
            <a:ext cx="3905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1800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Statements, ledgers and schedules can disagree or leave evidence missing.</a:t>
            </a:r>
          </a:p>
        </p:txBody>
      </p:sp>
      <p:sp>
        <p:nvSpPr>
          <p:cNvPr id="17" name="accountability-unknowns">
            <a:extLst xmlns:a="http://schemas.openxmlformats.org/drawingml/2006/main">
              <a:ext uri="{FF2B5EF4-FFF2-40B4-BE49-F238E27FC236}">
                <a16:creationId xmlns:a16="http://schemas.microsoft.com/office/drawing/2014/main" id="{37BAE2C6-2B73-4647-963E-B7C14111B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68630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625B53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625B53"/>
                </a:solidFill>
                <a:latin typeface="Arial"/>
                <a:ea typeface="Arial"/>
                <a:cs typeface="Arial"/>
              </a:rPr>
              <a:t>The operator, buyer, frequency, pain and willingness to pay remain unvalidated.</a:t>
            </a:r>
          </a:p>
        </p:txBody>
      </p:sp>
    </p:spTree>
    <p:extLst>
      <p:ext uri="{BB962C8B-B14F-4D97-AF65-F5344CB8AC3E}">
        <p14:creationId xmlns:p14="http://schemas.microsoft.com/office/powerpoint/2010/main" val="16980524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DED6C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brand-3">
            <a:extLst xmlns:a="http://schemas.openxmlformats.org/drawingml/2006/main">
              <a:ext uri="{FF2B5EF4-FFF2-40B4-BE49-F238E27FC236}">
                <a16:creationId xmlns:a16="http://schemas.microsoft.com/office/drawing/2014/main" id="{315A9DFE-570F-495C-8304-9F1D353D3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defRPr>
            </a:pPr>
            <a:r>
              <a:rPr sz="112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rPr>
              <a:t>KRISEVA  /  ATTEST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F85C880B-E823-4196-9B1D-0C965DF2B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1500"/>
            <a:ext cx="11125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3600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DRR targets submission; evidence starts upstream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2364EBD3-0D3A-4361-953A-8FBF42506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4365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A1F44"/>
            </a:solidFill>
            <a:prstDash val="solid"/>
          </a:ln>
        </p:spPr>
      </p:sp>
      <p:sp>
        <p:nvSpPr>
          <p:cNvPr id="4" name="footer-source-3">
            <a:extLst xmlns:a="http://schemas.openxmlformats.org/drawingml/2006/main">
              <a:ext uri="{FF2B5EF4-FFF2-40B4-BE49-F238E27FC236}">
                <a16:creationId xmlns:a16="http://schemas.microsoft.com/office/drawing/2014/main" id="{A4A0BC92-D01E-469A-8BA2-EAA3B9A9F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25B53"/>
                </a:solidFill>
                <a:latin typeface="Courier New"/>
                <a:ea typeface="Courier New"/>
                <a:cs typeface="Courier New"/>
              </a:defRPr>
            </a:pPr>
            <a:r>
              <a:rPr sz="975" b="0" i="0">
                <a:solidFill>
                  <a:srgbClr val="625B53"/>
                </a:solidFill>
                <a:latin typeface="Courier New"/>
                <a:ea typeface="Courier New"/>
                <a:cs typeface="Courier New"/>
              </a:rPr>
              <a:t>SOURCES IN SPEAKER NOTES · RESEARCH-STAGE PROTOTYPE</a:t>
            </a:r>
          </a:p>
        </p:txBody>
      </p:sp>
      <p:sp>
        <p:nvSpPr>
          <p:cNvPr id="5" name="footer-page-3">
            <a:extLst xmlns:a="http://schemas.openxmlformats.org/drawingml/2006/main">
              <a:ext uri="{FF2B5EF4-FFF2-40B4-BE49-F238E27FC236}">
                <a16:creationId xmlns:a16="http://schemas.microsoft.com/office/drawing/2014/main" id="{B5DCF227-A2D3-4094-B763-750964031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57950"/>
            <a:ext cx="990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defRPr>
            </a:pPr>
            <a:r>
              <a:rPr sz="97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rPr>
              <a:t>03 / 10</a:t>
            </a:r>
          </a:p>
        </p:txBody>
      </p:sp>
      <p:sp>
        <p:nvSpPr>
          <p:cNvPr id="6" name="boundary-left">
            <a:extLst xmlns:a="http://schemas.openxmlformats.org/drawingml/2006/main">
              <a:ext uri="{FF2B5EF4-FFF2-40B4-BE49-F238E27FC236}">
                <a16:creationId xmlns:a16="http://schemas.microsoft.com/office/drawing/2014/main" id="{DF605CF2-CF2A-4348-B531-64999BDFF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33500"/>
            <a:ext cx="6096000" cy="501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F44"/>
          </a:solidFill>
          <a:ln xmlns:a="http://schemas.openxmlformats.org/drawingml/2006/main" w="0">
            <a:solidFill>
              <a:srgbClr val="0A1F44"/>
            </a:solidFill>
            <a:prstDash val="solid"/>
          </a:ln>
        </p:spPr>
      </p:sp>
      <p:sp>
        <p:nvSpPr>
          <p:cNvPr id="7" name="boundary-spine">
            <a:extLst xmlns:a="http://schemas.openxmlformats.org/drawingml/2006/main">
              <a:ext uri="{FF2B5EF4-FFF2-40B4-BE49-F238E27FC236}">
                <a16:creationId xmlns:a16="http://schemas.microsoft.com/office/drawing/2014/main" id="{4F72DE0C-80EB-461B-ACA2-174F95839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333500"/>
            <a:ext cx="0" cy="50101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87229"/>
            </a:solidFill>
            <a:prstDash val="solid"/>
          </a:ln>
        </p:spPr>
      </p:sp>
      <p:sp>
        <p:nvSpPr>
          <p:cNvPr id="8" name="boundary-drr">
            <a:extLst xmlns:a="http://schemas.openxmlformats.org/drawingml/2006/main">
              <a:ext uri="{FF2B5EF4-FFF2-40B4-BE49-F238E27FC236}">
                <a16:creationId xmlns:a16="http://schemas.microsoft.com/office/drawing/2014/main" id="{978AD53D-2E70-4954-9787-20651EAB5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52600"/>
            <a:ext cx="4762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800" b="0" i="0">
                <a:solidFill>
                  <a:srgbClr val="F3EDE0"/>
                </a:solidFill>
                <a:latin typeface="Georgia"/>
                <a:ea typeface="Georgia"/>
                <a:cs typeface="Georgia"/>
              </a:defRPr>
            </a:pPr>
            <a:r>
              <a:rPr sz="4800" b="0" i="0">
                <a:solidFill>
                  <a:srgbClr val="F3EDE0"/>
                </a:solidFill>
                <a:latin typeface="Georgia"/>
                <a:ea typeface="Georgia"/>
                <a:cs typeface="Georgia"/>
              </a:rPr>
              <a:t>DRR</a:t>
            </a:r>
          </a:p>
        </p:txBody>
      </p:sp>
      <p:sp>
        <p:nvSpPr>
          <p:cNvPr id="9" name="boundary-drr-copy">
            <a:extLst xmlns:a="http://schemas.openxmlformats.org/drawingml/2006/main">
              <a:ext uri="{FF2B5EF4-FFF2-40B4-BE49-F238E27FC236}">
                <a16:creationId xmlns:a16="http://schemas.microsoft.com/office/drawing/2014/main" id="{00A783FF-8049-49F6-8ED7-1A78708D0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81300"/>
            <a:ext cx="4762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F3EDE0"/>
                </a:solidFill>
                <a:latin typeface="Georgia"/>
                <a:ea typeface="Georgia"/>
                <a:cs typeface="Georgia"/>
              </a:defRPr>
            </a:pPr>
            <a:r>
              <a:rPr sz="1800" b="0" i="0">
                <a:solidFill>
                  <a:srgbClr val="F3EDE0"/>
                </a:solidFill>
                <a:latin typeface="Georgia"/>
                <a:ea typeface="Georgia"/>
                <a:cs typeface="Georgia"/>
              </a:rPr>
              <a:t>DRR (IFSCA's Digital Regulatory Reporting platform, procured 2026): structured reporting channels, validation and submission infrastructure.</a:t>
            </a:r>
          </a:p>
        </p:txBody>
      </p:sp>
      <p:sp>
        <p:nvSpPr>
          <p:cNvPr id="10" name="boundary-attest">
            <a:extLst xmlns:a="http://schemas.openxmlformats.org/drawingml/2006/main">
              <a:ext uri="{FF2B5EF4-FFF2-40B4-BE49-F238E27FC236}">
                <a16:creationId xmlns:a16="http://schemas.microsoft.com/office/drawing/2014/main" id="{59074284-2903-4475-932D-ACB6120EB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752600"/>
            <a:ext cx="4762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800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4800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ATTEST</a:t>
            </a:r>
          </a:p>
        </p:txBody>
      </p:sp>
      <p:sp>
        <p:nvSpPr>
          <p:cNvPr id="11" name="boundary-attest-copy">
            <a:extLst xmlns:a="http://schemas.openxmlformats.org/drawingml/2006/main">
              <a:ext uri="{FF2B5EF4-FFF2-40B4-BE49-F238E27FC236}">
                <a16:creationId xmlns:a16="http://schemas.microsoft.com/office/drawing/2014/main" id="{4B8E2AAC-A096-4E0F-93DF-53800515D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781300"/>
            <a:ext cx="4762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 i="0">
                <a:solidFill>
                  <a:srgbClr val="0F0E0B"/>
                </a:solidFill>
                <a:latin typeface="Georgia"/>
                <a:ea typeface="Georgia"/>
                <a:cs typeface="Georgia"/>
              </a:defRPr>
            </a:pPr>
            <a:r>
              <a:rPr sz="2025" b="0" i="0">
                <a:solidFill>
                  <a:srgbClr val="0F0E0B"/>
                </a:solidFill>
                <a:latin typeface="Georgia"/>
                <a:ea typeface="Georgia"/>
                <a:cs typeface="Georgia"/>
              </a:rPr>
              <a:t>Provider-neutral source references, disagreement and human review</a:t>
            </a:r>
          </a:p>
        </p:txBody>
      </p:sp>
      <p:sp>
        <p:nvSpPr>
          <p:cNvPr id="12" name="boundary-limit">
            <a:extLst xmlns:a="http://schemas.openxmlformats.org/drawingml/2006/main">
              <a:ext uri="{FF2B5EF4-FFF2-40B4-BE49-F238E27FC236}">
                <a16:creationId xmlns:a16="http://schemas.microsoft.com/office/drawing/2014/main" id="{234374A7-2FD8-45C4-96FB-9845AFD1A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552950"/>
            <a:ext cx="4762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96491A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96491A"/>
                </a:solidFill>
                <a:latin typeface="Arial"/>
                <a:ea typeface="Arial"/>
                <a:cs typeface="Arial"/>
              </a:rPr>
              <a:t>No filing. No DRR connection. No claimed gap.</a:t>
            </a:r>
          </a:p>
        </p:txBody>
      </p:sp>
      <p:sp>
        <p:nvSpPr>
          <p:cNvPr id="13" name="boundary-absence">
            <a:extLst xmlns:a="http://schemas.openxmlformats.org/drawingml/2006/main">
              <a:ext uri="{FF2B5EF4-FFF2-40B4-BE49-F238E27FC236}">
                <a16:creationId xmlns:a16="http://schemas.microsoft.com/office/drawing/2014/main" id="{379097CC-AE1E-41F7-8C18-717FF8F2E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391150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A87229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A87229"/>
                </a:solidFill>
                <a:latin typeface="Arial"/>
                <a:ea typeface="Arial"/>
                <a:cs typeface="Arial"/>
              </a:rPr>
              <a:t>Public absence is not proof.</a:t>
            </a:r>
          </a:p>
        </p:txBody>
      </p:sp>
    </p:spTree>
    <p:extLst>
      <p:ext uri="{BB962C8B-B14F-4D97-AF65-F5344CB8AC3E}">
        <p14:creationId xmlns:p14="http://schemas.microsoft.com/office/powerpoint/2010/main" val="57200644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3EDE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brand-4">
            <a:extLst xmlns:a="http://schemas.openxmlformats.org/drawingml/2006/main">
              <a:ext uri="{FF2B5EF4-FFF2-40B4-BE49-F238E27FC236}">
                <a16:creationId xmlns:a16="http://schemas.microsoft.com/office/drawing/2014/main" id="{82F689D1-9B94-4090-8E37-4DC0A48FF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defRPr>
            </a:pPr>
            <a:r>
              <a:rPr sz="112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rPr>
              <a:t>KRISEVA  /  ATTEST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ED1F2187-3750-4E75-A298-52D0C6869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1500"/>
            <a:ext cx="11125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3600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One fictional case makes three evidence states visible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4F6F0EC0-8B5D-46AC-BBF1-426710862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4365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A1F44"/>
            </a:solidFill>
            <a:prstDash val="solid"/>
          </a:ln>
        </p:spPr>
      </p:sp>
      <p:sp>
        <p:nvSpPr>
          <p:cNvPr id="4" name="footer-source-4">
            <a:extLst xmlns:a="http://schemas.openxmlformats.org/drawingml/2006/main">
              <a:ext uri="{FF2B5EF4-FFF2-40B4-BE49-F238E27FC236}">
                <a16:creationId xmlns:a16="http://schemas.microsoft.com/office/drawing/2014/main" id="{E94416CF-78AD-423D-94DC-5414569CB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25B53"/>
                </a:solidFill>
                <a:latin typeface="Courier New"/>
                <a:ea typeface="Courier New"/>
                <a:cs typeface="Courier New"/>
              </a:defRPr>
            </a:pPr>
            <a:r>
              <a:rPr sz="975" b="0" i="0">
                <a:solidFill>
                  <a:srgbClr val="625B53"/>
                </a:solidFill>
                <a:latin typeface="Courier New"/>
                <a:ea typeface="Courier New"/>
                <a:cs typeface="Courier New"/>
              </a:rPr>
              <a:t>SOURCES IN SPEAKER NOTES · RESEARCH-STAGE PROTOTYPE</a:t>
            </a:r>
          </a:p>
        </p:txBody>
      </p:sp>
      <p:sp>
        <p:nvSpPr>
          <p:cNvPr id="5" name="footer-page-4">
            <a:extLst xmlns:a="http://schemas.openxmlformats.org/drawingml/2006/main">
              <a:ext uri="{FF2B5EF4-FFF2-40B4-BE49-F238E27FC236}">
                <a16:creationId xmlns:a16="http://schemas.microsoft.com/office/drawing/2014/main" id="{4EA6A1F7-1C0F-4180-A03A-B3E1DE1BF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57950"/>
            <a:ext cx="990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defRPr>
            </a:pPr>
            <a:r>
              <a:rPr sz="97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rPr>
              <a:t>04 / 10</a:t>
            </a:r>
          </a:p>
        </p:txBody>
      </p:sp>
      <p:sp>
        <p:nvSpPr>
          <p:cNvPr id="6" name="case-entity">
            <a:extLst xmlns:a="http://schemas.openxmlformats.org/drawingml/2006/main">
              <a:ext uri="{FF2B5EF4-FFF2-40B4-BE49-F238E27FC236}">
                <a16:creationId xmlns:a16="http://schemas.microsoft.com/office/drawing/2014/main" id="{BF48C93F-B661-43F3-9EA0-300AFC179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38300"/>
            <a:ext cx="3238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2550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Meridian Horizon Fund I (Meridian Horizon Fund Management IFSC Pvt Ltd)</a:t>
            </a:r>
          </a:p>
        </p:txBody>
      </p:sp>
      <p:sp>
        <p:nvSpPr>
          <p:cNvPr id="7" name="case-period">
            <a:extLst xmlns:a="http://schemas.openxmlformats.org/drawingml/2006/main">
              <a:ext uri="{FF2B5EF4-FFF2-40B4-BE49-F238E27FC236}">
                <a16:creationId xmlns:a16="http://schemas.microsoft.com/office/drawing/2014/main" id="{E1722C7D-7E30-44EA-829E-2887433B1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F0E0B"/>
                </a:solidFill>
                <a:latin typeface="Courier New"/>
                <a:ea typeface="Courier New"/>
                <a:cs typeface="Courier New"/>
              </a:defRPr>
            </a:pPr>
            <a:r>
              <a:rPr sz="1650" b="1" i="0">
                <a:solidFill>
                  <a:srgbClr val="0F0E0B"/>
                </a:solidFill>
                <a:latin typeface="Courier New"/>
                <a:ea typeface="Courier New"/>
                <a:cs typeface="Courier New"/>
              </a:rPr>
              <a:t>QE 30 Jun 2026</a:t>
            </a:r>
          </a:p>
        </p:txBody>
      </p:sp>
      <p:sp>
        <p:nvSpPr>
          <p:cNvPr id="8" name="case-marker">
            <a:extLst xmlns:a="http://schemas.openxmlformats.org/drawingml/2006/main">
              <a:ext uri="{FF2B5EF4-FFF2-40B4-BE49-F238E27FC236}">
                <a16:creationId xmlns:a16="http://schemas.microsoft.com/office/drawing/2014/main" id="{36113BCA-3098-456C-8D4A-15CCA0018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defRPr>
            </a:pPr>
            <a:r>
              <a: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rPr>
              <a:t>FICTIONAL</a:t>
            </a:r>
          </a:p>
        </p:txBody>
      </p:sp>
      <p:sp>
        <p:nvSpPr>
          <p:cNvPr id="9" name="case-divider">
            <a:extLst xmlns:a="http://schemas.openxmlformats.org/drawingml/2006/main">
              <a:ext uri="{FF2B5EF4-FFF2-40B4-BE49-F238E27FC236}">
                <a16:creationId xmlns:a16="http://schemas.microsoft.com/office/drawing/2014/main" id="{A4362507-65BC-4EAD-8234-B885A5052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447800"/>
            <a:ext cx="0" cy="4305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A1F44"/>
            </a:solidFill>
            <a:prstDash val="solid"/>
          </a:ln>
        </p:spPr>
      </p:sp>
      <p:sp>
        <p:nvSpPr>
          <p:cNvPr id="10" name="case-row-rule-1">
            <a:extLst xmlns:a="http://schemas.openxmlformats.org/drawingml/2006/main">
              <a:ext uri="{FF2B5EF4-FFF2-40B4-BE49-F238E27FC236}">
                <a16:creationId xmlns:a16="http://schemas.microsoft.com/office/drawing/2014/main" id="{0EE2FD0E-11EC-43F1-8B59-A2B95DBD7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686050"/>
            <a:ext cx="685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E786E"/>
            </a:solidFill>
            <a:prstDash val="solid"/>
          </a:ln>
        </p:spPr>
      </p:sp>
      <p:sp>
        <p:nvSpPr>
          <p:cNvPr id="11" name="case-row-status-1">
            <a:extLst xmlns:a="http://schemas.openxmlformats.org/drawingml/2006/main">
              <a:ext uri="{FF2B5EF4-FFF2-40B4-BE49-F238E27FC236}">
                <a16:creationId xmlns:a16="http://schemas.microsoft.com/office/drawing/2014/main" id="{B8909839-33A9-4CEA-853D-FEE062EEE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5621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215B43"/>
                </a:solidFill>
                <a:latin typeface="Courier New"/>
                <a:ea typeface="Courier New"/>
                <a:cs typeface="Courier New"/>
              </a:defRPr>
            </a:pPr>
            <a:r>
              <a:rPr sz="1650" b="1" i="0">
                <a:solidFill>
                  <a:srgbClr val="215B43"/>
                </a:solidFill>
                <a:latin typeface="Courier New"/>
                <a:ea typeface="Courier New"/>
                <a:cs typeface="Courier New"/>
              </a:rPr>
              <a:t>SUPPORTED</a:t>
            </a:r>
          </a:p>
        </p:txBody>
      </p:sp>
      <p:sp>
        <p:nvSpPr>
          <p:cNvPr id="12" name="case-row-label-1">
            <a:extLst xmlns:a="http://schemas.openxmlformats.org/drawingml/2006/main">
              <a:ext uri="{FF2B5EF4-FFF2-40B4-BE49-F238E27FC236}">
                <a16:creationId xmlns:a16="http://schemas.microsoft.com/office/drawing/2014/main" id="{67225747-565F-4E1F-B5BB-78389B793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86690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2175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Closing NAV</a:t>
            </a:r>
          </a:p>
        </p:txBody>
      </p:sp>
      <p:sp>
        <p:nvSpPr>
          <p:cNvPr id="13" name="case-row-copy-1">
            <a:extLst xmlns:a="http://schemas.openxmlformats.org/drawingml/2006/main">
              <a:ext uri="{FF2B5EF4-FFF2-40B4-BE49-F238E27FC236}">
                <a16:creationId xmlns:a16="http://schemas.microsoft.com/office/drawing/2014/main" id="{1A646FDB-67F5-4C92-ACF6-53D58101F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924050"/>
            <a:ext cx="3619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0F0E0B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0F0E0B"/>
                </a:solidFill>
                <a:latin typeface="Arial"/>
                <a:ea typeface="Arial"/>
                <a:cs typeface="Arial"/>
              </a:rPr>
              <a:t>USD 12.4M agrees across two sources</a:t>
            </a:r>
          </a:p>
        </p:txBody>
      </p:sp>
      <p:sp>
        <p:nvSpPr>
          <p:cNvPr id="14" name="case-row-rule-2">
            <a:extLst xmlns:a="http://schemas.openxmlformats.org/drawingml/2006/main">
              <a:ext uri="{FF2B5EF4-FFF2-40B4-BE49-F238E27FC236}">
                <a16:creationId xmlns:a16="http://schemas.microsoft.com/office/drawing/2014/main" id="{990C6465-C66E-4022-B0D1-CBBC8C800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038600"/>
            <a:ext cx="685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E786E"/>
            </a:solidFill>
            <a:prstDash val="solid"/>
          </a:ln>
        </p:spPr>
      </p:sp>
      <p:sp>
        <p:nvSpPr>
          <p:cNvPr id="15" name="case-row-status-2">
            <a:extLst xmlns:a="http://schemas.openxmlformats.org/drawingml/2006/main">
              <a:ext uri="{FF2B5EF4-FFF2-40B4-BE49-F238E27FC236}">
                <a16:creationId xmlns:a16="http://schemas.microsoft.com/office/drawing/2014/main" id="{8D34D2E6-40D8-4DA3-B4BC-D9A717F43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9146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96491A"/>
                </a:solidFill>
                <a:latin typeface="Courier New"/>
                <a:ea typeface="Courier New"/>
                <a:cs typeface="Courier New"/>
              </a:defRPr>
            </a:pPr>
            <a:r>
              <a:rPr sz="1650" b="1" i="0">
                <a:solidFill>
                  <a:srgbClr val="96491A"/>
                </a:solidFill>
                <a:latin typeface="Courier New"/>
                <a:ea typeface="Courier New"/>
                <a:cs typeface="Courier New"/>
              </a:rPr>
              <a:t>CONFLICTING</a:t>
            </a:r>
          </a:p>
        </p:txBody>
      </p:sp>
      <p:sp>
        <p:nvSpPr>
          <p:cNvPr id="16" name="case-row-label-2">
            <a:extLst xmlns:a="http://schemas.openxmlformats.org/drawingml/2006/main">
              <a:ext uri="{FF2B5EF4-FFF2-40B4-BE49-F238E27FC236}">
                <a16:creationId xmlns:a16="http://schemas.microsoft.com/office/drawing/2014/main" id="{E0FC6972-51D3-41BA-8DAC-1315AF133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21945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2175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Committed capital</a:t>
            </a:r>
          </a:p>
        </p:txBody>
      </p:sp>
      <p:sp>
        <p:nvSpPr>
          <p:cNvPr id="17" name="case-row-copy-2">
            <a:extLst xmlns:a="http://schemas.openxmlformats.org/drawingml/2006/main">
              <a:ext uri="{FF2B5EF4-FFF2-40B4-BE49-F238E27FC236}">
                <a16:creationId xmlns:a16="http://schemas.microsoft.com/office/drawing/2014/main" id="{54621B36-6F05-4DD8-878F-D96D3BDA7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276600"/>
            <a:ext cx="3619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0F0E0B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0F0E0B"/>
                </a:solidFill>
                <a:latin typeface="Arial"/>
                <a:ea typeface="Arial"/>
                <a:cs typeface="Arial"/>
              </a:rPr>
              <a:t>USD 25M vs USD 24M</a:t>
            </a:r>
          </a:p>
        </p:txBody>
      </p:sp>
      <p:sp>
        <p:nvSpPr>
          <p:cNvPr id="18" name="case-row-rule-3">
            <a:extLst xmlns:a="http://schemas.openxmlformats.org/drawingml/2006/main">
              <a:ext uri="{FF2B5EF4-FFF2-40B4-BE49-F238E27FC236}">
                <a16:creationId xmlns:a16="http://schemas.microsoft.com/office/drawing/2014/main" id="{06B33CE9-13FD-4FBC-BA01-94AC7EB23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391150"/>
            <a:ext cx="685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E786E"/>
            </a:solidFill>
            <a:prstDash val="solid"/>
          </a:ln>
        </p:spPr>
      </p:sp>
      <p:sp>
        <p:nvSpPr>
          <p:cNvPr id="19" name="case-row-status-3">
            <a:extLst xmlns:a="http://schemas.openxmlformats.org/drawingml/2006/main">
              <a:ext uri="{FF2B5EF4-FFF2-40B4-BE49-F238E27FC236}">
                <a16:creationId xmlns:a16="http://schemas.microsoft.com/office/drawing/2014/main" id="{F63CC6FB-8E19-48ED-837D-46855753A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2672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625B53"/>
                </a:solidFill>
                <a:latin typeface="Courier New"/>
                <a:ea typeface="Courier New"/>
                <a:cs typeface="Courier New"/>
              </a:defRPr>
            </a:pPr>
            <a:r>
              <a:rPr sz="1650" b="1" i="0">
                <a:solidFill>
                  <a:srgbClr val="625B53"/>
                </a:solidFill>
                <a:latin typeface="Courier New"/>
                <a:ea typeface="Courier New"/>
                <a:cs typeface="Courier New"/>
              </a:rPr>
              <a:t>UNSUPPORTED</a:t>
            </a:r>
          </a:p>
        </p:txBody>
      </p:sp>
      <p:sp>
        <p:nvSpPr>
          <p:cNvPr id="20" name="case-row-label-3">
            <a:extLst xmlns:a="http://schemas.openxmlformats.org/drawingml/2006/main">
              <a:ext uri="{FF2B5EF4-FFF2-40B4-BE49-F238E27FC236}">
                <a16:creationId xmlns:a16="http://schemas.microsoft.com/office/drawing/2014/main" id="{BA93B6AC-CC25-4DC9-B65F-2C8DEAFD0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57200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2175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Complaints closed</a:t>
            </a:r>
          </a:p>
        </p:txBody>
      </p:sp>
      <p:sp>
        <p:nvSpPr>
          <p:cNvPr id="21" name="case-row-copy-3">
            <a:extLst xmlns:a="http://schemas.openxmlformats.org/drawingml/2006/main">
              <a:ext uri="{FF2B5EF4-FFF2-40B4-BE49-F238E27FC236}">
                <a16:creationId xmlns:a16="http://schemas.microsoft.com/office/drawing/2014/main" id="{11D2D166-3798-4C9F-8652-64D6EFF09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629150"/>
            <a:ext cx="3619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0F0E0B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0F0E0B"/>
                </a:solidFill>
                <a:latin typeface="Arial"/>
                <a:ea typeface="Arial"/>
                <a:cs typeface="Arial"/>
              </a:rPr>
              <a:t>no candidate evidence</a:t>
            </a:r>
          </a:p>
        </p:txBody>
      </p:sp>
    </p:spTree>
    <p:extLst>
      <p:ext uri="{BB962C8B-B14F-4D97-AF65-F5344CB8AC3E}">
        <p14:creationId xmlns:p14="http://schemas.microsoft.com/office/powerpoint/2010/main" val="94255030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DED6C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brand-5">
            <a:extLst xmlns:a="http://schemas.openxmlformats.org/drawingml/2006/main">
              <a:ext uri="{FF2B5EF4-FFF2-40B4-BE49-F238E27FC236}">
                <a16:creationId xmlns:a16="http://schemas.microsoft.com/office/drawing/2014/main" id="{E4DA99D2-E7EC-4A2A-90C0-D8C150789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defRPr>
            </a:pPr>
            <a:r>
              <a:rPr sz="112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rPr>
              <a:t>KRISEVA  /  ATTEST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33DBB377-EA0E-4432-8EA2-8C4E88BE2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1500"/>
            <a:ext cx="11125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3600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Preserve the handoff, not just the answer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06A4BCD4-C699-4DA0-8605-C40212B9F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4365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A1F44"/>
            </a:solidFill>
            <a:prstDash val="solid"/>
          </a:ln>
        </p:spPr>
      </p:sp>
      <p:sp>
        <p:nvSpPr>
          <p:cNvPr id="4" name="footer-source-5">
            <a:extLst xmlns:a="http://schemas.openxmlformats.org/drawingml/2006/main">
              <a:ext uri="{FF2B5EF4-FFF2-40B4-BE49-F238E27FC236}">
                <a16:creationId xmlns:a16="http://schemas.microsoft.com/office/drawing/2014/main" id="{46AC43F5-614A-47A8-95B4-F0B928B5D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25B53"/>
                </a:solidFill>
                <a:latin typeface="Courier New"/>
                <a:ea typeface="Courier New"/>
                <a:cs typeface="Courier New"/>
              </a:defRPr>
            </a:pPr>
            <a:r>
              <a:rPr sz="975" b="0" i="0">
                <a:solidFill>
                  <a:srgbClr val="625B53"/>
                </a:solidFill>
                <a:latin typeface="Courier New"/>
                <a:ea typeface="Courier New"/>
                <a:cs typeface="Courier New"/>
              </a:rPr>
              <a:t>SOURCES IN SPEAKER NOTES · RESEARCH-STAGE PROTOTYPE</a:t>
            </a:r>
          </a:p>
        </p:txBody>
      </p:sp>
      <p:sp>
        <p:nvSpPr>
          <p:cNvPr id="5" name="footer-page-5">
            <a:extLst xmlns:a="http://schemas.openxmlformats.org/drawingml/2006/main">
              <a:ext uri="{FF2B5EF4-FFF2-40B4-BE49-F238E27FC236}">
                <a16:creationId xmlns:a16="http://schemas.microsoft.com/office/drawing/2014/main" id="{64065D31-69F8-4184-A6D8-154B11793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57950"/>
            <a:ext cx="990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defRPr>
            </a:pPr>
            <a:r>
              <a:rPr sz="97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rPr>
              <a:t>05 / 10</a:t>
            </a:r>
          </a:p>
        </p:txBody>
      </p:sp>
      <p:sp>
        <p:nvSpPr>
          <p:cNvPr id="6" name="workflow-rail">
            <a:extLst xmlns:a="http://schemas.openxmlformats.org/drawingml/2006/main">
              <a:ext uri="{FF2B5EF4-FFF2-40B4-BE49-F238E27FC236}">
                <a16:creationId xmlns:a16="http://schemas.microsoft.com/office/drawing/2014/main" id="{F86146BE-127A-4989-8A2E-66959D0C5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81350"/>
            <a:ext cx="10382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A1F44"/>
            </a:solidFill>
            <a:prstDash val="solid"/>
          </a:ln>
        </p:spPr>
      </p:sp>
      <p:sp>
        <p:nvSpPr>
          <p:cNvPr id="7" name="workflow-tick-1">
            <a:extLst xmlns:a="http://schemas.openxmlformats.org/drawingml/2006/main">
              <a:ext uri="{FF2B5EF4-FFF2-40B4-BE49-F238E27FC236}">
                <a16:creationId xmlns:a16="http://schemas.microsoft.com/office/drawing/2014/main" id="{BF19BCFF-FE17-4289-A3D4-E371678F4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90850"/>
            <a:ext cx="0" cy="381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A87229"/>
            </a:solidFill>
            <a:prstDash val="solid"/>
          </a:ln>
        </p:spPr>
      </p:sp>
      <p:sp>
        <p:nvSpPr>
          <p:cNvPr id="8" name="workflow-step-1">
            <a:extLst xmlns:a="http://schemas.openxmlformats.org/drawingml/2006/main">
              <a:ext uri="{FF2B5EF4-FFF2-40B4-BE49-F238E27FC236}">
                <a16:creationId xmlns:a16="http://schemas.microsoft.com/office/drawing/2014/main" id="{089C8012-5D72-45D0-BF69-1035C409D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1952625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1650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01 SOURCE · exact page, region or cell</a:t>
            </a:r>
          </a:p>
        </p:txBody>
      </p:sp>
      <p:sp>
        <p:nvSpPr>
          <p:cNvPr id="9" name="workflow-tick-2">
            <a:extLst xmlns:a="http://schemas.openxmlformats.org/drawingml/2006/main">
              <a:ext uri="{FF2B5EF4-FFF2-40B4-BE49-F238E27FC236}">
                <a16:creationId xmlns:a16="http://schemas.microsoft.com/office/drawing/2014/main" id="{37F7DF3E-A4AB-473E-B2DF-63C4F912E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990850"/>
            <a:ext cx="0" cy="381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A87229"/>
            </a:solidFill>
            <a:prstDash val="solid"/>
          </a:ln>
        </p:spPr>
      </p:sp>
      <p:sp>
        <p:nvSpPr>
          <p:cNvPr id="10" name="workflow-step-2">
            <a:extLst xmlns:a="http://schemas.openxmlformats.org/drawingml/2006/main">
              <a:ext uri="{FF2B5EF4-FFF2-40B4-BE49-F238E27FC236}">
                <a16:creationId xmlns:a16="http://schemas.microsoft.com/office/drawing/2014/main" id="{8B058FEB-02B4-4144-AEB8-20DF070AC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714750"/>
            <a:ext cx="1952625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1650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02 COMPARE · preserve agreement and disagreement</a:t>
            </a:r>
          </a:p>
        </p:txBody>
      </p:sp>
      <p:sp>
        <p:nvSpPr>
          <p:cNvPr id="11" name="workflow-tick-3">
            <a:extLst xmlns:a="http://schemas.openxmlformats.org/drawingml/2006/main">
              <a:ext uri="{FF2B5EF4-FFF2-40B4-BE49-F238E27FC236}">
                <a16:creationId xmlns:a16="http://schemas.microsoft.com/office/drawing/2014/main" id="{21BF1CDF-9A58-48FA-9160-DA1BC380C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990850"/>
            <a:ext cx="0" cy="381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A87229"/>
            </a:solidFill>
            <a:prstDash val="solid"/>
          </a:ln>
        </p:spPr>
      </p:sp>
      <p:sp>
        <p:nvSpPr>
          <p:cNvPr id="12" name="workflow-step-3">
            <a:extLst xmlns:a="http://schemas.openxmlformats.org/drawingml/2006/main">
              <a:ext uri="{FF2B5EF4-FFF2-40B4-BE49-F238E27FC236}">
                <a16:creationId xmlns:a16="http://schemas.microsoft.com/office/drawing/2014/main" id="{210512FE-A174-4D29-B197-1293D5D6A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809750"/>
            <a:ext cx="1952625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1650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03 ESCALATE · no default winner</a:t>
            </a:r>
          </a:p>
        </p:txBody>
      </p:sp>
      <p:sp>
        <p:nvSpPr>
          <p:cNvPr id="13" name="workflow-tick-4">
            <a:extLst xmlns:a="http://schemas.openxmlformats.org/drawingml/2006/main">
              <a:ext uri="{FF2B5EF4-FFF2-40B4-BE49-F238E27FC236}">
                <a16:creationId xmlns:a16="http://schemas.microsoft.com/office/drawing/2014/main" id="{64103D35-84C6-48ED-BA33-F22E33FEE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990850"/>
            <a:ext cx="0" cy="381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A87229"/>
            </a:solidFill>
            <a:prstDash val="solid"/>
          </a:ln>
        </p:spPr>
      </p:sp>
      <p:sp>
        <p:nvSpPr>
          <p:cNvPr id="14" name="workflow-step-4">
            <a:extLst xmlns:a="http://schemas.openxmlformats.org/drawingml/2006/main">
              <a:ext uri="{FF2B5EF4-FFF2-40B4-BE49-F238E27FC236}">
                <a16:creationId xmlns:a16="http://schemas.microsoft.com/office/drawing/2014/main" id="{50D2B3DE-AFAF-4EDF-8690-1248E53BD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714750"/>
            <a:ext cx="1952625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1650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04 DECIDE · named reviewer and reason</a:t>
            </a:r>
          </a:p>
        </p:txBody>
      </p:sp>
      <p:sp>
        <p:nvSpPr>
          <p:cNvPr id="15" name="workflow-tick-5">
            <a:extLst xmlns:a="http://schemas.openxmlformats.org/drawingml/2006/main">
              <a:ext uri="{FF2B5EF4-FFF2-40B4-BE49-F238E27FC236}">
                <a16:creationId xmlns:a16="http://schemas.microsoft.com/office/drawing/2014/main" id="{64FCDFCD-0645-4D0B-8461-A1F66F01A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990850"/>
            <a:ext cx="0" cy="381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A87229"/>
            </a:solidFill>
            <a:prstDash val="solid"/>
          </a:ln>
        </p:spPr>
      </p:sp>
      <p:sp>
        <p:nvSpPr>
          <p:cNvPr id="16" name="workflow-step-5">
            <a:extLst xmlns:a="http://schemas.openxmlformats.org/drawingml/2006/main">
              <a:ext uri="{FF2B5EF4-FFF2-40B4-BE49-F238E27FC236}">
                <a16:creationId xmlns:a16="http://schemas.microsoft.com/office/drawing/2014/main" id="{688CD65B-C2D6-4FAF-8F43-ACCE26A1A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809750"/>
            <a:ext cx="1952625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1650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05 RETAIN · local JSON and printable HTML manifest</a:t>
            </a:r>
          </a:p>
        </p:txBody>
      </p:sp>
    </p:spTree>
    <p:extLst>
      <p:ext uri="{BB962C8B-B14F-4D97-AF65-F5344CB8AC3E}">
        <p14:creationId xmlns:p14="http://schemas.microsoft.com/office/powerpoint/2010/main" val="121412163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A1F4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brand-6">
            <a:extLst xmlns:a="http://schemas.openxmlformats.org/drawingml/2006/main">
              <a:ext uri="{FF2B5EF4-FFF2-40B4-BE49-F238E27FC236}">
                <a16:creationId xmlns:a16="http://schemas.microsoft.com/office/drawing/2014/main" id="{BDE91300-AEEA-4819-A1E1-01ECB09A4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F3EDE0"/>
                </a:solidFill>
                <a:latin typeface="Courier New"/>
                <a:ea typeface="Courier New"/>
                <a:cs typeface="Courier New"/>
              </a:defRPr>
            </a:pPr>
            <a:r>
              <a:rPr sz="1125" b="1" i="0">
                <a:solidFill>
                  <a:srgbClr val="F3EDE0"/>
                </a:solidFill>
                <a:latin typeface="Courier New"/>
                <a:ea typeface="Courier New"/>
                <a:cs typeface="Courier New"/>
              </a:rPr>
              <a:t>KRISEVA  /  ATTEST</a:t>
            </a:r>
          </a:p>
        </p:txBody>
      </p:sp>
      <p:sp>
        <p:nvSpPr>
          <p:cNvPr id="2" name="title-6">
            <a:extLst xmlns:a="http://schemas.openxmlformats.org/drawingml/2006/main">
              <a:ext uri="{FF2B5EF4-FFF2-40B4-BE49-F238E27FC236}">
                <a16:creationId xmlns:a16="http://schemas.microsoft.com/office/drawing/2014/main" id="{2A86D89A-2ABF-4E12-91AE-CEEBEC721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1500"/>
            <a:ext cx="11125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0" i="0">
                <a:solidFill>
                  <a:srgbClr val="F3EDE0"/>
                </a:solidFill>
                <a:latin typeface="Georgia"/>
                <a:ea typeface="Georgia"/>
                <a:cs typeface="Georgia"/>
              </a:defRPr>
            </a:pPr>
            <a:r>
              <a:rPr sz="3600" b="0" i="0">
                <a:solidFill>
                  <a:srgbClr val="F3EDE0"/>
                </a:solidFill>
                <a:latin typeface="Georgia"/>
                <a:ea typeface="Georgia"/>
                <a:cs typeface="Georgia"/>
              </a:rPr>
              <a:t>The prototype knows when to stop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5C4E2F7D-1C6C-4FB9-B0AF-EB1182A3A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4365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3EDE0"/>
            </a:solidFill>
            <a:prstDash val="solid"/>
          </a:ln>
        </p:spPr>
      </p:sp>
      <p:sp>
        <p:nvSpPr>
          <p:cNvPr id="4" name="footer-source-6">
            <a:extLst xmlns:a="http://schemas.openxmlformats.org/drawingml/2006/main">
              <a:ext uri="{FF2B5EF4-FFF2-40B4-BE49-F238E27FC236}">
                <a16:creationId xmlns:a16="http://schemas.microsoft.com/office/drawing/2014/main" id="{85388F93-08BE-4DEA-B350-BC9B52A5F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F3EDE0"/>
                </a:solidFill>
                <a:latin typeface="Courier New"/>
                <a:ea typeface="Courier New"/>
                <a:cs typeface="Courier New"/>
              </a:defRPr>
            </a:pPr>
            <a:r>
              <a:rPr sz="975" b="0" i="0">
                <a:solidFill>
                  <a:srgbClr val="F3EDE0"/>
                </a:solidFill>
                <a:latin typeface="Courier New"/>
                <a:ea typeface="Courier New"/>
                <a:cs typeface="Courier New"/>
              </a:rPr>
              <a:t>SOURCES IN SPEAKER NOTES · RESEARCH-STAGE PROTOTYPE</a:t>
            </a:r>
          </a:p>
        </p:txBody>
      </p:sp>
      <p:sp>
        <p:nvSpPr>
          <p:cNvPr id="5" name="footer-page-6">
            <a:extLst xmlns:a="http://schemas.openxmlformats.org/drawingml/2006/main">
              <a:ext uri="{FF2B5EF4-FFF2-40B4-BE49-F238E27FC236}">
                <a16:creationId xmlns:a16="http://schemas.microsoft.com/office/drawing/2014/main" id="{0CCC41E0-1FA3-40DC-8FDB-1EA36E521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57950"/>
            <a:ext cx="990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1" i="0">
                <a:solidFill>
                  <a:srgbClr val="F3EDE0"/>
                </a:solidFill>
                <a:latin typeface="Courier New"/>
                <a:ea typeface="Courier New"/>
                <a:cs typeface="Courier New"/>
              </a:defRPr>
            </a:pPr>
            <a:r>
              <a:rPr sz="975" b="1" i="0">
                <a:solidFill>
                  <a:srgbClr val="F3EDE0"/>
                </a:solidFill>
                <a:latin typeface="Courier New"/>
                <a:ea typeface="Courier New"/>
                <a:cs typeface="Courier New"/>
              </a:rPr>
              <a:t>06 / 10</a:t>
            </a:r>
          </a:p>
        </p:txBody>
      </p:sp>
      <p:sp>
        <p:nvSpPr>
          <p:cNvPr id="6" name="agent-trace-label">
            <a:extLst xmlns:a="http://schemas.openxmlformats.org/drawingml/2006/main">
              <a:ext uri="{FF2B5EF4-FFF2-40B4-BE49-F238E27FC236}">
                <a16:creationId xmlns:a16="http://schemas.microsoft.com/office/drawing/2014/main" id="{1F43A5A6-5DF6-41DB-B800-95EFAC034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defRPr>
            </a:pPr>
            <a:r>
              <a: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rPr>
              <a:t>DETERMINISTIC TRACE</a:t>
            </a:r>
          </a:p>
        </p:txBody>
      </p:sp>
      <p:sp>
        <p:nvSpPr>
          <p:cNvPr id="7" name="agent-trace-spine">
            <a:extLst xmlns:a="http://schemas.openxmlformats.org/drawingml/2006/main">
              <a:ext uri="{FF2B5EF4-FFF2-40B4-BE49-F238E27FC236}">
                <a16:creationId xmlns:a16="http://schemas.microsoft.com/office/drawing/2014/main" id="{AED06A9F-E31C-4DE2-A32E-85CC35DAE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962150"/>
            <a:ext cx="0" cy="3714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87229"/>
            </a:solidFill>
            <a:prstDash val="solid"/>
          </a:ln>
        </p:spPr>
      </p:sp>
      <p:sp>
        <p:nvSpPr>
          <p:cNvPr id="8" name="agent-propose">
            <a:extLst xmlns:a="http://schemas.openxmlformats.org/drawingml/2006/main">
              <a:ext uri="{FF2B5EF4-FFF2-40B4-BE49-F238E27FC236}">
                <a16:creationId xmlns:a16="http://schemas.microsoft.com/office/drawing/2014/main" id="{14A01665-BAC3-4BCC-ADFE-F10DF98A7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defRPr>
            </a:pPr>
            <a:r>
              <a: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rPr>
              <a:t>PROPOSE</a:t>
            </a:r>
          </a:p>
        </p:txBody>
      </p:sp>
      <p:sp>
        <p:nvSpPr>
          <p:cNvPr id="9" name="agent-propose-copy">
            <a:extLst xmlns:a="http://schemas.openxmlformats.org/drawingml/2006/main">
              <a:ext uri="{FF2B5EF4-FFF2-40B4-BE49-F238E27FC236}">
                <a16:creationId xmlns:a16="http://schemas.microsoft.com/office/drawing/2014/main" id="{5FD3012E-4E40-46A1-A6B8-C9008D9CB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038350"/>
            <a:ext cx="447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F3EDE0"/>
                </a:solidFill>
                <a:latin typeface="Georgia"/>
                <a:ea typeface="Georgia"/>
                <a:cs typeface="Georgia"/>
              </a:defRPr>
            </a:pPr>
            <a:r>
              <a:rPr sz="1875" b="0" i="0">
                <a:solidFill>
                  <a:srgbClr val="F3EDE0"/>
                </a:solidFill>
                <a:latin typeface="Georgia"/>
                <a:ea typeface="Georgia"/>
                <a:cs typeface="Georgia"/>
              </a:rPr>
              <a:t>candidate evidence and exact references</a:t>
            </a:r>
          </a:p>
        </p:txBody>
      </p:sp>
      <p:sp>
        <p:nvSpPr>
          <p:cNvPr id="10" name="agent-abstain">
            <a:extLst xmlns:a="http://schemas.openxmlformats.org/drawingml/2006/main">
              <a:ext uri="{FF2B5EF4-FFF2-40B4-BE49-F238E27FC236}">
                <a16:creationId xmlns:a16="http://schemas.microsoft.com/office/drawing/2014/main" id="{5FA0D4DE-5B6A-4455-AAC6-EA3FEAADC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90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0" i="0">
                <a:solidFill>
                  <a:srgbClr val="F3EDE0"/>
                </a:solidFill>
                <a:latin typeface="Georgia"/>
                <a:ea typeface="Georgia"/>
                <a:cs typeface="Georgia"/>
              </a:defRPr>
            </a:pPr>
            <a:r>
              <a:rPr sz="3450" b="0" i="0">
                <a:solidFill>
                  <a:srgbClr val="F3EDE0"/>
                </a:solidFill>
                <a:latin typeface="Georgia"/>
                <a:ea typeface="Georgia"/>
                <a:cs typeface="Georgia"/>
              </a:rPr>
              <a:t>ABSTAIN</a:t>
            </a:r>
          </a:p>
        </p:txBody>
      </p:sp>
      <p:sp>
        <p:nvSpPr>
          <p:cNvPr id="11" name="agent-abstain-copy">
            <a:extLst xmlns:a="http://schemas.openxmlformats.org/drawingml/2006/main">
              <a:ext uri="{FF2B5EF4-FFF2-40B4-BE49-F238E27FC236}">
                <a16:creationId xmlns:a16="http://schemas.microsoft.com/office/drawing/2014/main" id="{519E0572-D19A-4E03-BDA7-A24960D35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276600"/>
            <a:ext cx="447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F3EDE0"/>
                </a:solidFill>
                <a:latin typeface="Georgia"/>
                <a:ea typeface="Georgia"/>
                <a:cs typeface="Georgia"/>
              </a:defRPr>
            </a:pPr>
            <a:r>
              <a:rPr sz="1875" b="0" i="0">
                <a:solidFill>
                  <a:srgbClr val="F3EDE0"/>
                </a:solidFill>
                <a:latin typeface="Georgia"/>
                <a:ea typeface="Georgia"/>
                <a:cs typeface="Georgia"/>
              </a:rPr>
              <a:t>no candidate evidence; request more</a:t>
            </a:r>
          </a:p>
        </p:txBody>
      </p:sp>
      <p:sp>
        <p:nvSpPr>
          <p:cNvPr id="12" name="agent-decide">
            <a:extLst xmlns:a="http://schemas.openxmlformats.org/drawingml/2006/main">
              <a:ext uri="{FF2B5EF4-FFF2-40B4-BE49-F238E27FC236}">
                <a16:creationId xmlns:a16="http://schemas.microsoft.com/office/drawing/2014/main" id="{E3D9A3BC-0571-42C9-AB0E-99FA25068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defRPr>
            </a:pPr>
            <a:r>
              <a: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rPr>
              <a:t>DECIDE</a:t>
            </a:r>
          </a:p>
        </p:txBody>
      </p:sp>
      <p:sp>
        <p:nvSpPr>
          <p:cNvPr id="13" name="agent-decide-copy">
            <a:extLst xmlns:a="http://schemas.openxmlformats.org/drawingml/2006/main">
              <a:ext uri="{FF2B5EF4-FFF2-40B4-BE49-F238E27FC236}">
                <a16:creationId xmlns:a16="http://schemas.microsoft.com/office/drawing/2014/main" id="{B759E6ED-5C98-4252-89B9-86412A2D4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705350"/>
            <a:ext cx="4476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F3EDE0"/>
                </a:solidFill>
                <a:latin typeface="Georgia"/>
                <a:ea typeface="Georgia"/>
                <a:cs typeface="Georgia"/>
              </a:defRPr>
            </a:pPr>
            <a:r>
              <a:rPr sz="1875" b="0" i="0">
                <a:solidFill>
                  <a:srgbClr val="F3EDE0"/>
                </a:solidFill>
                <a:latin typeface="Georgia"/>
                <a:ea typeface="Georgia"/>
                <a:cs typeface="Georgia"/>
              </a:rPr>
              <a:t>only a named human can accept, correct, reject or defer</a:t>
            </a:r>
          </a:p>
        </p:txBody>
      </p:sp>
      <p:sp>
        <p:nvSpPr>
          <p:cNvPr id="14" name="agent-boundary-rule">
            <a:extLst xmlns:a="http://schemas.openxmlformats.org/drawingml/2006/main">
              <a:ext uri="{FF2B5EF4-FFF2-40B4-BE49-F238E27FC236}">
                <a16:creationId xmlns:a16="http://schemas.microsoft.com/office/drawing/2014/main" id="{D63EE846-C5FA-4CDA-95A2-99DA34316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38350"/>
            <a:ext cx="285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87229"/>
            </a:solidFill>
            <a:prstDash val="solid"/>
          </a:ln>
        </p:spPr>
      </p:sp>
      <p:sp>
        <p:nvSpPr>
          <p:cNvPr id="15" name="agent-boundary-copy">
            <a:extLst xmlns:a="http://schemas.openxmlformats.org/drawingml/2006/main">
              <a:ext uri="{FF2B5EF4-FFF2-40B4-BE49-F238E27FC236}">
                <a16:creationId xmlns:a16="http://schemas.microsoft.com/office/drawing/2014/main" id="{F3FDF385-66C3-49C9-B47C-608665C7D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438400"/>
            <a:ext cx="28575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A87229"/>
                </a:solidFill>
                <a:latin typeface="Georgia"/>
                <a:ea typeface="Georgia"/>
                <a:cs typeface="Georgia"/>
              </a:defRPr>
            </a:pPr>
            <a:r>
              <a:rPr sz="1950" b="0" i="0">
                <a:solidFill>
                  <a:srgbClr val="A87229"/>
                </a:solidFill>
                <a:latin typeface="Georgia"/>
                <a:ea typeface="Georgia"/>
                <a:cs typeface="Georgia"/>
              </a:rPr>
              <a:t>No live model. No compliance conclusion. Harness built and tested before any model enters.</a:t>
            </a:r>
          </a:p>
        </p:txBody>
      </p:sp>
    </p:spTree>
    <p:extLst>
      <p:ext uri="{BB962C8B-B14F-4D97-AF65-F5344CB8AC3E}">
        <p14:creationId xmlns:p14="http://schemas.microsoft.com/office/powerpoint/2010/main" val="52605820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DED6C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brand-7">
            <a:extLst xmlns:a="http://schemas.openxmlformats.org/drawingml/2006/main">
              <a:ext uri="{FF2B5EF4-FFF2-40B4-BE49-F238E27FC236}">
                <a16:creationId xmlns:a16="http://schemas.microsoft.com/office/drawing/2014/main" id="{A1E1C9B6-E67E-497B-B849-66B524D6F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defRPr>
            </a:pPr>
            <a:r>
              <a:rPr sz="112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rPr>
              <a:t>KRISEVA  /  ATTEST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B596BE8A-2B11-4F32-B428-D38E85F09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1500"/>
            <a:ext cx="11125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3600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The current build exposes the full evidence record</a:t>
            </a:r>
          </a:p>
        </p:txBody>
      </p:sp>
      <p:sp>
        <p:nvSpPr>
          <p:cNvPr id="3" name="footer-rule-7">
            <a:extLst xmlns:a="http://schemas.openxmlformats.org/drawingml/2006/main">
              <a:ext uri="{FF2B5EF4-FFF2-40B4-BE49-F238E27FC236}">
                <a16:creationId xmlns:a16="http://schemas.microsoft.com/office/drawing/2014/main" id="{0A0C0DC9-6964-4FFE-AFE9-B026C695D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4365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A1F44"/>
            </a:solidFill>
            <a:prstDash val="solid"/>
          </a:ln>
        </p:spPr>
      </p:sp>
      <p:sp>
        <p:nvSpPr>
          <p:cNvPr id="4" name="footer-source-7">
            <a:extLst xmlns:a="http://schemas.openxmlformats.org/drawingml/2006/main">
              <a:ext uri="{FF2B5EF4-FFF2-40B4-BE49-F238E27FC236}">
                <a16:creationId xmlns:a16="http://schemas.microsoft.com/office/drawing/2014/main" id="{D5DCDDFB-D422-412E-A449-4E2574436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25B53"/>
                </a:solidFill>
                <a:latin typeface="Courier New"/>
                <a:ea typeface="Courier New"/>
                <a:cs typeface="Courier New"/>
              </a:defRPr>
            </a:pPr>
            <a:r>
              <a:rPr sz="975" b="0" i="0">
                <a:solidFill>
                  <a:srgbClr val="625B53"/>
                </a:solidFill>
                <a:latin typeface="Courier New"/>
                <a:ea typeface="Courier New"/>
                <a:cs typeface="Courier New"/>
              </a:rPr>
              <a:t>SOURCES IN SPEAKER NOTES · RESEARCH-STAGE PROTOTYPE</a:t>
            </a:r>
          </a:p>
        </p:txBody>
      </p:sp>
      <p:sp>
        <p:nvSpPr>
          <p:cNvPr id="5" name="footer-page-7">
            <a:extLst xmlns:a="http://schemas.openxmlformats.org/drawingml/2006/main">
              <a:ext uri="{FF2B5EF4-FFF2-40B4-BE49-F238E27FC236}">
                <a16:creationId xmlns:a16="http://schemas.microsoft.com/office/drawing/2014/main" id="{DEB05FFE-BA6B-4D7B-A621-A89D3FE89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57950"/>
            <a:ext cx="990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defRPr>
            </a:pPr>
            <a:r>
              <a:rPr sz="97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rPr>
              <a:t>07 / 10</a:t>
            </a:r>
          </a:p>
        </p:txBody>
      </p:sp>
      <p:sp>
        <p:nvSpPr>
          <p:cNvPr id="6" name="prototype-proof-label">
            <a:extLst xmlns:a="http://schemas.openxmlformats.org/drawingml/2006/main">
              <a:ext uri="{FF2B5EF4-FFF2-40B4-BE49-F238E27FC236}">
                <a16:creationId xmlns:a16="http://schemas.microsoft.com/office/drawing/2014/main" id="{1D0311B3-51FB-4109-BC17-786AC2096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763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defRPr>
            </a:pPr>
            <a:r>
              <a: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rPr>
              <a:t>CURRENT LOCAL BUILD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6740e650fc4f7c"/>
          <a:srcRect xmlns:a="http://schemas.openxmlformats.org/drawingml/2006/main" l="0" t="9" r="0" b="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81075" y="1619250"/>
            <a:ext cx="3600450" cy="3667125"/>
          </a:xfrm>
          <a:prstGeom xmlns:a="http://schemas.openxmlformats.org/drawingml/2006/main" prst="rect">
            <a:avLst/>
          </a:prstGeom>
        </p:spPr>
      </p:pic>
      <p:sp>
        <p:nvSpPr>
          <p:cNvPr id="8" name="prototype-conflict-border">
            <a:extLst xmlns:a="http://schemas.openxmlformats.org/drawingml/2006/main">
              <a:ext uri="{FF2B5EF4-FFF2-40B4-BE49-F238E27FC236}">
                <a16:creationId xmlns:a16="http://schemas.microsoft.com/office/drawing/2014/main" id="{0FE1E28A-A021-428D-8A48-17C20CE68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1619250"/>
            <a:ext cx="360045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A1F44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7042d5d0204ad4"/>
          <a:srcRect xmlns:a="http://schemas.openxmlformats.org/drawingml/2006/main" l="19" t="0" r="1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62525" y="1619250"/>
            <a:ext cx="6248400" cy="3667125"/>
          </a:xfrm>
          <a:prstGeom xmlns:a="http://schemas.openxmlformats.org/drawingml/2006/main" prst="rect">
            <a:avLst/>
          </a:prstGeom>
        </p:spPr>
      </p:pic>
      <p:sp>
        <p:nvSpPr>
          <p:cNvPr id="10" name="prototype-receipt-border">
            <a:extLst xmlns:a="http://schemas.openxmlformats.org/drawingml/2006/main">
              <a:ext uri="{FF2B5EF4-FFF2-40B4-BE49-F238E27FC236}">
                <a16:creationId xmlns:a16="http://schemas.microsoft.com/office/drawing/2014/main" id="{33298CAB-3FEB-478A-94E2-A64F1154D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525" y="1619250"/>
            <a:ext cx="6248400" cy="3667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A1F44"/>
            </a:solidFill>
            <a:prstDash val="solid"/>
          </a:ln>
        </p:spPr>
      </p:sp>
      <p:sp>
        <p:nvSpPr>
          <p:cNvPr id="11" name="prototype-callout-1">
            <a:extLst xmlns:a="http://schemas.openxmlformats.org/drawingml/2006/main">
              <a:ext uri="{FF2B5EF4-FFF2-40B4-BE49-F238E27FC236}">
                <a16:creationId xmlns:a16="http://schemas.microsoft.com/office/drawing/2014/main" id="{54382E01-7EF3-417C-88E3-07C6A6447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200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A1F44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A1F44"/>
                </a:solidFill>
                <a:latin typeface="Arial"/>
                <a:ea typeface="Arial"/>
                <a:cs typeface="Arial"/>
              </a:rPr>
              <a:t>Conflict stays side by side.</a:t>
            </a:r>
          </a:p>
        </p:txBody>
      </p:sp>
      <p:sp>
        <p:nvSpPr>
          <p:cNvPr id="12" name="prototype-callout-2">
            <a:extLst xmlns:a="http://schemas.openxmlformats.org/drawingml/2006/main">
              <a:ext uri="{FF2B5EF4-FFF2-40B4-BE49-F238E27FC236}">
                <a16:creationId xmlns:a16="http://schemas.microsoft.com/office/drawing/2014/main" id="{453974C6-54A9-4A12-876A-0A50B7B28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5429250"/>
            <a:ext cx="200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A1F44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A1F44"/>
                </a:solidFill>
                <a:latin typeface="Arial"/>
                <a:ea typeface="Arial"/>
                <a:cs typeface="Arial"/>
              </a:rPr>
              <a:t>Human reason is required.</a:t>
            </a:r>
          </a:p>
        </p:txBody>
      </p:sp>
      <p:sp>
        <p:nvSpPr>
          <p:cNvPr id="13" name="prototype-callout-3">
            <a:extLst xmlns:a="http://schemas.openxmlformats.org/drawingml/2006/main">
              <a:ext uri="{FF2B5EF4-FFF2-40B4-BE49-F238E27FC236}">
                <a16:creationId xmlns:a16="http://schemas.microsoft.com/office/drawing/2014/main" id="{7B6FE59D-CB03-4AF9-B46A-62F1E2196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5429250"/>
            <a:ext cx="323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0A1F44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0A1F44"/>
                </a:solidFill>
                <a:latin typeface="Arial"/>
                <a:ea typeface="Arial"/>
                <a:cs typeface="Arial"/>
              </a:rPr>
              <a:t>Receipt retains fingerprints, both candidates and unresolved evidence.</a:t>
            </a:r>
          </a:p>
        </p:txBody>
      </p:sp>
      <p:sp>
        <p:nvSpPr>
          <p:cNvPr id="14" name="prototype-callout-4">
            <a:extLst xmlns:a="http://schemas.openxmlformats.org/drawingml/2006/main">
              <a:ext uri="{FF2B5EF4-FFF2-40B4-BE49-F238E27FC236}">
                <a16:creationId xmlns:a16="http://schemas.microsoft.com/office/drawing/2014/main" id="{626D0704-1EEB-410D-B33A-D62912B8F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429250"/>
            <a:ext cx="2762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96491A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96491A"/>
                </a:solidFill>
                <a:latin typeface="Arial"/>
                <a:ea typeface="Arial"/>
                <a:cs typeface="Arial"/>
              </a:rPr>
              <a:t>Synthetic data only · no filing · no regulator connection</a:t>
            </a:r>
          </a:p>
        </p:txBody>
      </p:sp>
    </p:spTree>
    <p:extLst>
      <p:ext uri="{BB962C8B-B14F-4D97-AF65-F5344CB8AC3E}">
        <p14:creationId xmlns:p14="http://schemas.microsoft.com/office/powerpoint/2010/main" val="46226012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3EDE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brand-8">
            <a:extLst xmlns:a="http://schemas.openxmlformats.org/drawingml/2006/main">
              <a:ext uri="{FF2B5EF4-FFF2-40B4-BE49-F238E27FC236}">
                <a16:creationId xmlns:a16="http://schemas.microsoft.com/office/drawing/2014/main" id="{9385E0F0-4B50-4105-930F-9AEE835B3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defRPr>
            </a:pPr>
            <a:r>
              <a:rPr sz="112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rPr>
              <a:t>KRISEVA  /  ATTEST</a:t>
            </a:r>
          </a:p>
        </p:txBody>
      </p:sp>
      <p:sp>
        <p:nvSpPr>
          <p:cNvPr id="2" name="title-8">
            <a:extLst xmlns:a="http://schemas.openxmlformats.org/drawingml/2006/main">
              <a:ext uri="{FF2B5EF4-FFF2-40B4-BE49-F238E27FC236}">
                <a16:creationId xmlns:a16="http://schemas.microsoft.com/office/drawing/2014/main" id="{C0CE5AC8-B109-40AE-9DE6-A737D1CDD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1500"/>
            <a:ext cx="11125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3600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Revenue here is a sensitivity test, not a forecast</a:t>
            </a:r>
          </a:p>
        </p:txBody>
      </p:sp>
      <p:sp>
        <p:nvSpPr>
          <p:cNvPr id="3" name="footer-rule-8">
            <a:extLst xmlns:a="http://schemas.openxmlformats.org/drawingml/2006/main">
              <a:ext uri="{FF2B5EF4-FFF2-40B4-BE49-F238E27FC236}">
                <a16:creationId xmlns:a16="http://schemas.microsoft.com/office/drawing/2014/main" id="{8302B38E-0060-46B6-8C29-31D366B65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4365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A1F44"/>
            </a:solidFill>
            <a:prstDash val="solid"/>
          </a:ln>
        </p:spPr>
      </p:sp>
      <p:sp>
        <p:nvSpPr>
          <p:cNvPr id="4" name="footer-source-8">
            <a:extLst xmlns:a="http://schemas.openxmlformats.org/drawingml/2006/main">
              <a:ext uri="{FF2B5EF4-FFF2-40B4-BE49-F238E27FC236}">
                <a16:creationId xmlns:a16="http://schemas.microsoft.com/office/drawing/2014/main" id="{108D24D8-7860-4680-8650-9D85655EF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25B53"/>
                </a:solidFill>
                <a:latin typeface="Courier New"/>
                <a:ea typeface="Courier New"/>
                <a:cs typeface="Courier New"/>
              </a:defRPr>
            </a:pPr>
            <a:r>
              <a:rPr sz="975" b="0" i="0">
                <a:solidFill>
                  <a:srgbClr val="625B53"/>
                </a:solidFill>
                <a:latin typeface="Courier New"/>
                <a:ea typeface="Courier New"/>
                <a:cs typeface="Courier New"/>
              </a:rPr>
              <a:t>SOURCES IN SPEAKER NOTES · RESEARCH-STAGE PROTOTYPE</a:t>
            </a:r>
          </a:p>
        </p:txBody>
      </p:sp>
      <p:sp>
        <p:nvSpPr>
          <p:cNvPr id="5" name="footer-page-8">
            <a:extLst xmlns:a="http://schemas.openxmlformats.org/drawingml/2006/main">
              <a:ext uri="{FF2B5EF4-FFF2-40B4-BE49-F238E27FC236}">
                <a16:creationId xmlns:a16="http://schemas.microsoft.com/office/drawing/2014/main" id="{2B52EFE2-B1ED-400E-86E4-48CBC7573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57950"/>
            <a:ext cx="990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defRPr>
            </a:pPr>
            <a:r>
              <a:rPr sz="97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rPr>
              <a:t>08 / 10</a:t>
            </a:r>
          </a:p>
        </p:txBody>
      </p:sp>
      <p:sp>
        <p:nvSpPr>
          <p:cNvPr id="6" name="sensitivity-label">
            <a:extLst xmlns:a="http://schemas.openxmlformats.org/drawingml/2006/main">
              <a:ext uri="{FF2B5EF4-FFF2-40B4-BE49-F238E27FC236}">
                <a16:creationId xmlns:a16="http://schemas.microsoft.com/office/drawing/2014/main" id="{BAD60377-63F2-4D41-97EE-40FB18E1D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525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defRPr>
            </a:pPr>
            <a:r>
              <a: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rPr>
              <a:t>ILLUSTRATIVE ARR SENSITIVITY</a:t>
            </a:r>
          </a:p>
        </p:txBody>
      </p:sp>
      <p:sp>
        <p:nvSpPr>
          <p:cNvPr id="7" name="sensitivity-row-0">
            <a:extLst xmlns:a="http://schemas.openxmlformats.org/drawingml/2006/main">
              <a:ext uri="{FF2B5EF4-FFF2-40B4-BE49-F238E27FC236}">
                <a16:creationId xmlns:a16="http://schemas.microsoft.com/office/drawing/2014/main" id="{60064A4B-802C-41F3-85C9-F5CEE8422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52700"/>
            <a:ext cx="5238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E786E"/>
            </a:solidFill>
            <a:prstDash val="solid"/>
          </a:ln>
        </p:spPr>
      </p:sp>
      <p:sp>
        <p:nvSpPr>
          <p:cNvPr id="8" name="sensitivity-0-0">
            <a:extLst xmlns:a="http://schemas.openxmlformats.org/drawingml/2006/main">
              <a:ext uri="{FF2B5EF4-FFF2-40B4-BE49-F238E27FC236}">
                <a16:creationId xmlns:a16="http://schemas.microsoft.com/office/drawing/2014/main" id="{522A3949-CFD1-4058-9763-5FFD88C3E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1428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0" rIns="9525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625B53"/>
                </a:solidFill>
                <a:latin typeface="Courier New"/>
                <a:ea typeface="Courier New"/>
                <a:cs typeface="Courier New"/>
              </a:defRPr>
            </a:pPr>
            <a:r>
              <a:rPr sz="1650" b="1" i="0">
                <a:solidFill>
                  <a:srgbClr val="625B53"/>
                </a:solidFill>
                <a:latin typeface="Courier New"/>
                <a:ea typeface="Courier New"/>
                <a:cs typeface="Courier New"/>
              </a:rPr>
              <a:t>ENTITIES</a:t>
            </a:r>
          </a:p>
        </p:txBody>
      </p:sp>
      <p:sp>
        <p:nvSpPr>
          <p:cNvPr id="9" name="sensitivity-0-1">
            <a:extLst xmlns:a="http://schemas.openxmlformats.org/drawingml/2006/main">
              <a:ext uri="{FF2B5EF4-FFF2-40B4-BE49-F238E27FC236}">
                <a16:creationId xmlns:a16="http://schemas.microsoft.com/office/drawing/2014/main" id="{2ABAF12D-30DC-43DE-8A83-4C1E1A19F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752600"/>
            <a:ext cx="1905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0" rIns="9525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50" b="1" i="0">
                <a:solidFill>
                  <a:srgbClr val="625B53"/>
                </a:solidFill>
                <a:latin typeface="Courier New"/>
                <a:ea typeface="Courier New"/>
                <a:cs typeface="Courier New"/>
              </a:defRPr>
            </a:pPr>
            <a:r>
              <a:rPr sz="1650" b="1" i="0">
                <a:solidFill>
                  <a:srgbClr val="625B53"/>
                </a:solidFill>
                <a:latin typeface="Courier New"/>
                <a:ea typeface="Courier New"/>
                <a:cs typeface="Courier New"/>
              </a:rPr>
              <a:t>₹3L</a:t>
            </a:r>
          </a:p>
        </p:txBody>
      </p:sp>
      <p:sp>
        <p:nvSpPr>
          <p:cNvPr id="10" name="sensitivity-0-2">
            <a:extLst xmlns:a="http://schemas.openxmlformats.org/drawingml/2006/main">
              <a:ext uri="{FF2B5EF4-FFF2-40B4-BE49-F238E27FC236}">
                <a16:creationId xmlns:a16="http://schemas.microsoft.com/office/drawing/2014/main" id="{9E8F5172-E2B0-4F9F-BB1D-DA373BB82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752600"/>
            <a:ext cx="1905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0" rIns="9525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650" b="1" i="0">
                <a:solidFill>
                  <a:srgbClr val="625B53"/>
                </a:solidFill>
                <a:latin typeface="Courier New"/>
                <a:ea typeface="Courier New"/>
                <a:cs typeface="Courier New"/>
              </a:defRPr>
            </a:pPr>
            <a:r>
              <a:rPr sz="1650" b="1" i="0">
                <a:solidFill>
                  <a:srgbClr val="625B53"/>
                </a:solidFill>
                <a:latin typeface="Courier New"/>
                <a:ea typeface="Courier New"/>
                <a:cs typeface="Courier New"/>
              </a:rPr>
              <a:t>₹12L</a:t>
            </a:r>
          </a:p>
        </p:txBody>
      </p:sp>
      <p:sp>
        <p:nvSpPr>
          <p:cNvPr id="11" name="sensitivity-row-1">
            <a:extLst xmlns:a="http://schemas.openxmlformats.org/drawingml/2006/main">
              <a:ext uri="{FF2B5EF4-FFF2-40B4-BE49-F238E27FC236}">
                <a16:creationId xmlns:a16="http://schemas.microsoft.com/office/drawing/2014/main" id="{9EB82347-1098-4413-B242-D27E25A6B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52800"/>
            <a:ext cx="5238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E786E"/>
            </a:solidFill>
            <a:prstDash val="solid"/>
          </a:ln>
        </p:spPr>
      </p:sp>
      <p:sp>
        <p:nvSpPr>
          <p:cNvPr id="12" name="sensitivity-1-0">
            <a:extLst xmlns:a="http://schemas.openxmlformats.org/drawingml/2006/main">
              <a:ext uri="{FF2B5EF4-FFF2-40B4-BE49-F238E27FC236}">
                <a16:creationId xmlns:a16="http://schemas.microsoft.com/office/drawing/2014/main" id="{546FD19B-8F5B-4D1D-BFB5-77D5E6723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52700"/>
            <a:ext cx="1428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0" rIns="9525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2250" b="1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5</a:t>
            </a:r>
          </a:p>
        </p:txBody>
      </p:sp>
      <p:sp>
        <p:nvSpPr>
          <p:cNvPr id="13" name="sensitivity-1-1">
            <a:extLst xmlns:a="http://schemas.openxmlformats.org/drawingml/2006/main">
              <a:ext uri="{FF2B5EF4-FFF2-40B4-BE49-F238E27FC236}">
                <a16:creationId xmlns:a16="http://schemas.microsoft.com/office/drawing/2014/main" id="{BF273F9B-9008-45B7-BD11-275077928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552700"/>
            <a:ext cx="1905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0" rIns="9525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2250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2250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₹15L</a:t>
            </a:r>
          </a:p>
        </p:txBody>
      </p:sp>
      <p:sp>
        <p:nvSpPr>
          <p:cNvPr id="14" name="sensitivity-1-2">
            <a:extLst xmlns:a="http://schemas.openxmlformats.org/drawingml/2006/main">
              <a:ext uri="{FF2B5EF4-FFF2-40B4-BE49-F238E27FC236}">
                <a16:creationId xmlns:a16="http://schemas.microsoft.com/office/drawing/2014/main" id="{6780FE40-5BB0-4856-9C2A-74CF7F69E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552700"/>
            <a:ext cx="1905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0" rIns="9525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2250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2250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₹60L</a:t>
            </a:r>
          </a:p>
        </p:txBody>
      </p:sp>
      <p:sp>
        <p:nvSpPr>
          <p:cNvPr id="15" name="sensitivity-row-2">
            <a:extLst xmlns:a="http://schemas.openxmlformats.org/drawingml/2006/main">
              <a:ext uri="{FF2B5EF4-FFF2-40B4-BE49-F238E27FC236}">
                <a16:creationId xmlns:a16="http://schemas.microsoft.com/office/drawing/2014/main" id="{11FF56B9-06ED-45E6-A025-73B34AAAF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52900"/>
            <a:ext cx="5238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E786E"/>
            </a:solidFill>
            <a:prstDash val="solid"/>
          </a:ln>
        </p:spPr>
      </p:sp>
      <p:sp>
        <p:nvSpPr>
          <p:cNvPr id="16" name="sensitivity-2-0">
            <a:extLst xmlns:a="http://schemas.openxmlformats.org/drawingml/2006/main">
              <a:ext uri="{FF2B5EF4-FFF2-40B4-BE49-F238E27FC236}">
                <a16:creationId xmlns:a16="http://schemas.microsoft.com/office/drawing/2014/main" id="{72CC6D68-390A-4715-9EBA-CD5D31B03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52800"/>
            <a:ext cx="1428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0" rIns="9525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2250" b="1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50</a:t>
            </a:r>
          </a:p>
        </p:txBody>
      </p:sp>
      <p:sp>
        <p:nvSpPr>
          <p:cNvPr id="17" name="sensitivity-2-1">
            <a:extLst xmlns:a="http://schemas.openxmlformats.org/drawingml/2006/main">
              <a:ext uri="{FF2B5EF4-FFF2-40B4-BE49-F238E27FC236}">
                <a16:creationId xmlns:a16="http://schemas.microsoft.com/office/drawing/2014/main" id="{B63764D2-A1A1-408F-8030-CDC3ED1A8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352800"/>
            <a:ext cx="1905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0" rIns="9525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2250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2250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₹1.5Cr</a:t>
            </a:r>
          </a:p>
        </p:txBody>
      </p:sp>
      <p:sp>
        <p:nvSpPr>
          <p:cNvPr id="18" name="sensitivity-2-2">
            <a:extLst xmlns:a="http://schemas.openxmlformats.org/drawingml/2006/main">
              <a:ext uri="{FF2B5EF4-FFF2-40B4-BE49-F238E27FC236}">
                <a16:creationId xmlns:a16="http://schemas.microsoft.com/office/drawing/2014/main" id="{D25E0BB6-210C-47B8-82B6-659453809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352800"/>
            <a:ext cx="1905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0" rIns="9525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2250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2250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₹6Cr</a:t>
            </a:r>
          </a:p>
        </p:txBody>
      </p:sp>
      <p:sp>
        <p:nvSpPr>
          <p:cNvPr id="19" name="sensitivity-divider">
            <a:extLst xmlns:a="http://schemas.openxmlformats.org/drawingml/2006/main">
              <a:ext uri="{FF2B5EF4-FFF2-40B4-BE49-F238E27FC236}">
                <a16:creationId xmlns:a16="http://schemas.microsoft.com/office/drawing/2014/main" id="{CF4DAC7F-0BC4-466D-BAC8-A1CD15E35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524000"/>
            <a:ext cx="0" cy="3905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87229"/>
            </a:solidFill>
            <a:prstDash val="solid"/>
          </a:ln>
        </p:spPr>
      </p:sp>
      <p:sp>
        <p:nvSpPr>
          <p:cNvPr id="20" name="sensitivity-gates">
            <a:extLst xmlns:a="http://schemas.openxmlformats.org/drawingml/2006/main">
              <a:ext uri="{FF2B5EF4-FFF2-40B4-BE49-F238E27FC236}">
                <a16:creationId xmlns:a16="http://schemas.microsoft.com/office/drawing/2014/main" id="{3BB6BCF6-A353-43FC-A910-133DC9FE0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809750"/>
            <a:ext cx="40005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1800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Unproven gates: buyer, bundling risk, legal perimeter, paid test, support economics</a:t>
            </a:r>
          </a:p>
        </p:txBody>
      </p:sp>
      <p:sp>
        <p:nvSpPr>
          <p:cNvPr id="21" name="footer-sensitivity-hypothesis-label">
            <a:extLst xmlns:a="http://schemas.openxmlformats.org/drawingml/2006/main">
              <a:ext uri="{FF2B5EF4-FFF2-40B4-BE49-F238E27FC236}">
                <a16:creationId xmlns:a16="http://schemas.microsoft.com/office/drawing/2014/main" id="{9865058F-1B48-40F9-A362-F1D0E119F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27660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96491A"/>
                </a:solidFill>
                <a:latin typeface="Courier New"/>
                <a:ea typeface="Courier New"/>
                <a:cs typeface="Courier New"/>
              </a:defRPr>
            </a:pPr>
            <a:r>
              <a:rPr sz="1050" b="1" i="0">
                <a:solidFill>
                  <a:srgbClr val="96491A"/>
                </a:solidFill>
                <a:latin typeface="Courier New"/>
                <a:ea typeface="Courier New"/>
                <a:cs typeface="Courier New"/>
              </a:rPr>
              <a:t>HYPOTHESIS</a:t>
            </a:r>
          </a:p>
        </p:txBody>
      </p:sp>
      <p:sp>
        <p:nvSpPr>
          <p:cNvPr id="22" name="sensitivity-hypothesis">
            <a:extLst xmlns:a="http://schemas.openxmlformats.org/drawingml/2006/main">
              <a:ext uri="{FF2B5EF4-FFF2-40B4-BE49-F238E27FC236}">
                <a16:creationId xmlns:a16="http://schemas.microsoft.com/office/drawing/2014/main" id="{1EB80EAB-4895-4B18-B75B-182E6F8F1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505200"/>
            <a:ext cx="4000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1">
                <a:solidFill>
                  <a:srgbClr val="96491A"/>
                </a:solidFill>
                <a:latin typeface="Arial"/>
                <a:ea typeface="Arial"/>
                <a:cs typeface="Arial"/>
              </a:defRPr>
            </a:pPr>
            <a:r>
              <a:rPr sz="1650" b="0" i="1">
                <a:solidFill>
                  <a:srgbClr val="96491A"/>
                </a:solidFill>
                <a:latin typeface="Arial"/>
                <a:ea typeface="Arial"/>
                <a:cs typeface="Arial"/>
              </a:rPr>
              <a:t>If the wedge locks: the same evidence substrate extends to adjacent regulated-reporting workflows (hypothesis)</a:t>
            </a:r>
          </a:p>
        </p:txBody>
      </p:sp>
      <p:sp>
        <p:nvSpPr>
          <p:cNvPr id="23" name="sensitivity-disclaimer">
            <a:extLst xmlns:a="http://schemas.openxmlformats.org/drawingml/2006/main">
              <a:ext uri="{FF2B5EF4-FFF2-40B4-BE49-F238E27FC236}">
                <a16:creationId xmlns:a16="http://schemas.microsoft.com/office/drawing/2014/main" id="{D55F80FB-01D6-439B-BF1B-4D7F83966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4705350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625B53"/>
                </a:solidFill>
                <a:latin typeface="Georgia"/>
                <a:ea typeface="Georgia"/>
                <a:cs typeface="Georgia"/>
              </a:defRPr>
            </a:pPr>
            <a:r>
              <a:rPr sz="1650" b="0" i="0">
                <a:solidFill>
                  <a:srgbClr val="625B53"/>
                </a:solidFill>
                <a:latin typeface="Georgia"/>
                <a:ea typeface="Georgia"/>
                <a:cs typeface="Georgia"/>
              </a:rPr>
              <a:t>Not TAM/WTP.</a:t>
            </a:r>
          </a:p>
        </p:txBody>
      </p:sp>
    </p:spTree>
    <p:extLst>
      <p:ext uri="{BB962C8B-B14F-4D97-AF65-F5344CB8AC3E}">
        <p14:creationId xmlns:p14="http://schemas.microsoft.com/office/powerpoint/2010/main" val="107023678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DED6C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brand-9">
            <a:extLst xmlns:a="http://schemas.openxmlformats.org/drawingml/2006/main">
              <a:ext uri="{FF2B5EF4-FFF2-40B4-BE49-F238E27FC236}">
                <a16:creationId xmlns:a16="http://schemas.microsoft.com/office/drawing/2014/main" id="{683148D7-0C21-4C22-BC7B-B168DFB1C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defRPr>
            </a:pPr>
            <a:r>
              <a:rPr sz="112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rPr>
              <a:t>KRISEVA  /  ATTEST</a:t>
            </a:r>
          </a:p>
        </p:txBody>
      </p:sp>
      <p:sp>
        <p:nvSpPr>
          <p:cNvPr id="2" name="title-9">
            <a:extLst xmlns:a="http://schemas.openxmlformats.org/drawingml/2006/main">
              <a:ext uri="{FF2B5EF4-FFF2-40B4-BE49-F238E27FC236}">
                <a16:creationId xmlns:a16="http://schemas.microsoft.com/office/drawing/2014/main" id="{DEA4D588-C8F5-47B8-ACFA-9FA428E2E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1500"/>
            <a:ext cx="11125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3600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One accountable founder. One defined finance lane.</a:t>
            </a:r>
          </a:p>
        </p:txBody>
      </p:sp>
      <p:sp>
        <p:nvSpPr>
          <p:cNvPr id="3" name="footer-rule-9">
            <a:extLst xmlns:a="http://schemas.openxmlformats.org/drawingml/2006/main">
              <a:ext uri="{FF2B5EF4-FFF2-40B4-BE49-F238E27FC236}">
                <a16:creationId xmlns:a16="http://schemas.microsoft.com/office/drawing/2014/main" id="{1EE0E0F8-544A-4C51-B83B-C82DD670D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4365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A1F44"/>
            </a:solidFill>
            <a:prstDash val="solid"/>
          </a:ln>
        </p:spPr>
      </p:sp>
      <p:sp>
        <p:nvSpPr>
          <p:cNvPr id="4" name="footer-source-9">
            <a:extLst xmlns:a="http://schemas.openxmlformats.org/drawingml/2006/main">
              <a:ext uri="{FF2B5EF4-FFF2-40B4-BE49-F238E27FC236}">
                <a16:creationId xmlns:a16="http://schemas.microsoft.com/office/drawing/2014/main" id="{D68F26DC-D339-4410-BE96-D2DC9D66B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25B53"/>
                </a:solidFill>
                <a:latin typeface="Courier New"/>
                <a:ea typeface="Courier New"/>
                <a:cs typeface="Courier New"/>
              </a:defRPr>
            </a:pPr>
            <a:r>
              <a:rPr sz="975" b="0" i="0">
                <a:solidFill>
                  <a:srgbClr val="625B53"/>
                </a:solidFill>
                <a:latin typeface="Courier New"/>
                <a:ea typeface="Courier New"/>
                <a:cs typeface="Courier New"/>
              </a:rPr>
              <a:t>SOURCES IN SPEAKER NOTES · RESEARCH-STAGE PROTOTYPE</a:t>
            </a:r>
          </a:p>
        </p:txBody>
      </p:sp>
      <p:sp>
        <p:nvSpPr>
          <p:cNvPr id="5" name="footer-page-9">
            <a:extLst xmlns:a="http://schemas.openxmlformats.org/drawingml/2006/main">
              <a:ext uri="{FF2B5EF4-FFF2-40B4-BE49-F238E27FC236}">
                <a16:creationId xmlns:a16="http://schemas.microsoft.com/office/drawing/2014/main" id="{2628C3C1-6982-49CE-91EE-31867104A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57950"/>
            <a:ext cx="990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defRPr>
            </a:pPr>
            <a:r>
              <a:rPr sz="975" b="1" i="0">
                <a:solidFill>
                  <a:srgbClr val="0A1F44"/>
                </a:solidFill>
                <a:latin typeface="Courier New"/>
                <a:ea typeface="Courier New"/>
                <a:cs typeface="Courier New"/>
              </a:rPr>
              <a:t>09 / 10</a:t>
            </a:r>
          </a:p>
        </p:txBody>
      </p:sp>
      <p:sp>
        <p:nvSpPr>
          <p:cNvPr id="6" name="ownership-divider">
            <a:extLst xmlns:a="http://schemas.openxmlformats.org/drawingml/2006/main">
              <a:ext uri="{FF2B5EF4-FFF2-40B4-BE49-F238E27FC236}">
                <a16:creationId xmlns:a16="http://schemas.microsoft.com/office/drawing/2014/main" id="{77EA703D-79F4-4508-91EF-377D1B44E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81150"/>
            <a:ext cx="0" cy="3257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87229"/>
            </a:solidFill>
            <a:prstDash val="solid"/>
          </a:ln>
        </p:spPr>
      </p:sp>
      <p:sp>
        <p:nvSpPr>
          <p:cNvPr id="7" name="ownership-ayush-label">
            <a:extLst xmlns:a="http://schemas.openxmlformats.org/drawingml/2006/main">
              <a:ext uri="{FF2B5EF4-FFF2-40B4-BE49-F238E27FC236}">
                <a16:creationId xmlns:a16="http://schemas.microsoft.com/office/drawing/2014/main" id="{ED27CB52-DD02-44B4-85D6-5BF2FFF25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335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defRPr>
            </a:pPr>
            <a:r>
              <a: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rPr>
              <a:t>AYUSH TIWARY</a:t>
            </a:r>
          </a:p>
        </p:txBody>
      </p:sp>
      <p:sp>
        <p:nvSpPr>
          <p:cNvPr id="8" name="ownership-ayush-copy">
            <a:extLst xmlns:a="http://schemas.openxmlformats.org/drawingml/2006/main">
              <a:ext uri="{FF2B5EF4-FFF2-40B4-BE49-F238E27FC236}">
                <a16:creationId xmlns:a16="http://schemas.microsoft.com/office/drawing/2014/main" id="{1C51E47D-D686-4AEE-8955-BBE4457FC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24100"/>
            <a:ext cx="47625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2100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Engineering, integration, test evidence, packaging. KRISEVA ships evidence-first, human-review procurement software in Indian defense today.</a:t>
            </a:r>
          </a:p>
        </p:txBody>
      </p:sp>
      <p:sp>
        <p:nvSpPr>
          <p:cNvPr id="9" name="ownership-finance-label">
            <a:extLst xmlns:a="http://schemas.openxmlformats.org/drawingml/2006/main">
              <a:ext uri="{FF2B5EF4-FFF2-40B4-BE49-F238E27FC236}">
                <a16:creationId xmlns:a16="http://schemas.microsoft.com/office/drawing/2014/main" id="{017232C9-F113-4C92-BACE-07D46F0CC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33550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defRPr>
            </a:pPr>
            <a:r>
              <a: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rPr>
              <a:t>FINANCE &amp; BUSINESS ANALYSIS LANE</a:t>
            </a:r>
          </a:p>
        </p:txBody>
      </p:sp>
      <p:sp>
        <p:nvSpPr>
          <p:cNvPr id="10" name="ownership-finance-copy">
            <a:extLst xmlns:a="http://schemas.openxmlformats.org/drawingml/2006/main">
              <a:ext uri="{FF2B5EF4-FFF2-40B4-BE49-F238E27FC236}">
                <a16:creationId xmlns:a16="http://schemas.microsoft.com/office/drawing/2014/main" id="{BEB8A2E8-F9EF-4366-8542-09072E5A4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81250"/>
            <a:ext cx="4762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0A1F44"/>
                </a:solidFill>
                <a:latin typeface="Georgia"/>
                <a:ea typeface="Georgia"/>
                <a:cs typeface="Georgia"/>
              </a:defRPr>
            </a:pPr>
            <a:r>
              <a:rPr sz="2175" b="0" i="0">
                <a:solidFill>
                  <a:srgbClr val="0A1F44"/>
                </a:solidFill>
                <a:latin typeface="Georgia"/>
                <a:ea typeface="Georgia"/>
                <a:cs typeface="Georgia"/>
              </a:rPr>
              <a:t>Case consistency, buyer hypotheses, pricing research, workflow QA.</a:t>
            </a:r>
          </a:p>
        </p:txBody>
      </p:sp>
      <p:sp>
        <p:nvSpPr>
          <p:cNvPr id="11" name="ownership-gate-band">
            <a:extLst xmlns:a="http://schemas.openxmlformats.org/drawingml/2006/main">
              <a:ext uri="{FF2B5EF4-FFF2-40B4-BE49-F238E27FC236}">
                <a16:creationId xmlns:a16="http://schemas.microsoft.com/office/drawing/2014/main" id="{186EDFBF-F074-409C-AB02-41C48300E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67300"/>
            <a:ext cx="11049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F44"/>
          </a:solidFill>
          <a:ln xmlns:a="http://schemas.openxmlformats.org/drawingml/2006/main" w="0">
            <a:solidFill>
              <a:srgbClr val="0A1F44"/>
            </a:solidFill>
            <a:prstDash val="solid"/>
          </a:ln>
        </p:spPr>
      </p:sp>
      <p:sp>
        <p:nvSpPr>
          <p:cNvPr id="12" name="ownership-gate">
            <a:extLst xmlns:a="http://schemas.openxmlformats.org/drawingml/2006/main">
              <a:ext uri="{FF2B5EF4-FFF2-40B4-BE49-F238E27FC236}">
                <a16:creationId xmlns:a16="http://schemas.microsoft.com/office/drawing/2014/main" id="{CF523057-8482-422A-8536-EA34C4245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25780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F3EDE0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F3EDE0"/>
                </a:solidFill>
                <a:latin typeface="Arial"/>
                <a:ea typeface="Arial"/>
                <a:cs typeface="Arial"/>
              </a:rPr>
              <a:t>Proposed contributor · pending written acceptance and public attribution.</a:t>
            </a:r>
          </a:p>
        </p:txBody>
      </p:sp>
    </p:spTree>
    <p:extLst>
      <p:ext uri="{BB962C8B-B14F-4D97-AF65-F5344CB8AC3E}">
        <p14:creationId xmlns:p14="http://schemas.microsoft.com/office/powerpoint/2010/main" val="197835024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A1F4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brand-10">
            <a:extLst xmlns:a="http://schemas.openxmlformats.org/drawingml/2006/main">
              <a:ext uri="{FF2B5EF4-FFF2-40B4-BE49-F238E27FC236}">
                <a16:creationId xmlns:a16="http://schemas.microsoft.com/office/drawing/2014/main" id="{AAD1F7C2-91D6-4475-986C-841A8EE20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86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F3EDE0"/>
                </a:solidFill>
                <a:latin typeface="Courier New"/>
                <a:ea typeface="Courier New"/>
                <a:cs typeface="Courier New"/>
              </a:defRPr>
            </a:pPr>
            <a:r>
              <a:rPr sz="1125" b="1" i="0">
                <a:solidFill>
                  <a:srgbClr val="F3EDE0"/>
                </a:solidFill>
                <a:latin typeface="Courier New"/>
                <a:ea typeface="Courier New"/>
                <a:cs typeface="Courier New"/>
              </a:rPr>
              <a:t>KRISEVA  /  ATTEST</a:t>
            </a:r>
          </a:p>
        </p:txBody>
      </p:sp>
      <p:sp>
        <p:nvSpPr>
          <p:cNvPr id="2" name="title-10">
            <a:extLst xmlns:a="http://schemas.openxmlformats.org/drawingml/2006/main">
              <a:ext uri="{FF2B5EF4-FFF2-40B4-BE49-F238E27FC236}">
                <a16:creationId xmlns:a16="http://schemas.microsoft.com/office/drawing/2014/main" id="{CE2F133C-3CF2-41C9-B537-C0A49A0A8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1500"/>
            <a:ext cx="11125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0" i="0">
                <a:solidFill>
                  <a:srgbClr val="F3EDE0"/>
                </a:solidFill>
                <a:latin typeface="Georgia"/>
                <a:ea typeface="Georgia"/>
                <a:cs typeface="Georgia"/>
              </a:defRPr>
            </a:pPr>
            <a:r>
              <a:rPr sz="3600" b="0" i="0">
                <a:solidFill>
                  <a:srgbClr val="F3EDE0"/>
                </a:solidFill>
                <a:latin typeface="Georgia"/>
                <a:ea typeface="Georgia"/>
                <a:cs typeface="Georgia"/>
              </a:rPr>
              <a:t>Use eight weeks to lock the wedge, or reject it</a:t>
            </a:r>
          </a:p>
        </p:txBody>
      </p:sp>
      <p:sp>
        <p:nvSpPr>
          <p:cNvPr id="3" name="footer-rule-10">
            <a:extLst xmlns:a="http://schemas.openxmlformats.org/drawingml/2006/main">
              <a:ext uri="{FF2B5EF4-FFF2-40B4-BE49-F238E27FC236}">
                <a16:creationId xmlns:a16="http://schemas.microsoft.com/office/drawing/2014/main" id="{7EE465FC-C262-4BD9-90DE-8F9F299D0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4365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3EDE0"/>
            </a:solidFill>
            <a:prstDash val="solid"/>
          </a:ln>
        </p:spPr>
      </p:sp>
      <p:sp>
        <p:nvSpPr>
          <p:cNvPr id="4" name="footer-source-10">
            <a:extLst xmlns:a="http://schemas.openxmlformats.org/drawingml/2006/main">
              <a:ext uri="{FF2B5EF4-FFF2-40B4-BE49-F238E27FC236}">
                <a16:creationId xmlns:a16="http://schemas.microsoft.com/office/drawing/2014/main" id="{6262026B-BB35-4D94-B17E-C8718B0A2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5795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F3EDE0"/>
                </a:solidFill>
                <a:latin typeface="Courier New"/>
                <a:ea typeface="Courier New"/>
                <a:cs typeface="Courier New"/>
              </a:defRPr>
            </a:pPr>
            <a:r>
              <a:rPr sz="975" b="0" i="0">
                <a:solidFill>
                  <a:srgbClr val="F3EDE0"/>
                </a:solidFill>
                <a:latin typeface="Courier New"/>
                <a:ea typeface="Courier New"/>
                <a:cs typeface="Courier New"/>
              </a:rPr>
              <a:t>SOURCES IN SPEAKER NOTES · RESEARCH-STAGE PROTOTYPE</a:t>
            </a:r>
          </a:p>
        </p:txBody>
      </p:sp>
      <p:sp>
        <p:nvSpPr>
          <p:cNvPr id="5" name="footer-page-10">
            <a:extLst xmlns:a="http://schemas.openxmlformats.org/drawingml/2006/main">
              <a:ext uri="{FF2B5EF4-FFF2-40B4-BE49-F238E27FC236}">
                <a16:creationId xmlns:a16="http://schemas.microsoft.com/office/drawing/2014/main" id="{56E8F212-47E3-4F9B-9AD8-B9BD16289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57950"/>
            <a:ext cx="990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1" i="0">
                <a:solidFill>
                  <a:srgbClr val="F3EDE0"/>
                </a:solidFill>
                <a:latin typeface="Courier New"/>
                <a:ea typeface="Courier New"/>
                <a:cs typeface="Courier New"/>
              </a:defRPr>
            </a:pPr>
            <a:r>
              <a:rPr sz="975" b="1" i="0">
                <a:solidFill>
                  <a:srgbClr val="F3EDE0"/>
                </a:solidFill>
                <a:latin typeface="Courier New"/>
                <a:ea typeface="Courier New"/>
                <a:cs typeface="Courier New"/>
              </a:rPr>
              <a:t>10 / 10</a:t>
            </a:r>
          </a:p>
        </p:txBody>
      </p:sp>
      <p:sp>
        <p:nvSpPr>
          <p:cNvPr id="6" name="ask-spine">
            <a:extLst xmlns:a="http://schemas.openxmlformats.org/drawingml/2006/main">
              <a:ext uri="{FF2B5EF4-FFF2-40B4-BE49-F238E27FC236}">
                <a16:creationId xmlns:a16="http://schemas.microsoft.com/office/drawing/2014/main" id="{8F13CC76-23C7-42A9-B699-B2273FC33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562100"/>
            <a:ext cx="0" cy="400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87229"/>
            </a:solidFill>
            <a:prstDash val="solid"/>
          </a:ln>
        </p:spPr>
      </p:sp>
      <p:sp>
        <p:nvSpPr>
          <p:cNvPr id="7" name="ask-access-label">
            <a:extLst xmlns:a="http://schemas.openxmlformats.org/drawingml/2006/main">
              <a:ext uri="{FF2B5EF4-FFF2-40B4-BE49-F238E27FC236}">
                <a16:creationId xmlns:a16="http://schemas.microsoft.com/office/drawing/2014/main" id="{E51CF449-4ED9-40F4-871D-CCAE09E45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954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defRPr>
            </a:pPr>
            <a:r>
              <a: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rPr>
              <a:t>ACCESS</a:t>
            </a:r>
          </a:p>
        </p:txBody>
      </p:sp>
      <p:sp>
        <p:nvSpPr>
          <p:cNvPr id="8" name="ask-access-copy">
            <a:extLst xmlns:a="http://schemas.openxmlformats.org/drawingml/2006/main">
              <a:ext uri="{FF2B5EF4-FFF2-40B4-BE49-F238E27FC236}">
                <a16:creationId xmlns:a16="http://schemas.microsoft.com/office/drawing/2014/main" id="{BE7CBC18-9AD5-4105-A379-C8F44114B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52650"/>
            <a:ext cx="4000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 i="0">
                <a:solidFill>
                  <a:srgbClr val="F3EDE0"/>
                </a:solidFill>
                <a:latin typeface="Georgia"/>
                <a:ea typeface="Georgia"/>
                <a:cs typeface="Georgia"/>
              </a:defRPr>
            </a:pPr>
            <a:r>
              <a:rPr sz="2250" b="0" i="0">
                <a:solidFill>
                  <a:srgbClr val="F3EDE0"/>
                </a:solidFill>
                <a:latin typeface="Georgia"/>
                <a:ea typeface="Georgia"/>
                <a:cs typeface="Georgia"/>
              </a:rPr>
              <a:t>2 FME (fund management entity) officers + 2 administrators + 1 independent compliance provider</a:t>
            </a:r>
          </a:p>
        </p:txBody>
      </p:sp>
      <p:sp>
        <p:nvSpPr>
          <p:cNvPr id="9" name="ask-falsify">
            <a:extLst xmlns:a="http://schemas.openxmlformats.org/drawingml/2006/main">
              <a:ext uri="{FF2B5EF4-FFF2-40B4-BE49-F238E27FC236}">
                <a16:creationId xmlns:a16="http://schemas.microsoft.com/office/drawing/2014/main" id="{E7F9FCD9-25AD-451E-B375-71BE85564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76750"/>
            <a:ext cx="3810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F3EDE0"/>
                </a:solidFill>
                <a:latin typeface="Georgia"/>
                <a:ea typeface="Georgia"/>
                <a:cs typeface="Georgia"/>
              </a:defRPr>
            </a:pPr>
            <a:r>
              <a:rPr sz="1950" b="0" i="0">
                <a:solidFill>
                  <a:srgbClr val="F3EDE0"/>
                </a:solidFill>
                <a:latin typeface="Georgia"/>
                <a:ea typeface="Georgia"/>
                <a:cs typeface="Georgia"/>
              </a:rPr>
              <a:t>Help us falsify quickly.</a:t>
            </a:r>
          </a:p>
        </p:txBody>
      </p:sp>
      <p:sp>
        <p:nvSpPr>
          <p:cNvPr id="10" name="ask-challenge-label">
            <a:extLst xmlns:a="http://schemas.openxmlformats.org/drawingml/2006/main">
              <a:ext uri="{FF2B5EF4-FFF2-40B4-BE49-F238E27FC236}">
                <a16:creationId xmlns:a16="http://schemas.microsoft.com/office/drawing/2014/main" id="{25B5AEFB-2E7C-4112-903B-09728E70B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169545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defRPr>
            </a:pPr>
            <a:r>
              <a: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rPr>
              <a:t>CHALLENGE</a:t>
            </a:r>
          </a:p>
        </p:txBody>
      </p:sp>
      <p:sp>
        <p:nvSpPr>
          <p:cNvPr id="11" name="ask-challenge-copy">
            <a:extLst xmlns:a="http://schemas.openxmlformats.org/drawingml/2006/main">
              <a:ext uri="{FF2B5EF4-FFF2-40B4-BE49-F238E27FC236}">
                <a16:creationId xmlns:a16="http://schemas.microsoft.com/office/drawing/2014/main" id="{4E7E9FD8-06E9-4024-BD71-B38A03F19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114550"/>
            <a:ext cx="5524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F3EDE0"/>
                </a:solidFill>
                <a:latin typeface="Georgia"/>
                <a:ea typeface="Georgia"/>
                <a:cs typeface="Georgia"/>
              </a:defRPr>
            </a:pPr>
            <a:r>
              <a:rPr sz="2100" b="0" i="0">
                <a:solidFill>
                  <a:srgbClr val="F3EDE0"/>
                </a:solidFill>
                <a:latin typeface="Georgia"/>
                <a:ea typeface="Georgia"/>
                <a:cs typeface="Georgia"/>
              </a:rPr>
              <a:t>Is upstream evidence outside DRR/bundled services?</a:t>
            </a:r>
          </a:p>
        </p:txBody>
      </p:sp>
      <p:sp>
        <p:nvSpPr>
          <p:cNvPr id="12" name="ask-test-label">
            <a:extLst xmlns:a="http://schemas.openxmlformats.org/drawingml/2006/main">
              <a:ext uri="{FF2B5EF4-FFF2-40B4-BE49-F238E27FC236}">
                <a16:creationId xmlns:a16="http://schemas.microsoft.com/office/drawing/2014/main" id="{D872DA96-4469-4F8C-BB48-90BD9C147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3524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defRPr>
            </a:pPr>
            <a:r>
              <a: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rPr>
              <a:t>TEST</a:t>
            </a:r>
          </a:p>
        </p:txBody>
      </p:sp>
      <p:sp>
        <p:nvSpPr>
          <p:cNvPr id="13" name="ask-test-copy">
            <a:extLst xmlns:a="http://schemas.openxmlformats.org/drawingml/2006/main">
              <a:ext uri="{FF2B5EF4-FFF2-40B4-BE49-F238E27FC236}">
                <a16:creationId xmlns:a16="http://schemas.microsoft.com/office/drawing/2014/main" id="{89F0F8DF-70D7-402E-9F9C-E52074D49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3886200"/>
            <a:ext cx="5334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F3EDE0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F3EDE0"/>
                </a:solidFill>
                <a:latin typeface="Arial"/>
                <a:ea typeface="Arial"/>
                <a:cs typeface="Arial"/>
              </a:rPr>
              <a:t>One controlled synthetic workflow only if discovery survives</a:t>
            </a:r>
          </a:p>
        </p:txBody>
      </p:sp>
      <p:sp>
        <p:nvSpPr>
          <p:cNvPr id="14" name="ask-decide-label">
            <a:extLst xmlns:a="http://schemas.openxmlformats.org/drawingml/2006/main">
              <a:ext uri="{FF2B5EF4-FFF2-40B4-BE49-F238E27FC236}">
                <a16:creationId xmlns:a16="http://schemas.microsoft.com/office/drawing/2014/main" id="{01B19575-A25D-4820-9636-3CC1C03AA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49530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defRPr>
            </a:pPr>
            <a:r>
              <a:rPr sz="1650" b="1" i="0">
                <a:solidFill>
                  <a:srgbClr val="A87229"/>
                </a:solidFill>
                <a:latin typeface="Courier New"/>
                <a:ea typeface="Courier New"/>
                <a:cs typeface="Courier New"/>
              </a:rPr>
              <a:t>DECIDE</a:t>
            </a:r>
          </a:p>
        </p:txBody>
      </p:sp>
      <p:sp>
        <p:nvSpPr>
          <p:cNvPr id="15" name="ask-decide-copy">
            <a:extLst xmlns:a="http://schemas.openxmlformats.org/drawingml/2006/main">
              <a:ext uri="{FF2B5EF4-FFF2-40B4-BE49-F238E27FC236}">
                <a16:creationId xmlns:a16="http://schemas.microsoft.com/office/drawing/2014/main" id="{5B74DB67-B010-4430-8D37-72D7CC2D6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895850"/>
            <a:ext cx="3810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A87229"/>
                </a:solidFill>
                <a:latin typeface="Georgia"/>
                <a:ea typeface="Georgia"/>
                <a:cs typeface="Georgia"/>
              </a:defRPr>
            </a:pPr>
            <a:r>
              <a:rPr sz="2100" b="0" i="0">
                <a:solidFill>
                  <a:srgbClr val="A87229"/>
                </a:solidFill>
                <a:latin typeface="Georgia"/>
                <a:ea typeface="Georgia"/>
                <a:cs typeface="Georgia"/>
              </a:rPr>
              <a:t>Lock or reject by week 8</a:t>
            </a:r>
          </a:p>
        </p:txBody>
      </p:sp>
      <p:sp>
        <p:nvSpPr>
          <p:cNvPr id="16" name="footer-ask-links">
            <a:extLst xmlns:a="http://schemas.openxmlformats.org/drawingml/2006/main">
              <a:ext uri="{FF2B5EF4-FFF2-40B4-BE49-F238E27FC236}">
                <a16:creationId xmlns:a16="http://schemas.microsoft.com/office/drawing/2014/main" id="{DA4CABDD-ABBD-4FA7-A03A-A51A99268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81700"/>
            <a:ext cx="1066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F3EDE0"/>
                </a:solidFill>
                <a:latin typeface="Courier New"/>
                <a:ea typeface="Courier New"/>
                <a:cs typeface="Courier New"/>
              </a:defRPr>
            </a:pPr>
            <a:r>
              <a:rPr sz="975" b="0" i="0">
                <a:solidFill>
                  <a:srgbClr val="F3EDE0"/>
                </a:solidFill>
                <a:latin typeface="Courier New"/>
                <a:ea typeface="Courier New"/>
                <a:cs typeface="Courier New"/>
              </a:rPr>
              <a:t>Live: ayushtiwary-ops.github.io/kriseva-attest  ·  Code: github.com/ayushtiwary-ops/kriseva-attest</a:t>
            </a:r>
          </a:p>
        </p:txBody>
      </p:sp>
    </p:spTree>
    <p:extLst>
      <p:ext uri="{BB962C8B-B14F-4D97-AF65-F5344CB8AC3E}">
        <p14:creationId xmlns:p14="http://schemas.microsoft.com/office/powerpoint/2010/main" val="15070067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2026-08-12T23:37:09.0090000Z</dcterms:created>
  <dcterms:modified xsi:type="dcterms:W3CDTF">2026-08-12T23:37:09.0090000Z</dcterms:modified>
</coreProperties>
</file>